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81" r:id="rId9"/>
    <p:sldId id="264" r:id="rId10"/>
    <p:sldId id="265" r:id="rId11"/>
    <p:sldId id="266" r:id="rId12"/>
    <p:sldId id="267" r:id="rId13"/>
    <p:sldId id="282" r:id="rId14"/>
    <p:sldId id="268" r:id="rId15"/>
    <p:sldId id="283" r:id="rId33"/>
    <p:sldId id="269" r:id="rId16"/>
    <p:sldId id="270" r:id="rId17"/>
    <p:sldId id="271" r:id="rId18"/>
    <p:sldId id="272" r:id="rId19"/>
    <p:sldId id="273" r:id="rId20"/>
    <p:sldId id="274" r:id="rId21"/>
    <p:sldId id="276" r:id="rId23"/>
    <p:sldId id="277" r:id="rId24"/>
    <p:sldId id="278" r:id="rId25"/>
    <p:sldId id="284" r:id="rId34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74789-9044-E33E-D8C4-D57CA0EF9B9D}">
          <p14:sldIdLst>
            <p14:sldId id="256"/>
            <p14:sldId id="257"/>
          </p14:sldIdLst>
        </p14:section>
        <p14:section name="Data" id="{D7C58A38-DC83-6B22-697F-4ED4C38F360A}">
          <p14:sldIdLst>
            <p14:sldId id="258"/>
            <p14:sldId id="259"/>
          </p14:sldIdLst>
        </p14:section>
        <p14:section name="EDA" id="{EEDB0F81-9E46-B5FB-6597-16DE12B68BF8}">
          <p14:sldIdLst>
            <p14:sldId id="261"/>
            <p14:sldId id="262"/>
            <p14:sldId id="263"/>
            <p14:sldId id="281"/>
            <p14:sldId id="264"/>
            <p14:sldId id="265"/>
          </p14:sldIdLst>
        </p14:section>
        <p14:section name="Modeling" id="{6015F70D-D848-EED2-5EBC-800D2247697A}">
          <p14:sldIdLst>
            <p14:sldId id="266"/>
            <p14:sldId id="267"/>
            <p14:sldId id="282"/>
            <p14:sldId id="268"/>
            <p14:sldId id="269"/>
            <p14:sldId id="270"/>
            <p14:sldId id="271"/>
          </p14:sldIdLst>
        </p14:section>
        <p14:section name="Evaluation" id="{4512D86C-75AC-B5DA-3F86-9677BE33CD1E}">
          <p14:sldIdLst>
            <p14:sldId id="272"/>
            <p14:sldId id="273"/>
            <p14:sldId id="274"/>
            <p14:sldId id="275"/>
            <p14:sldId id="276"/>
          </p14:sldIdLst>
        </p14:section>
        <p14:section name="Results" id="{3ADF011B-7C3D-A4D3-280F-D6479BA537EF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5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DB38-2CB5-24B8-E0D1-83D0901B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AC795-B315-998D-ACB4-1CA04C80C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4DBA-12CB-CA8A-ACCA-E74985131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B43E-2E9D-0036-CE05-37CA150B0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0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0EB4-169D-98DD-0844-5EDE0C7E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6536F-4F68-05AF-C670-B35CC539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5751A-420D-8514-6C6E-72F0AF3B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8199A-36E1-2C82-8766-825635BC7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83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Minjun Cho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Squarepoint 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approach</a:t>
            </a:r>
            <a:endParaRPr lang="en-US" sz="3400" dirty="0"/>
          </a:p>
        </p:txBody>
      </p:sp>
      <p:sp>
        <p:nvSpPr>
          <p:cNvPr id="3" name="Step 1"/>
          <p:cNvSpPr txBox="1"/>
          <p:nvPr/>
        </p:nvSpPr>
        <p:spPr>
          <a:xfrm>
            <a:off x="52578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look</a:t>
            </a:r>
            <a:endParaRPr lang="en-US" sz="1500" dirty="0"/>
          </a:p>
        </p:txBody>
      </p:sp>
      <p:sp>
        <p:nvSpPr>
          <p:cNvPr id="4" name="Step 1 note"/>
          <p:cNvSpPr txBox="1"/>
          <p:nvPr/>
        </p:nvSpPr>
        <p:spPr>
          <a:xfrm>
            <a:off x="48920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rows, columns, types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191566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tep 2"/>
          <p:cNvSpPr txBox="1"/>
          <p:nvPr/>
        </p:nvSpPr>
        <p:spPr>
          <a:xfrm>
            <a:off x="215341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split</a:t>
            </a:r>
            <a:endParaRPr lang="en-US" sz="1500" dirty="0"/>
          </a:p>
        </p:txBody>
      </p:sp>
      <p:sp>
        <p:nvSpPr>
          <p:cNvPr id="7" name="Step 2 note"/>
          <p:cNvSpPr txBox="1"/>
          <p:nvPr/>
        </p:nvSpPr>
        <p:spPr>
          <a:xfrm>
            <a:off x="211683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kept aside, opened once</a:t>
            </a:r>
            <a:endParaRPr lang="en-US" sz="1300" dirty="0"/>
          </a:p>
        </p:txBody>
      </p:sp>
      <p:sp>
        <p:nvSpPr>
          <p:cNvPr id="8" name="Arrow 2"/>
          <p:cNvSpPr/>
          <p:nvPr/>
        </p:nvSpPr>
        <p:spPr>
          <a:xfrm>
            <a:off x="3543300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tep 3"/>
          <p:cNvSpPr txBox="1"/>
          <p:nvPr/>
        </p:nvSpPr>
        <p:spPr>
          <a:xfrm>
            <a:off x="3781044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tep 3 note"/>
          <p:cNvSpPr txBox="1"/>
          <p:nvPr/>
        </p:nvSpPr>
        <p:spPr>
          <a:xfrm>
            <a:off x="3744468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plots, missing values</a:t>
            </a:r>
            <a:endParaRPr lang="en-US" sz="1300" dirty="0"/>
          </a:p>
        </p:txBody>
      </p:sp>
      <p:sp>
        <p:nvSpPr>
          <p:cNvPr id="11" name="Arrow 3"/>
          <p:cNvSpPr/>
          <p:nvPr/>
        </p:nvSpPr>
        <p:spPr>
          <a:xfrm>
            <a:off x="5170932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tep 4"/>
          <p:cNvSpPr txBox="1"/>
          <p:nvPr/>
        </p:nvSpPr>
        <p:spPr>
          <a:xfrm>
            <a:off x="5408676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 selection</a:t>
            </a:r>
            <a:endParaRPr lang="en-US" sz="1500" dirty="0"/>
          </a:p>
        </p:txBody>
      </p:sp>
      <p:sp>
        <p:nvSpPr>
          <p:cNvPr id="13" name="Step 4 note"/>
          <p:cNvSpPr txBox="1"/>
          <p:nvPr/>
        </p:nvSpPr>
        <p:spPr>
          <a:xfrm>
            <a:off x="5372100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forward / backward, AIC / BIC</a:t>
            </a:r>
            <a:endParaRPr lang="en-US" sz="1300" dirty="0"/>
          </a:p>
        </p:txBody>
      </p:sp>
      <p:sp>
        <p:nvSpPr>
          <p:cNvPr id="14" name="Arrow 4"/>
          <p:cNvSpPr/>
          <p:nvPr/>
        </p:nvSpPr>
        <p:spPr>
          <a:xfrm>
            <a:off x="6798564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tep 5"/>
          <p:cNvSpPr txBox="1"/>
          <p:nvPr/>
        </p:nvSpPr>
        <p:spPr>
          <a:xfrm>
            <a:off x="7036308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Transform, outliers, interactions</a:t>
            </a:r>
            <a:endParaRPr lang="en-US" sz="1500" dirty="0"/>
          </a:p>
        </p:txBody>
      </p:sp>
      <p:sp>
        <p:nvSpPr>
          <p:cNvPr id="16" name="Step 5 note"/>
          <p:cNvSpPr txBox="1"/>
          <p:nvPr/>
        </p:nvSpPr>
        <p:spPr>
          <a:xfrm>
            <a:off x="6999732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y and x transforms, outlier rows, pairs</a:t>
            </a:r>
            <a:endParaRPr lang="en-US" sz="1300" dirty="0"/>
          </a:p>
        </p:txBody>
      </p:sp>
      <p:sp>
        <p:nvSpPr>
          <p:cNvPr id="17" name="Arrow 5"/>
          <p:cNvSpPr/>
          <p:nvPr/>
        </p:nvSpPr>
        <p:spPr>
          <a:xfrm>
            <a:off x="8426196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tep 6"/>
          <p:cNvSpPr txBox="1"/>
          <p:nvPr/>
        </p:nvSpPr>
        <p:spPr>
          <a:xfrm>
            <a:off x="866394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Models + comparison</a:t>
            </a:r>
            <a:endParaRPr lang="en-US" sz="1500" dirty="0"/>
          </a:p>
        </p:txBody>
      </p:sp>
      <p:sp>
        <p:nvSpPr>
          <p:cNvPr id="19" name="Step 6 note"/>
          <p:cNvSpPr txBox="1"/>
          <p:nvPr/>
        </p:nvSpPr>
        <p:spPr>
          <a:xfrm>
            <a:off x="862736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cross validation on unseen rows</a:t>
            </a:r>
            <a:endParaRPr lang="en-US" sz="1300" dirty="0"/>
          </a:p>
        </p:txBody>
      </p:sp>
      <p:sp>
        <p:nvSpPr>
          <p:cNvPr id="20" name="Arrow 6"/>
          <p:cNvSpPr/>
          <p:nvPr/>
        </p:nvSpPr>
        <p:spPr>
          <a:xfrm>
            <a:off x="1005382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tep 7"/>
          <p:cNvSpPr txBox="1"/>
          <p:nvPr/>
        </p:nvSpPr>
        <p:spPr>
          <a:xfrm>
            <a:off x="1029157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test</a:t>
            </a:r>
            <a:endParaRPr lang="en-US" sz="1500" dirty="0"/>
          </a:p>
        </p:txBody>
      </p:sp>
      <p:sp>
        <p:nvSpPr>
          <p:cNvPr id="22" name="Step 7 note"/>
          <p:cNvSpPr txBox="1"/>
          <p:nvPr/>
        </p:nvSpPr>
        <p:spPr>
          <a:xfrm>
            <a:off x="1025499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final check, once</a:t>
            </a:r>
            <a:endParaRPr lang="en-US" sz="1300" dirty="0"/>
          </a:p>
        </p:txBody>
      </p:sp>
      <p:sp>
        <p:nvSpPr>
          <p:cNvPr id="23" name="Summary line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Every choice is made on the development part only. The holdout is opened once, at the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overview</a:t>
            </a:r>
            <a:endParaRPr lang="en-US" sz="3400" dirty="0"/>
          </a:p>
        </p:txBody>
      </p:sp>
      <p:sp>
        <p:nvSpPr>
          <p:cNvPr id="3" name="Data summary"/>
          <p:cNvSpPr txBox="1"/>
          <p:nvPr/>
        </p:nvSpPr>
        <p:spPr>
          <a:xfrm>
            <a:off x="548640" y="12801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Data:</a:t>
            </a:r>
            <a:r>
              <a:rPr lang="en-US" sz="2000" dirty="0"/>
              <a:t xml:space="preserve"> three tables merged into one: stock_days + market (key = date) + tickers (key = ticker)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Size:</a:t>
            </a:r>
            <a:r>
              <a:rPr lang="en-US" sz="2000" dirty="0"/>
              <a:t xml:space="preserve"> 5,805 rows, 27 columns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Target:</a:t>
            </a:r>
            <a:r>
              <a:rPr lang="en-US" sz="2000" dirty="0"/>
              <a:t xml:space="preserve"> realized_vol (numeric), so this is a regression problem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Numeric (9):</a:t>
            </a:r>
            <a:r>
              <a:rPr lang="en-US" sz="2000" dirty="0"/>
              <a:t xml:space="preserve"> premarket_vol_k, ret_prev, market_cap_bn, etc.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Categorical (14):</a:t>
            </a:r>
            <a:r>
              <a:rPr lang="en-US" sz="2000" dirty="0"/>
              <a:t xml:space="preserve"> logo_color, sector, cap_class, etc.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Date (2):</a:t>
            </a:r>
            <a:r>
              <a:rPr lang="en-US" sz="2000" dirty="0"/>
              <a:t xml:space="preserve"> date (2023-03-01 to 2024-05-08), listed_date (1995-11-22 to 2020-04-23)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ID (1):</a:t>
            </a:r>
            <a:r>
              <a:rPr lang="en-US" sz="2000" dirty="0"/>
              <a:t xml:space="preserve"> row_id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first 80% of the days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last 20%</a:t>
            </a:r>
            <a:endParaRPr lang="en-US" sz="2000" dirty="0"/>
          </a:p>
        </p:txBody>
      </p:sp>
      <p:sp>
        <p:nvSpPr>
          <p:cNvPr id="5" name="Time arrow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ime label"/>
          <p:cNvSpPr txBox="1"/>
          <p:nvPr/>
        </p:nvSpPr>
        <p:spPr>
          <a:xfrm>
            <a:off x="54864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Split by time:</a:t>
            </a:r>
            <a:r>
              <a:rPr lang="en-US" sz="1800" dirty="0"/>
              <a:t xml:space="preserve"> the last 20% of the days are the holdout (a day is never cut in two)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No shuffling:</a:t>
            </a:r>
            <a:r>
              <a:rPr lang="en-US" sz="1800" dirty="0"/>
              <a:t xml:space="preserve"> the future must not leak into the past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development:</a:t>
            </a:r>
            <a:r>
              <a:rPr lang="en-US" sz="1800" dirty="0"/>
              <a:t xml:space="preserve"> 2023-03-01 to 2024-02-13, 4,640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holdout:</a:t>
            </a:r>
            <a:r>
              <a:rPr lang="en-US" sz="1800" dirty="0"/>
              <a:t xml:space="preserve"> 2024-02-14 to 2024-05-08, 1,165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The holdout is not used until the final test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the target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1965960" y="1234440"/>
            <a:ext cx="4288536" cy="30632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7168896" y="1234440"/>
            <a:ext cx="3063240" cy="306324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noFill/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4348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histogram of realized_vol (x = value, y = number of rows)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Right:</a:t>
            </a:r>
            <a:r>
              <a:rPr lang="en-US" sz="1800" dirty="0"/>
              <a:t xml:space="preserve"> monthly mean of realized_vol (x = month, y = mean)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Basic statistics:</a:t>
            </a:r>
            <a:r>
              <a:rPr lang="en-US" sz="1800" dirty="0"/>
              <a:t xml:space="preserve"> mean 33.72 &gt; median 31.39, min 10.46, max 192.6, sd 13.89 → positive, right-skewed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Over time:</a:t>
            </a:r>
            <a:r>
              <a:rPr lang="en-US" sz="1800" dirty="0"/>
              <a:t xml:space="preserve"> the monthly mean decreases (about 37 in 2023-03 to about 29 in 2024-02)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So what:</a:t>
            </a:r>
            <a:r>
              <a:rPr lang="en-US" sz="1800" dirty="0"/>
              <a:t xml:space="preserve"> a log transform may help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predictors vs target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boxplot of realized_vol by sector (x = sector, y = realized_vol)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Utilities</a:t>
            </a:r>
            <a:r>
              <a:rPr lang="en-US" sz="1800" dirty="0"/>
              <a:t xml:space="preserve"> has clearly the lowest values overall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Tech</a:t>
            </a:r>
            <a:r>
              <a:rPr lang="en-US" sz="1800" dirty="0"/>
              <a:t xml:space="preserve"> has the highest median and the widest spread (the largest values, up to about 190)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Other sectors</a:t>
            </a:r>
            <a:r>
              <a:rPr lang="en-US" sz="1800" dirty="0"/>
              <a:t xml:space="preserve"> look similar to each other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So what:</a:t>
            </a:r>
            <a:r>
              <a:rPr lang="en-US" sz="1800" dirty="0"/>
              <a:t xml:space="preserve"> the type of the stock matters, so keep the sector information (as sector_code)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B8462A-3BEA-E56D-EBAE-0CC7641D2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766560" cy="3784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correlation matrix of the numeric variables (red = positive, blue = negative, white = about 0)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Strongly correlated:</a:t>
            </a:r>
            <a:r>
              <a:rPr lang="en-US" sz="1800" dirty="0"/>
              <a:t xml:space="preserve"> credit_spread, vxn_prev, vix_prev (strong positive correlations)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corr(credit_spread, vxn_prev) = 0.91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corr(credit_spread, vix_prev) = 0.94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corr(vix_prev, vxn_prev) = 0.98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So what:</a:t>
            </a:r>
            <a:r>
              <a:rPr lang="en-US" sz="1800" dirty="0"/>
              <a:t xml:space="preserve"> our goal is a model with good performance, so keep them as long as the model performs well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99E81D-DCA2-672C-E941-E5899DB1C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397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11E5-1092-DEE6-D1BA-C4FE0CF3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BA53D-9DA7-3AE7-B9F0-8A62B4165E0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sector and sector_code</a:t>
            </a:r>
            <a:endParaRPr lang="en-US" sz="3400" dirty="0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ADBC77B-B35A-0815-753B-1997DD0475F9}"/>
              </a:ext>
            </a:extLst>
          </p:cNvPr>
          <p:cNvSpPr txBox="1"/>
          <p:nvPr/>
        </p:nvSpPr>
        <p:spPr>
          <a:xfrm>
            <a:off x="548640" y="137160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Compared:</a:t>
            </a:r>
            <a:r>
              <a:rPr lang="en-US" sz="2000" dirty="0"/>
              <a:t xml:space="preserve"> sector and sector_code. We can expect the same information (the code is just a number for each sector)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But:</a:t>
            </a:r>
            <a:r>
              <a:rPr lang="en-US" sz="2000" dirty="0"/>
              <a:t xml:space="preserve"> sector_code has no missing values, while sector has ("unknown")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Decision:</a:t>
            </a:r>
            <a:r>
              <a:rPr lang="en-US" sz="2000" dirty="0"/>
              <a:t xml:space="preserve"> remove sector and keep sector_code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000" dirty="0"/>
              <a:t>sector_code is treated as a categorical variable: the number is only a label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E8F40BE-465D-0097-3CE0-B3B58F5F37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missing values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4348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missing cells (red) of each column; a long horizontal line is a row where many variables are missing together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Right:</a:t>
            </a:r>
            <a:r>
              <a:rPr lang="en-US" sz="1600" dirty="0"/>
              <a:t xml:space="preserve"> % of rows with premarket_vol_k missing, by month (about 4% to 10%, no clear trend)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Missing by column:</a:t>
            </a:r>
            <a:r>
              <a:rPr lang="en-US" sz="1600" dirty="0"/>
              <a:t xml:space="preserve"> premarket_vol_k (6.1%), short_interest_pct (5.4%), cap_class (5.1%), pe_ratio (5.0%), ...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Pattern:</a:t>
            </a:r>
            <a:r>
              <a:rPr lang="en-US" sz="1600" dirty="0"/>
              <a:t xml:space="preserve"> vix_prev is missing if and only if vxn_prev is missing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Rows:</a:t>
            </a:r>
            <a:r>
              <a:rPr lang="en-US" sz="1600" dirty="0"/>
              <a:t xml:space="preserve"> 1,127 rows with missing values, 3,513 rows without; a few rows have many variables missing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217AE-7031-6897-31C6-5B0728214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176641" cy="3108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40B94A-3C20-5CD3-B85A-0869EA5A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5394960" cy="28435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what does the missingness mean?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6766560" y="1371600"/>
            <a:ext cx="48737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mean of each numeric variable when premarket_vol_k is missing vs present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No big difference</a:t>
            </a:r>
            <a:r>
              <a:rPr lang="en-US" sz="1800" dirty="0"/>
              <a:t xml:space="preserve"> (e.g., realized_vol: 33.55 vs 33.22), so the missing values may not have a special meaning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How to fill the missing values:</a:t>
            </a:r>
            <a:r>
              <a:rPr lang="en-US" sz="1800" dirty="0"/>
              <a:t xml:space="preserve"> look back 60 days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numeric: mean of the past 60 days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categorical: most frequent value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98DB5-4C4A-D528-DEDD-920F28F8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035040" cy="34310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AIC and BIC</a:t>
            </a:r>
            <a:endParaRPr lang="en-US" sz="3400" dirty="0"/>
          </a:p>
        </p:txBody>
      </p:sp>
      <p:sp>
        <p:nvSpPr>
          <p:cNvPr id="3" name="AIC"/>
          <p:cNvSpPr txBox="1"/>
          <p:nvPr/>
        </p:nvSpPr>
        <p:spPr>
          <a:xfrm>
            <a:off x="548640" y="3291840"/>
            <a:ext cx="5413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b="1"/>
              <a:t>AIC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b="1"/>
              <a:t>AIC = 2k − 2 ln(L)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Pros:</a:t>
            </a:r>
            <a:r>
              <a:rPr lang="en-US" sz="1600" dirty="0"/>
              <a:t xml:space="preserve"> Light penalty: keeps more variables, good for prediction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Cons:</a:t>
            </a:r>
            <a:r>
              <a:rPr lang="en-US" sz="1600" dirty="0"/>
              <a:t xml:space="preserve"> Can keep noise variables (overfit)</a:t>
            </a:r>
          </a:p>
        </p:txBody>
      </p:sp>
      <p:sp>
        <p:nvSpPr>
          <p:cNvPr id="4" name="BIC"/>
          <p:cNvSpPr txBox="1"/>
          <p:nvPr/>
        </p:nvSpPr>
        <p:spPr>
          <a:xfrm>
            <a:off x="6236208" y="3291840"/>
            <a:ext cx="5413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b="1"/>
              <a:t>BIC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b="1"/>
              <a:t>BIC = k ln(n) − 2 ln(L)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Pros:</a:t>
            </a:r>
            <a:r>
              <a:rPr lang="en-US" sz="1600" dirty="0"/>
              <a:t xml:space="preserve"> Heavier penalty (grows with n): a simpler model that is easy to explain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Cons:</a:t>
            </a:r>
            <a:r>
              <a:rPr lang="en-US" sz="1600" dirty="0"/>
              <a:t xml:space="preserve"> May drop weak but useful variables (underfit)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54864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k = number of parameters, n = number of rows, L = the maximized likelihood. Smaller is better. When n ≥ 8, BIC charges more for every variable than AIC.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Used linear regression</a:t>
            </a:r>
            <a:r>
              <a:rPr lang="en-US" sz="2000" dirty="0"/>
              <a:t xml:space="preserve"> (lm of the target)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Forward selection:</a:t>
            </a:r>
            <a:r>
              <a:rPr lang="en-US" sz="2000" dirty="0"/>
              <a:t xml:space="preserve"> start with no variable and add the one that helps most.  </a:t>
            </a:r>
            <a:r>
              <a:rPr lang="en-US" sz="2000" dirty="0" b="1"/>
              <a:t>Backward selection:</a:t>
            </a:r>
            <a:r>
              <a:rPr lang="en-US" sz="2000" dirty="0"/>
              <a:t xml:space="preserve"> start with all variables and drop the one that hurts least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What is “help”?</a:t>
            </a:r>
            <a:r>
              <a:rPr lang="en-US" sz="2000" dirty="0"/>
              <a:t xml:space="preserve"> Two criteria: AIC and BIC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result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487680" y="5518726"/>
            <a:ext cx="10861040" cy="49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2400" b="1" dirty="0"/>
              <a:t>Used </a:t>
            </a:r>
            <a:r>
              <a:rPr lang="en-US" altLang="ko-KR" sz="2400" b="1" dirty="0" err="1"/>
              <a:t>forward_AIC</a:t>
            </a:r>
            <a:r>
              <a:rPr lang="en-US" altLang="ko-KR" sz="2400" b="1" dirty="0"/>
              <a:t> since AIC is better than BIC when our goal is prediction.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Selected: </a:t>
            </a:r>
            <a:r>
              <a:rPr lang="ko-KR" altLang="ko-KR" dirty="0" err="1"/>
              <a:t>realized_vol</a:t>
            </a:r>
            <a:r>
              <a:rPr lang="ko-KR" altLang="ko-KR" dirty="0"/>
              <a:t> ~ </a:t>
            </a:r>
            <a:r>
              <a:rPr lang="ko-KR" altLang="ko-KR" dirty="0" err="1"/>
              <a:t>market_cap_bn</a:t>
            </a:r>
            <a:r>
              <a:rPr lang="ko-KR" altLang="ko-KR" dirty="0"/>
              <a:t> + </a:t>
            </a:r>
            <a:r>
              <a:rPr lang="ko-KR" altLang="ko-KR" dirty="0" err="1"/>
              <a:t>vix_prev</a:t>
            </a:r>
            <a:r>
              <a:rPr lang="ko-KR" altLang="ko-KR" dirty="0"/>
              <a:t> + </a:t>
            </a:r>
            <a:r>
              <a:rPr lang="ko-KR" altLang="ko-KR" dirty="0" err="1"/>
              <a:t>earnings_day</a:t>
            </a:r>
            <a:r>
              <a:rPr lang="ko-KR" altLang="ko-KR" dirty="0"/>
              <a:t> + </a:t>
            </a:r>
            <a:r>
              <a:rPr lang="ko-KR" altLang="ko-KR" dirty="0" err="1"/>
              <a:t>premarket_vol_k</a:t>
            </a:r>
            <a:r>
              <a:rPr lang="ko-KR" altLang="ko-KR" dirty="0"/>
              <a:t> + </a:t>
            </a:r>
          </a:p>
          <a:p>
            <a:r>
              <a:rPr lang="ko-KR" altLang="ko-KR" dirty="0"/>
              <a:t>    </a:t>
            </a:r>
            <a:r>
              <a:rPr lang="ko-KR" altLang="ko-KR" dirty="0" err="1"/>
              <a:t>news_flag</a:t>
            </a:r>
            <a:r>
              <a:rPr lang="ko-KR" altLang="ko-KR" dirty="0"/>
              <a:t> + </a:t>
            </a:r>
            <a:r>
              <a:rPr lang="ko-KR" altLang="ko-KR" dirty="0" err="1"/>
              <a:t>fomc_day</a:t>
            </a:r>
            <a:r>
              <a:rPr lang="ko-KR" altLang="ko-KR" dirty="0"/>
              <a:t> + </a:t>
            </a:r>
            <a:r>
              <a:rPr lang="ko-KR" altLang="ko-KR" dirty="0" err="1"/>
              <a:t>macro_alert</a:t>
            </a:r>
            <a:r>
              <a:rPr lang="ko-KR" altLang="ko-KR" dirty="0"/>
              <a:t> + </a:t>
            </a:r>
            <a:r>
              <a:rPr lang="ko-KR" altLang="ko-KR" dirty="0" err="1"/>
              <a:t>weekday</a:t>
            </a:r>
            <a:r>
              <a:rPr lang="ko-KR" altLang="ko-KR" dirty="0"/>
              <a:t> + </a:t>
            </a:r>
            <a:r>
              <a:rPr lang="ko-KR" altLang="ko-KR" dirty="0" err="1"/>
              <a:t>opex_day</a:t>
            </a:r>
            <a:r>
              <a:rPr lang="ko-KR" altLang="ko-KR" dirty="0"/>
              <a:t> + </a:t>
            </a:r>
            <a:r>
              <a:rPr lang="en-US" altLang="ko-KR" dirty="0"/>
              <a:t> </a:t>
            </a:r>
            <a:r>
              <a:rPr lang="ko-KR" altLang="ko-KR" dirty="0" err="1"/>
              <a:t>credit_spread</a:t>
            </a:r>
            <a:endParaRPr lang="ko-KR" altLang="ko-KR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953EE-5636-DC45-D886-473EC3E89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54312"/>
              </p:ext>
            </p:extLst>
          </p:nvPr>
        </p:nvGraphicFramePr>
        <p:xfrm>
          <a:off x="487680" y="1470120"/>
          <a:ext cx="8719130" cy="3817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619">
                  <a:extLst>
                    <a:ext uri="{9D8B030D-6E8A-4147-A177-3AD203B41FA5}">
                      <a16:colId xmlns:a16="http://schemas.microsoft.com/office/drawing/2014/main" val="2722001112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3964251077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645514048"/>
                    </a:ext>
                  </a:extLst>
                </a:gridCol>
                <a:gridCol w="1174867">
                  <a:extLst>
                    <a:ext uri="{9D8B030D-6E8A-4147-A177-3AD203B41FA5}">
                      <a16:colId xmlns:a16="http://schemas.microsoft.com/office/drawing/2014/main" val="659144918"/>
                    </a:ext>
                  </a:extLst>
                </a:gridCol>
                <a:gridCol w="1743826">
                  <a:extLst>
                    <a:ext uri="{9D8B030D-6E8A-4147-A177-3AD203B41FA5}">
                      <a16:colId xmlns:a16="http://schemas.microsoft.com/office/drawing/2014/main" val="4082350222"/>
                    </a:ext>
                  </a:extLst>
                </a:gridCol>
              </a:tblGrid>
              <a:tr h="425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Method / measure</a:t>
                      </a:r>
                      <a:endParaRPr lang="ko-KR" alt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Variables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AIC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BIC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Adj. R²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234001059"/>
                  </a:ext>
                </a:extLst>
              </a:tr>
              <a:tr h="5525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forward_AIC</a:t>
                      </a:r>
                      <a:endParaRPr lang="ko-KR" sz="2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33296.9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33516.0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0.6015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76836485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33317.3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33504.2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0.5993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27594435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backward_AIC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33296.9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33516.0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0.6015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275581621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33317.3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33504.2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0.5993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11052793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full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24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33309.4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33599.3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873000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E9CA-7B75-5319-67C0-AEC821E9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E10B34-E6CC-F8B9-DADE-AE9E8FFC25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Assumptions check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3ACCF46-E596-A10A-2216-25862525D6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14F5E-DC39-1610-ACDF-C5ACCC2E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65" y="1188720"/>
            <a:ext cx="3290949" cy="1965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02AAD6-ED84-FF2B-A404-2F1036332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79" y="3246120"/>
            <a:ext cx="3373120" cy="1965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BD4B99-E335-ED55-87EA-505F78A06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203607"/>
            <a:ext cx="3383280" cy="1936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F5E2E-CCDE-CE06-A954-4DD6DC5AB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3261037"/>
            <a:ext cx="3383280" cy="1936124"/>
          </a:xfrm>
          <a:prstGeom prst="rect">
            <a:avLst/>
          </a:prstGeom>
        </p:spPr>
      </p:pic>
      <p:sp>
        <p:nvSpPr>
          <p:cNvPr id="18" name="Text">
            <a:extLst>
              <a:ext uri="{FF2B5EF4-FFF2-40B4-BE49-F238E27FC236}">
                <a16:creationId xmlns:a16="http://schemas.microsoft.com/office/drawing/2014/main" id="{086D78D7-3FC5-7B4D-F5B5-5DCD4C8FD51B}"/>
              </a:ext>
            </a:extLst>
          </p:cNvPr>
          <p:cNvSpPr txBox="1"/>
          <p:nvPr/>
        </p:nvSpPr>
        <p:spPr>
          <a:xfrm>
            <a:off x="7589520" y="1188720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Top-left:</a:t>
            </a:r>
            <a:r>
              <a:rPr lang="en-US" sz="1600" dirty="0"/>
              <a:t xml:space="preserve"> residual vs fitted → the spread gets wider as the fitted value increases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Top-right:</a:t>
            </a:r>
            <a:r>
              <a:rPr lang="en-US" sz="1600" dirty="0"/>
              <a:t xml:space="preserve"> root(standardized residual) vs fitted → the trend goes up (variance is not constant)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Bottom-left:</a:t>
            </a:r>
            <a:r>
              <a:rPr lang="en-US" sz="1600" dirty="0"/>
              <a:t xml:space="preserve"> Q-Q plot → the upper tail leaves the line (right-skewed)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Bottom-right:</a:t>
            </a:r>
            <a:r>
              <a:rPr lang="en-US" sz="1600" dirty="0"/>
              <a:t xml:space="preserve"> residual vs time → no clear trend, a few spikes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0B48B10-217A-4504-7384-DCBCD050BAFD}"/>
              </a:ext>
            </a:extLst>
          </p:cNvPr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Target is right-skewed</a:t>
            </a:r>
            <a:r>
              <a:rPr lang="en-US" sz="1800" dirty="0"/>
              <a:t xml:space="preserve"> → a log transformation may be helpful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Variance of residuals increases as the fitted value increases</a:t>
            </a:r>
            <a:r>
              <a:rPr lang="en-US" sz="1800" dirty="0"/>
              <a:t xml:space="preserve"> → generalized linear model: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Poisson (variance ∝ mean), Gamma (variance ∝ mean²)</a:t>
            </a:r>
          </a:p>
        </p:txBody>
      </p:sp>
    </p:spTree>
    <p:extLst>
      <p:ext uri="{BB962C8B-B14F-4D97-AF65-F5344CB8AC3E}">
        <p14:creationId xmlns:p14="http://schemas.microsoft.com/office/powerpoint/2010/main" val="214857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Box-</a:t>
            </a:r>
            <a:r>
              <a:rPr lang="en-US"/>
              <a:t>C</a:t>
            </a:r>
            <a:r>
              <a:rPr lang="en-US" sz="3400" b="1">
                <a:solidFill>
                  <a:schemeClr val="tx1"/>
                </a:solidFill>
              </a:rPr>
              <a:t>ox Transformations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1605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Box-Cox formula:</a:t>
            </a:r>
            <a:r>
              <a:rPr lang="en-US" sz="1800" dirty="0"/>
              <a:t xml:space="preserve"> y(λ) = (y^λ − 1) / λ  for λ ≠ 0,   y(λ) = log(y)  for λ = 0   (y must be positive; λ is chosen to maximize the log-likelihood of the lm)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Box-Cox log-likelihood by lambda (dotted lines: 95% interval) → lambda hat = -0.22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Right:</a:t>
            </a:r>
            <a:r>
              <a:rPr lang="en-US" sz="1800" dirty="0"/>
              <a:t xml:space="preserve"> Q-Q plots of y (left one) and of log(y) (right one) → after the log, the points are much closer to the line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Target (Box-Cox):</a:t>
            </a:r>
            <a:r>
              <a:rPr lang="en-US" sz="1800" dirty="0"/>
              <a:t xml:space="preserve"> lambda hat = -0.22, the nearest simple value is 0, so use log(TARGET)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Predictors:</a:t>
            </a:r>
            <a:r>
              <a:rPr lang="en-US" sz="1800" dirty="0"/>
              <a:t xml:space="preserve"> log(premarket_vol_k) and vix_prev²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81F8F-589E-7930-E7BC-5106E408A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51488" cy="2880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0C2F5-D608-466B-7ECC-E63300FCC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34440"/>
            <a:ext cx="4937987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Outliers: how we handled them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standardized residuals of the selected lm over time; red dots = outlier candidates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Candidates:</a:t>
            </a:r>
            <a:r>
              <a:rPr lang="en-US" sz="1800" dirty="0"/>
              <a:t xml:space="preserve"> rows with |standardized residual| &gt; 3 (red dots): </a:t>
            </a:r>
            <a:r>
              <a:rPr lang="en-US" sz="1800" dirty="0">
                <a:highlight>
                  <a:srgbClr val="FFFF00"/>
                </a:highlight>
              </a:rPr>
              <a:t>[n]</a:t>
            </a:r>
            <a:r>
              <a:rPr lang="en-US" sz="1800" dirty="0"/>
              <a:t xml:space="preserve"> rows, spread over the whole period (not one date)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Looked at:</a:t>
            </a:r>
            <a:r>
              <a:rPr lang="en-US" sz="1800" dirty="0"/>
              <a:t xml:space="preserve"> the candidate rows, and how their other columns differ from the normal rows: </a:t>
            </a:r>
            <a:r>
              <a:rPr lang="en-US" sz="1800" dirty="0">
                <a:highlight>
                  <a:srgbClr val="FFFF00"/>
                </a:highlight>
              </a:rPr>
              <a:t>[what you found]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Decision:</a:t>
            </a:r>
            <a:r>
              <a:rPr lang="en-US" sz="1800" dirty="0"/>
              <a:t xml:space="preserve"> keep them; they look like genuine observations, not data errors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Also:</a:t>
            </a:r>
            <a:r>
              <a:rPr lang="en-US" sz="1800" dirty="0"/>
              <a:t xml:space="preserve"> MAE is shown next to RMSE, since RMSE reacts strongly to outliers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39D47-1DC1-F0C1-26FA-F6918DB79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766560" cy="3891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Interactions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realized_vol vs vix_prev, one smoothed line per market_cap_bn value (each value is one stock)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Tested:</a:t>
            </a:r>
            <a:r>
              <a:rPr lang="en-US" sz="1800" dirty="0"/>
              <a:t xml:space="preserve"> vix_prev : market_cap_bn (F-test in the lm)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Kept:</a:t>
            </a:r>
            <a:r>
              <a:rPr lang="en-US" sz="1800" dirty="0"/>
              <a:t xml:space="preserve"> vix_prev : market_cap_bn (p-value &lt; 0.0001)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Why it makes sense: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the model performs better with this interaction term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the slopes are different: some lines rise steeply with vix_prev, others are almost flat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666F9-CD56-846B-ECC9-97B75B94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6858000" cy="46744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Candidate models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46304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baseline: </a:t>
            </a:r>
            <a:r>
              <a:rPr lang="en-US" sz="2200" dirty="0">
                <a:solidFill>
                  <a:schemeClr val="tx1"/>
                </a:solidFill>
              </a:rPr>
              <a:t>the mean of the training y (the number to beat)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lm: </a:t>
            </a:r>
            <a:r>
              <a:rPr lang="en-US" sz="2200" dirty="0">
                <a:solidFill>
                  <a:schemeClr val="tx1"/>
                </a:solidFill>
              </a:rPr>
              <a:t>ordinary least squares, on the transformed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lasso, ridge: </a:t>
            </a:r>
            <a:r>
              <a:rPr lang="en-US" sz="2200" dirty="0">
                <a:solidFill>
                  <a:schemeClr val="tx1"/>
                </a:solidFill>
              </a:rPr>
              <a:t>lm with shrunk coefficients (lasso can drop variables)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glm: </a:t>
            </a:r>
            <a:r>
              <a:rPr lang="en-US" sz="2200" dirty="0">
                <a:solidFill>
                  <a:schemeClr val="tx1"/>
                </a:solidFill>
              </a:rPr>
              <a:t>Gamma family, log link, on the original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mixed, glmm: </a:t>
            </a:r>
            <a:r>
              <a:rPr lang="en-US" sz="2200" dirty="0">
                <a:solidFill>
                  <a:schemeClr val="tx1"/>
                </a:solidFill>
              </a:rPr>
              <a:t>lm / glm plus a random intercept per group</a:t>
            </a:r>
            <a:endParaRPr lang="en-US" sz="22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All candidates use the same variables, transformations and interactions.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(1/2): RMSE and MAE</a:t>
            </a:r>
            <a:endParaRPr lang="en-US" sz="3400" dirty="0"/>
          </a:p>
        </p:txBody>
      </p:sp>
      <p:sp>
        <p:nvSpPr>
          <p:cNvPr id="3" name="RMSE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RMSE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RMSE = √( (1/n) Σ e² 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punishes big errors; the standard score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Sensitive to outliers: a few big errors can dominate</a:t>
            </a:r>
            <a:endParaRPr lang="en-US" sz="2800" dirty="0"/>
          </a:p>
        </p:txBody>
      </p:sp>
      <p:sp>
        <p:nvSpPr>
          <p:cNvPr id="4" name="MAE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MAE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MAE = (1/n) Σ |e|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the average miss, easy to explain; robust to outliers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A big miss counts like several small ones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rows. All scores are computed on the validation rows, in the original units of 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Main score for choosing the model: RMSE.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(2/2): MAPE, R² and Bias</a:t>
            </a:r>
            <a:endParaRPr lang="en-US" sz="3400" dirty="0"/>
          </a:p>
        </p:txBody>
      </p:sp>
      <p:sp>
        <p:nvSpPr>
          <p:cNvPr id="3" name="MAPE"/>
          <p:cNvSpPr txBox="1"/>
          <p:nvPr/>
        </p:nvSpPr>
        <p:spPr>
          <a:xfrm>
            <a:off x="548640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MAPE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MAPE = (100/n) Σ |e| / |y|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In percent: comparable across scales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Explodes when y is near 0 (rows with y = 0 are left out)</a:t>
            </a:r>
            <a:endParaRPr lang="en-US" sz="2600" dirty="0"/>
          </a:p>
        </p:txBody>
      </p:sp>
      <p:sp>
        <p:nvSpPr>
          <p:cNvPr id="4" name="R²"/>
          <p:cNvSpPr txBox="1"/>
          <p:nvPr/>
        </p:nvSpPr>
        <p:spPr>
          <a:xfrm>
            <a:off x="4337304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R²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R² = 1 − Σ e² / Σ (y − mean y)²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No unit: 1 is perfect, 0 is as good as the mean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Can be negative on new data; hides the size of the error</a:t>
            </a:r>
            <a:endParaRPr lang="en-US" sz="2600" dirty="0"/>
          </a:p>
        </p:txBody>
      </p:sp>
      <p:sp>
        <p:nvSpPr>
          <p:cNvPr id="5" name="Bias"/>
          <p:cNvSpPr txBox="1"/>
          <p:nvPr/>
        </p:nvSpPr>
        <p:spPr>
          <a:xfrm>
            <a:off x="8125968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Bias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Bias = (1/n) Σ 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Shows if the model predicts too high or too low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Errors cancel out: Bias near 0 can hide big errors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rows, y = 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moving window (time series)</a:t>
            </a:r>
            <a:endParaRPr lang="en-US" sz="3400" dirty="0"/>
          </a:p>
        </p:txBody>
      </p:sp>
      <p:sp>
        <p:nvSpPr>
          <p:cNvPr id="3" name="train 1"/>
          <p:cNvSpPr txBox="1"/>
          <p:nvPr/>
        </p:nvSpPr>
        <p:spPr>
          <a:xfrm>
            <a:off x="1645920" y="14630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60 days</a:t>
            </a:r>
            <a:endParaRPr lang="en-US" sz="1600" dirty="0"/>
          </a:p>
        </p:txBody>
      </p:sp>
      <p:sp>
        <p:nvSpPr>
          <p:cNvPr id="4" name="test 1"/>
          <p:cNvSpPr txBox="1"/>
          <p:nvPr/>
        </p:nvSpPr>
        <p:spPr>
          <a:xfrm>
            <a:off x="7498080" y="14630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5" name="block label 1"/>
          <p:cNvSpPr txBox="1"/>
          <p:nvPr/>
        </p:nvSpPr>
        <p:spPr>
          <a:xfrm>
            <a:off x="8366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1</a:t>
            </a:r>
            <a:endParaRPr lang="en-US" sz="1600" dirty="0"/>
          </a:p>
        </p:txBody>
      </p:sp>
      <p:sp>
        <p:nvSpPr>
          <p:cNvPr id="6" name="train 2"/>
          <p:cNvSpPr txBox="1"/>
          <p:nvPr/>
        </p:nvSpPr>
        <p:spPr>
          <a:xfrm>
            <a:off x="2377440" y="21488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60 days</a:t>
            </a:r>
            <a:endParaRPr lang="en-US" sz="1600" dirty="0"/>
          </a:p>
        </p:txBody>
      </p:sp>
      <p:sp>
        <p:nvSpPr>
          <p:cNvPr id="7" name="test 2"/>
          <p:cNvSpPr txBox="1"/>
          <p:nvPr/>
        </p:nvSpPr>
        <p:spPr>
          <a:xfrm>
            <a:off x="8229600" y="21488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block label 2"/>
          <p:cNvSpPr txBox="1"/>
          <p:nvPr/>
        </p:nvSpPr>
        <p:spPr>
          <a:xfrm>
            <a:off x="90982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2</a:t>
            </a:r>
            <a:endParaRPr lang="en-US" sz="1600" dirty="0"/>
          </a:p>
        </p:txBody>
      </p:sp>
      <p:sp>
        <p:nvSpPr>
          <p:cNvPr id="9" name="train 3"/>
          <p:cNvSpPr txBox="1"/>
          <p:nvPr/>
        </p:nvSpPr>
        <p:spPr>
          <a:xfrm>
            <a:off x="3108960" y="28346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60 days</a:t>
            </a:r>
            <a:endParaRPr lang="en-US" sz="1600" dirty="0"/>
          </a:p>
        </p:txBody>
      </p:sp>
      <p:sp>
        <p:nvSpPr>
          <p:cNvPr id="10" name="test 3"/>
          <p:cNvSpPr txBox="1"/>
          <p:nvPr/>
        </p:nvSpPr>
        <p:spPr>
          <a:xfrm>
            <a:off x="8961120" y="28346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block label 3"/>
          <p:cNvSpPr txBox="1"/>
          <p:nvPr/>
        </p:nvSpPr>
        <p:spPr>
          <a:xfrm>
            <a:off x="98298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3</a:t>
            </a:r>
            <a:endParaRPr lang="en-US" sz="1600" dirty="0"/>
          </a:p>
        </p:txBody>
      </p:sp>
      <p:sp>
        <p:nvSpPr>
          <p:cNvPr id="12" name="More blocks"/>
          <p:cNvSpPr txBox="1"/>
          <p:nvPr/>
        </p:nvSpPr>
        <p:spPr>
          <a:xfrm>
            <a:off x="92354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13" name="Time arrow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ime label"/>
          <p:cNvSpPr txBox="1"/>
          <p:nvPr/>
        </p:nvSpPr>
        <p:spPr>
          <a:xfrm>
            <a:off x="548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 on the last 60 days, predict the next 7 days, then move the window forward by 7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model only sees days before the days it predicts: no leakage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candidate uses the same blocks, so the scores can be compared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comparison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4526280"/>
            <a:ext cx="6583680" cy="1645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RMSE bar chart of the models: paste here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Top-left:</a:t>
            </a:r>
            <a:r>
              <a:rPr lang="en-US" sz="1800" dirty="0"/>
              <a:t xml:space="preserve"> score table of the 7 models (cross validation, in the original units of y)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Bottom-left:</a:t>
            </a:r>
            <a:r>
              <a:rPr lang="en-US" sz="1800" dirty="0"/>
              <a:t xml:space="preserve"> bar chart of the RMSE (smaller is better)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Score:</a:t>
            </a:r>
            <a:r>
              <a:rPr lang="en-US" sz="1800" dirty="0"/>
              <a:t xml:space="preserve"> RMSE (main); MAE, MAPE, R² and Bias are also shown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Best candidate:</a:t>
            </a:r>
            <a:r>
              <a:rPr lang="en-US" sz="1800" dirty="0"/>
              <a:t xml:space="preserve"> </a:t>
            </a:r>
            <a:r>
              <a:rPr lang="en-US" sz="1800" dirty="0">
                <a:highlight>
                  <a:srgbClr val="FFFF00"/>
                </a:highlight>
              </a:rPr>
              <a:t>[model]</a:t>
            </a:r>
            <a:r>
              <a:rPr lang="en-US" sz="1800" dirty="0"/>
              <a:t xml:space="preserve">, RMSE </a:t>
            </a:r>
            <a:r>
              <a:rPr lang="en-US" sz="1800" dirty="0">
                <a:highlight>
                  <a:srgbClr val="FFFF00"/>
                </a:highlight>
              </a:rPr>
              <a:t>[value]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Baseline:</a:t>
            </a:r>
            <a:r>
              <a:rPr lang="en-US" sz="1800" dirty="0"/>
              <a:t xml:space="preserve"> RMSE </a:t>
            </a:r>
            <a:r>
              <a:rPr lang="en-US" sz="1800" dirty="0">
                <a:highlight>
                  <a:srgbClr val="FFFF00"/>
                </a:highlight>
              </a:rPr>
              <a:t>[value]</a:t>
            </a:r>
            <a:r>
              <a:rPr lang="en-US" sz="1800" dirty="0"/>
              <a:t>: the number to beat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Others:</a:t>
            </a:r>
            <a:r>
              <a:rPr lang="en-US" sz="1800" dirty="0"/>
              <a:t xml:space="preserve"> </a:t>
            </a:r>
            <a:r>
              <a:rPr lang="en-US" sz="1800" dirty="0">
                <a:highlight>
                  <a:srgbClr val="FFFF00"/>
                </a:highlight>
              </a:rPr>
              <a:t>[what we see, e.g., lasso is close to lm]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5D2176-53C1-FD11-941F-B6B1A634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44220"/>
              </p:ext>
            </p:extLst>
          </p:nvPr>
        </p:nvGraphicFramePr>
        <p:xfrm>
          <a:off x="54864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921">
                  <a:extLst>
                    <a:ext uri="{9D8B030D-6E8A-4147-A177-3AD203B41FA5}">
                      <a16:colId xmlns:a16="http://schemas.microsoft.com/office/drawing/2014/main" val="2560184830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60176262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1079911923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21782927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95094865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71564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MAPE (%)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Bias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89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baseline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8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619937"/>
                  </a:ext>
                </a:extLst>
              </a:tr>
              <a:tr h="375305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lasso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91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ridge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4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glm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64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mixed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53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glmm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827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Combinations of steps: ideal vs this analysis</a:t>
            </a:r>
            <a:endParaRPr lang="en-US" sz="3400" dirty="0"/>
          </a:p>
        </p:txBody>
      </p:sp>
      <p:sp>
        <p:nvSpPr>
          <p:cNvPr id="3" name="Ideal header"/>
          <p:cNvSpPr txBox="1"/>
          <p:nvPr/>
        </p:nvSpPr>
        <p:spPr>
          <a:xfrm>
            <a:off x="548640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Ideal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Try many combinations of the steps: variable selection (forward / backward, AIC / BIC), transformations, outlier handling, interactions,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Compare all the combinations with cross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the best combination</a:t>
            </a:r>
            <a:endParaRPr lang="en-US" sz="2000" dirty="0"/>
          </a:p>
        </p:txBody>
      </p:sp>
      <p:sp>
        <p:nvSpPr>
          <p:cNvPr id="5" name="This analysis header"/>
          <p:cNvSpPr txBox="1"/>
          <p:nvPr/>
        </p:nvSpPr>
        <p:spPr>
          <a:xfrm>
            <a:off x="6323076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analysis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6323076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time: every step was run once, in the order of the previous slides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candidate models share the same variables, transformations and interactions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the candidates are compared, with cross validation; the best one is the final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Gamma GLM, log link</a:t>
            </a:r>
            <a:r>
              <a:rPr lang="en-US" sz="2000" dirty="0"/>
              <a:t xml:space="preserve"> (fitted on the original y)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realized_vol ~ Gamma(mean μ)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log(μ) = market_cap_bn + vix_prev + earnings_day + premarket_vol_k + news_flag + fomc_day + macro_alert + weekday + opex_day + credit_spread + log(premarket_vol_k) + vix_prev² + vix_prev × market_cap_bn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model formula (Gamma GLM, log link)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Variables:</a:t>
            </a:r>
            <a:r>
              <a:rPr lang="en-US" sz="1600" dirty="0"/>
              <a:t xml:space="preserve"> 10 selected + 2 transformed terms + 1 interaction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Why Gamma: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the variance grows with the mean, as the residuals showed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y is positive and right-skewed; the log link keeps the predictions positive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the log link gives multiplicative effects, easy to interpret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>
                <a:highlight>
                  <a:srgbClr val="FFFF00"/>
                </a:highlight>
              </a:rPr>
              <a:t>[smallest cross-validated RMSE among the candidates, only if true]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Cross validation:</a:t>
            </a:r>
            <a:r>
              <a:rPr lang="en-US" sz="1600" dirty="0"/>
              <a:t xml:space="preserve"> RMSE </a:t>
            </a:r>
            <a:r>
              <a:rPr lang="en-US" sz="1600" dirty="0">
                <a:highlight>
                  <a:srgbClr val="FFFF00"/>
                </a:highlight>
              </a:rPr>
              <a:t>[value]</a:t>
            </a:r>
            <a:r>
              <a:rPr lang="en-US" sz="1600" dirty="0"/>
              <a:t xml:space="preserve"> vs baseline </a:t>
            </a:r>
            <a:r>
              <a:rPr lang="en-US" sz="1600" dirty="0">
                <a:highlight>
                  <a:srgbClr val="FFFF00"/>
                </a:highlight>
              </a:rPr>
              <a:t>[value]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test on the holdout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Holdout score table: paste here</a:t>
            </a:r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Actual vs predicted: paste here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4572000"/>
            <a:ext cx="11091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holdout score table of the models (scores computed on the holdout)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Right:</a:t>
            </a:r>
            <a:r>
              <a:rPr lang="en-US" sz="1600" dirty="0"/>
              <a:t xml:space="preserve"> actual vs predicted of the final model on the holdout (points near the diagonal = good)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Result:</a:t>
            </a:r>
            <a:r>
              <a:rPr lang="en-US" sz="1600" dirty="0"/>
              <a:t xml:space="preserve"> Gamma model, RMSE </a:t>
            </a:r>
            <a:r>
              <a:rPr lang="en-US" sz="1600" dirty="0">
                <a:highlight>
                  <a:srgbClr val="FFFF00"/>
                </a:highlight>
              </a:rPr>
              <a:t>[value]</a:t>
            </a:r>
            <a:r>
              <a:rPr lang="en-US" sz="1600" dirty="0"/>
              <a:t xml:space="preserve"> on the holdout (baseline </a:t>
            </a:r>
            <a:r>
              <a:rPr lang="en-US" sz="1600" dirty="0">
                <a:highlight>
                  <a:srgbClr val="FFFF00"/>
                </a:highlight>
              </a:rPr>
              <a:t>[value]</a:t>
            </a:r>
            <a:r>
              <a:rPr lang="en-US" sz="1600" dirty="0"/>
              <a:t xml:space="preserve">, cross validation </a:t>
            </a:r>
            <a:r>
              <a:rPr lang="en-US" sz="1600" dirty="0">
                <a:highlight>
                  <a:srgbClr val="FFFF00"/>
                </a:highlight>
              </a:rPr>
              <a:t>[value]</a:t>
            </a:r>
            <a:r>
              <a:rPr lang="en-US" sz="1600" dirty="0"/>
              <a:t>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Compared with cross validation:</a:t>
            </a:r>
            <a:r>
              <a:rPr lang="en-US" sz="1600" dirty="0"/>
              <a:t xml:space="preserve"> </a:t>
            </a:r>
            <a:r>
              <a:rPr lang="en-US" sz="1600" dirty="0">
                <a:highlight>
                  <a:srgbClr val="FFFF00"/>
                </a:highlight>
              </a:rPr>
              <a:t>[similar / worse]</a:t>
            </a:r>
            <a:r>
              <a:rPr lang="en-US" sz="1600" dirty="0"/>
              <a:t xml:space="preserve"> because </a:t>
            </a:r>
            <a:r>
              <a:rPr lang="en-US" sz="1600" dirty="0">
                <a:highlight>
                  <a:srgbClr val="FFFF00"/>
                </a:highlight>
              </a:rPr>
              <a:t>[reason]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Findings header"/>
          <p:cNvSpPr txBox="1"/>
          <p:nvPr/>
        </p:nvSpPr>
        <p:spPr>
          <a:xfrm>
            <a:off x="548640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Findings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realized_vol is positive and right-skewed, and its variance grows with the level → Gamma GLM with log link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Drivers: market-wide conditions (vix_prev, credit_spread), stock size (market_cap_bn) and event days (earnings_day, fomc_day, opex_day); the effect of vix_prev depends on market_cap_bn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>
                <a:highlight>
                  <a:srgbClr val="FFFF00"/>
                </a:highlight>
              </a:rPr>
              <a:t>[Gamma model: RMSE __ vs baseline __ (cross validation), __ on the holdout]</a:t>
            </a:r>
          </a:p>
        </p:txBody>
      </p:sp>
      <p:sp>
        <p:nvSpPr>
          <p:cNvPr id="5" name="Limitations header"/>
          <p:cNvSpPr txBox="1"/>
          <p:nvPr/>
        </p:nvSpPr>
        <p:spPr>
          <a:xfrm>
            <a:off x="4337304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4337304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Every step was run once, in a fixed order: not all combinations were compared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Short history and one holdout period (about 3 months): may not cover other market conditions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The window length (60 days) was not tuned; missing values are filled in a simple way</a:t>
            </a:r>
          </a:p>
        </p:txBody>
      </p:sp>
      <p:sp>
        <p:nvSpPr>
          <p:cNvPr id="7" name="Next steps header"/>
          <p:cNvSpPr txBox="1"/>
          <p:nvPr/>
        </p:nvSpPr>
        <p:spPr>
          <a:xfrm>
            <a:off x="8125968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8" name="Text"/>
          <p:cNvSpPr txBox="1"/>
          <p:nvPr/>
        </p:nvSpPr>
        <p:spPr>
          <a:xfrm>
            <a:off x="8125968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Try more flexible models (e.g., tree-based) for nonlinear patterns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Check whether the residuals are correlated over time; if so, add lagged features of the target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600" dirty="0"/>
              <a:t>Tune the window length, try other combinations of the steps, and check the sensitivity to outliers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Checkpoint: the model so far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Linear regression (lm) on the log-transformed target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log(realized_vol) ~ market_cap_bn + vix_prev + earnings_day + premarket_vol_k + news_flag + fomc_day + macro_alert + weekday + opex_day + credit_spread + log(premarket_vol_k) + vix_prev²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In symbols:</a:t>
            </a:r>
            <a:r>
              <a:rPr lang="en-US" sz="2000" dirty="0"/>
              <a:t xml:space="preserve">  log(TARGET) = β₀ + β₁X₁ + β₂X₂ + … + ε,   where X₁ = market_cap_bn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the model so far (10 selected variables + 2 transformed terms; no interaction yet)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Reading β₁</a:t>
            </a:r>
            <a:r>
              <a:rPr lang="en-US" sz="1800" dirty="0"/>
              <a:t xml:space="preserve"> (the first variable, X₁ = market_cap_bn):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X₁ increases by 1 unit (1 billion dollars) → log(TARGET) increases by β̂₁ (other variables fixed)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200" dirty="0"/>
              <a:t>that is, TARGET is multiplied by e</a:t>
            </a:r>
            <a:r>
              <a:rPr lang="en-US" sz="2200" dirty="0" baseline="30000"/>
              <a:t>β̂1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Estimate:</a:t>
            </a:r>
            <a:r>
              <a:rPr lang="en-US" sz="1800" dirty="0"/>
              <a:t xml:space="preserve"> β̂₁ = </a:t>
            </a:r>
            <a:r>
              <a:rPr lang="en-US" sz="1800" dirty="0">
                <a:highlight>
                  <a:srgbClr val="FFFF00"/>
                </a:highlight>
              </a:rPr>
              <a:t>[__]</a:t>
            </a:r>
            <a:r>
              <a:rPr lang="en-US" sz="1800" dirty="0"/>
              <a:t xml:space="preserve">, exp(β̂₁) = </a:t>
            </a:r>
            <a:r>
              <a:rPr lang="en-US" sz="1800" dirty="0">
                <a:highlight>
                  <a:srgbClr val="FFFF00"/>
                </a:highlight>
              </a:rPr>
              <a:t>[__]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model: interpreting a coefficient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Gamma GLM, log link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log(μ) = β₀ + β₁X₁ + β₂X₂ + …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μ = expected realized_vol,   X₁ = market_cap_bn (the first variable)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Interaction in the model:</a:t>
            </a:r>
            <a:r>
              <a:rPr lang="en-US" sz="2000" dirty="0"/>
              <a:t xml:space="preserve"> vix_prev × market_cap_bn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the final model in symbols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Reading β₁: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X₁ increases by 1 unit → log(expected TARGET) increases by β̂₁ (other variables fixed)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200" dirty="0"/>
              <a:t>that is, the expected TARGET is multiplied by e</a:t>
            </a:r>
            <a:r>
              <a:rPr lang="en-US" sz="2200" dirty="0" baseline="30000"/>
              <a:t>β̂1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Interaction:</a:t>
            </a:r>
            <a:r>
              <a:rPr lang="en-US" sz="1800" dirty="0"/>
              <a:t xml:space="preserve"> market_cap_bn is also in vix_prev × market_cap_bn, so the factor depends on vix_prev: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factor = exp(β̂₁ + β̂_int × vix_prev)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Example:</a:t>
            </a:r>
            <a:r>
              <a:rPr lang="en-US" sz="1800" dirty="0"/>
              <a:t xml:space="preserve"> at vix_prev = about 16.9 (its mean), the factor is </a:t>
            </a:r>
            <a:r>
              <a:rPr lang="en-US" sz="1800" dirty="0">
                <a:highlight>
                  <a:srgbClr val="FFFF00"/>
                </a:highlight>
              </a:rPr>
              <a:t>[__]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2068</Words>
  <Application>Microsoft Office PowerPoint</Application>
  <PresentationFormat>Widescreen</PresentationFormat>
  <Paragraphs>322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Segoe UI</vt:lpstr>
      <vt:lpstr>Plain</vt:lpstr>
      <vt:lpstr>Minjun Cho</vt:lpstr>
      <vt:lpstr>Analysis approach</vt:lpstr>
      <vt:lpstr>Data overview</vt:lpstr>
      <vt:lpstr>Holdout split: time series</vt:lpstr>
      <vt:lpstr>EDA: the target</vt:lpstr>
      <vt:lpstr>EDA: predictors vs target</vt:lpstr>
      <vt:lpstr>EDA: relationships between predictors</vt:lpstr>
      <vt:lpstr>EDA: relationships between predictors</vt:lpstr>
      <vt:lpstr>EDA: missing values</vt:lpstr>
      <vt:lpstr>EDA: what does the missingness mean?</vt:lpstr>
      <vt:lpstr>Variable selection: AIC and BIC</vt:lpstr>
      <vt:lpstr>Variable selection: result</vt:lpstr>
      <vt:lpstr>Assumptions check</vt:lpstr>
      <vt:lpstr>Box-Cox Transformations</vt:lpstr>
      <vt:lpstr>Outliers: how we handled them</vt:lpstr>
      <vt:lpstr>Interactions</vt:lpstr>
      <vt:lpstr>Candidate models</vt:lpstr>
      <vt:lpstr>Measures (1/2): RMSE and MAE</vt:lpstr>
      <vt:lpstr>Measures (2/2): MAPE, R² and Bias</vt:lpstr>
      <vt:lpstr>Cross validation: moving window (time series)</vt:lpstr>
      <vt:lpstr>Cross validation: K-fold (not time series)</vt:lpstr>
      <vt:lpstr>Model comparison</vt:lpstr>
      <vt:lpstr>Combinations of steps: ideal vs this analysis</vt:lpstr>
      <vt:lpstr>Final model</vt:lpstr>
      <vt:lpstr>Final test on the holdout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Squarepoint Data Analysis (regression)</dc:title>
  <dc:subject>PptxGenJS Presentation</dc:subject>
  <dc:creator>Minjun Cho</dc:creator>
  <cp:lastModifiedBy>조민준</cp:lastModifiedBy>
  <cp:revision>5</cp:revision>
  <dcterms:created xsi:type="dcterms:W3CDTF">2026-10-25T18:05:31Z</dcterms:created>
  <dcterms:modified xsi:type="dcterms:W3CDTF">2026-10-26T05:47:01Z</dcterms:modified>
</cp:coreProperties>
</file>