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85" r:id="rId22"/>
    <p:sldId id="261" r:id="rId6"/>
    <p:sldId id="262" r:id="rId7"/>
    <p:sldId id="263" r:id="rId8"/>
    <p:sldId id="281" r:id="rId9"/>
    <p:sldId id="264" r:id="rId10"/>
    <p:sldId id="265" r:id="rId11"/>
    <p:sldId id="266" r:id="rId12"/>
    <p:sldId id="267" r:id="rId13"/>
    <p:sldId id="282" r:id="rId14"/>
    <p:sldId id="268" r:id="rId15"/>
    <p:sldId id="283" r:id="rId33"/>
    <p:sldId id="269" r:id="rId16"/>
    <p:sldId id="270" r:id="rId17"/>
    <p:sldId id="271" r:id="rId18"/>
    <p:sldId id="272" r:id="rId19"/>
    <p:sldId id="273" r:id="rId20"/>
    <p:sldId id="274" r:id="rId21"/>
    <p:sldId id="286" r:id="rId35"/>
    <p:sldId id="276" r:id="rId23"/>
    <p:sldId id="277" r:id="rId24"/>
    <p:sldId id="278" r:id="rId25"/>
    <p:sldId id="284" r:id="rId34"/>
    <p:sldId id="279" r:id="rId26"/>
    <p:sldId id="280" r:id="rId2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1AA74789-9044-E33E-D8C4-D57CA0EF9B9D}">
          <p14:sldIdLst>
            <p14:sldId id="256"/>
            <p14:sldId id="257"/>
          </p14:sldIdLst>
        </p14:section>
        <p14:section name="Data" id="{D7C58A38-DC83-6B22-697F-4ED4C38F360A}">
          <p14:sldIdLst>
            <p14:sldId id="258"/>
            <p14:sldId id="259"/>
          </p14:sldIdLst>
        </p14:section>
        <p14:section name="EDA" id="{EEDB0F81-9E46-B5FB-6597-16DE12B68BF8}">
          <p14:sldIdLst>
            <p14:sldId id="261"/>
            <p14:sldId id="262"/>
            <p14:sldId id="263"/>
            <p14:sldId id="281"/>
            <p14:sldId id="264"/>
            <p14:sldId id="265"/>
          </p14:sldIdLst>
        </p14:section>
        <p14:section name="Modeling" id="{6015F70D-D848-EED2-5EBC-800D2247697A}">
          <p14:sldIdLst>
            <p14:sldId id="266"/>
            <p14:sldId id="267"/>
            <p14:sldId id="282"/>
            <p14:sldId id="268"/>
            <p14:sldId id="269"/>
            <p14:sldId id="270"/>
            <p14:sldId id="271"/>
          </p14:sldIdLst>
        </p14:section>
        <p14:section name="Evaluation" id="{4512D86C-75AC-B5DA-3F86-9677BE33CD1E}">
          <p14:sldIdLst>
            <p14:sldId id="272"/>
            <p14:sldId id="273"/>
            <p14:sldId id="274"/>
            <p14:sldId id="275"/>
            <p14:sldId id="276"/>
          </p14:sldIdLst>
        </p14:section>
        <p14:section name="Results" id="{3ADF011B-7C3D-A4D3-280F-D6479BA537EF}">
          <p14:sldIdLst>
            <p14:sldId id="277"/>
            <p14:sldId id="278"/>
            <p14:sldId id="279"/>
            <p14:sldId id="28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16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6.xml"/><Relationship Id="rId17" Type="http://schemas.openxmlformats.org/officeDocument/2006/relationships/slide" Target="slides/slide17.xml"/><Relationship Id="rId18" Type="http://schemas.openxmlformats.org/officeDocument/2006/relationships/slide" Target="slides/slide18.xml"/><Relationship Id="rId19" Type="http://schemas.openxmlformats.org/officeDocument/2006/relationships/slide" Target="slides/slide19.xml"/><Relationship Id="rId20" Type="http://schemas.openxmlformats.org/officeDocument/2006/relationships/slide" Target="slides/slide20.xml"/><Relationship Id="rId21" Type="http://schemas.openxmlformats.org/officeDocument/2006/relationships/slide" Target="slides/slide21.xml"/><Relationship Id="rId22" Type="http://schemas.openxmlformats.org/officeDocument/2006/relationships/slide" Target="slides/slide28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6.xml"/><Relationship Id="rId27" Type="http://schemas.openxmlformats.org/officeDocument/2006/relationships/slide" Target="slides/slide27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Relationship Id="rId33" Type="http://schemas.openxmlformats.org/officeDocument/2006/relationships/slide" Target="slides/slide15.xml"/><Relationship Id="rId34" Type="http://schemas.openxmlformats.org/officeDocument/2006/relationships/slide" Target="slides/slide25.xml"/><Relationship Id="rId35" Type="http://schemas.openxmlformats.org/officeDocument/2006/relationships/slide" Target="slides/slide2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82552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Keep only ONE of the two holdout-split slides: this one (time series) or the next one (not time series). Delete the other.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31DB38-2CB5-24B8-E0D1-83D0901B8B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DAC795-B315-998D-ACB4-1CA04C80C2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CB4DBA-12CB-CA8A-ACCA-E749851318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Optional slide: use it only if some variables carry the same information. Otherwise delete it.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21B43E-2E9D-0036-CE05-37CA150B041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100230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330EB4-169D-98DD-0844-5EDE0C7EC5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E6536F-4F68-05AF-C670-B35CC53969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75751A-420D-8514-6C6E-72F0AF3BF5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28199A-36E1-2C82-8766-825635BC7A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028325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Keep only ONE of the two cross-validation slides: this one (time series) or the K-fold slide (not time series). Delete the other.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011680"/>
            <a:ext cx="11091672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4800" b="1" dirty="0">
                <a:solidFill>
                  <a:schemeClr val="tx1"/>
                </a:solidFill>
              </a:defRPr>
            </a:lvl1pPr>
          </a:lstStyle>
          <a:p>
            <a:pPr marL="0" indent="0" algn="ctr">
              <a:buNone/>
            </a:pPr>
            <a:endParaRPr lang="en-US" sz="48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3200400"/>
            <a:ext cx="11091672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3000" dirty="0">
                <a:solidFill>
                  <a:schemeClr val="tx1"/>
                </a:solidFill>
              </a:defRPr>
            </a:lvl1pPr>
          </a:lstStyle>
          <a:p>
            <a:pPr marL="0" indent="0" algn="ctr">
              <a:buNone/>
            </a:pPr>
            <a:endParaRPr lang="en-US" sz="3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4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011680"/>
            <a:ext cx="1109167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chemeClr val="tx1"/>
                </a:solidFill>
              </a:rPr>
              <a:t>Minjun Cho</a:t>
            </a:r>
            <a:endParaRPr lang="en-US" sz="48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320040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3000" dirty="0">
                <a:solidFill>
                  <a:schemeClr val="tx1"/>
                </a:solidFill>
              </a:rPr>
              <a:t>Squarepoint Data Analysis</a:t>
            </a:r>
            <a:endParaRPr lang="en-US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Analysis approach</a:t>
            </a:r>
            <a:endParaRPr lang="en-US" sz="3400" dirty="0"/>
          </a:p>
        </p:txBody>
      </p:sp>
      <p:sp>
        <p:nvSpPr>
          <p:cNvPr id="3" name="Step 1"/>
          <p:cNvSpPr txBox="1"/>
          <p:nvPr/>
        </p:nvSpPr>
        <p:spPr>
          <a:xfrm>
            <a:off x="525780" y="2194560"/>
            <a:ext cx="1371600" cy="118872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</a:rPr>
              <a:t>First look</a:t>
            </a:r>
            <a:endParaRPr lang="en-US" sz="1500" dirty="0"/>
          </a:p>
        </p:txBody>
      </p:sp>
      <p:sp>
        <p:nvSpPr>
          <p:cNvPr id="4" name="Step 1 note"/>
          <p:cNvSpPr txBox="1"/>
          <p:nvPr/>
        </p:nvSpPr>
        <p:spPr>
          <a:xfrm>
            <a:off x="489204" y="3520440"/>
            <a:ext cx="1444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accent4"/>
                </a:solidFill>
              </a:rPr>
              <a:t>rows, columns, types</a:t>
            </a:r>
            <a:endParaRPr lang="en-US" sz="1300" dirty="0"/>
          </a:p>
        </p:txBody>
      </p:sp>
      <p:sp>
        <p:nvSpPr>
          <p:cNvPr id="5" name="Arrow 1"/>
          <p:cNvSpPr/>
          <p:nvPr/>
        </p:nvSpPr>
        <p:spPr>
          <a:xfrm>
            <a:off x="1915668" y="2788920"/>
            <a:ext cx="219456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tep 2"/>
          <p:cNvSpPr txBox="1"/>
          <p:nvPr/>
        </p:nvSpPr>
        <p:spPr>
          <a:xfrm>
            <a:off x="2153412" y="2194560"/>
            <a:ext cx="1371600" cy="118872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</a:rPr>
              <a:t>Holdout split</a:t>
            </a:r>
            <a:endParaRPr lang="en-US" sz="1500" dirty="0"/>
          </a:p>
        </p:txBody>
      </p:sp>
      <p:sp>
        <p:nvSpPr>
          <p:cNvPr id="7" name="Step 2 note"/>
          <p:cNvSpPr txBox="1"/>
          <p:nvPr/>
        </p:nvSpPr>
        <p:spPr>
          <a:xfrm>
            <a:off x="2116836" y="3520440"/>
            <a:ext cx="1444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accent4"/>
                </a:solidFill>
              </a:rPr>
              <a:t>kept aside, opened once</a:t>
            </a:r>
            <a:endParaRPr lang="en-US" sz="1300" dirty="0"/>
          </a:p>
        </p:txBody>
      </p:sp>
      <p:sp>
        <p:nvSpPr>
          <p:cNvPr id="8" name="Arrow 2"/>
          <p:cNvSpPr/>
          <p:nvPr/>
        </p:nvSpPr>
        <p:spPr>
          <a:xfrm>
            <a:off x="3543300" y="2788920"/>
            <a:ext cx="219456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tep 3"/>
          <p:cNvSpPr txBox="1"/>
          <p:nvPr/>
        </p:nvSpPr>
        <p:spPr>
          <a:xfrm>
            <a:off x="3781044" y="2194560"/>
            <a:ext cx="1371600" cy="118872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</a:rPr>
              <a:t>EDA</a:t>
            </a:r>
            <a:endParaRPr lang="en-US" sz="1500" dirty="0"/>
          </a:p>
        </p:txBody>
      </p:sp>
      <p:sp>
        <p:nvSpPr>
          <p:cNvPr id="10" name="Step 3 note"/>
          <p:cNvSpPr txBox="1"/>
          <p:nvPr/>
        </p:nvSpPr>
        <p:spPr>
          <a:xfrm>
            <a:off x="3744468" y="3520440"/>
            <a:ext cx="1444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accent4"/>
                </a:solidFill>
              </a:rPr>
              <a:t>plots, missing values</a:t>
            </a:r>
            <a:endParaRPr lang="en-US" sz="1300" dirty="0"/>
          </a:p>
        </p:txBody>
      </p:sp>
      <p:sp>
        <p:nvSpPr>
          <p:cNvPr id="11" name="Arrow 3"/>
          <p:cNvSpPr/>
          <p:nvPr/>
        </p:nvSpPr>
        <p:spPr>
          <a:xfrm>
            <a:off x="5170932" y="2788920"/>
            <a:ext cx="219456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tep 4"/>
          <p:cNvSpPr txBox="1"/>
          <p:nvPr/>
        </p:nvSpPr>
        <p:spPr>
          <a:xfrm>
            <a:off x="5408676" y="2194560"/>
            <a:ext cx="1371600" cy="118872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</a:rPr>
              <a:t>Variable selection</a:t>
            </a:r>
            <a:endParaRPr lang="en-US" sz="1500" dirty="0"/>
          </a:p>
        </p:txBody>
      </p:sp>
      <p:sp>
        <p:nvSpPr>
          <p:cNvPr id="13" name="Step 4 note"/>
          <p:cNvSpPr txBox="1"/>
          <p:nvPr/>
        </p:nvSpPr>
        <p:spPr>
          <a:xfrm>
            <a:off x="5372100" y="3520440"/>
            <a:ext cx="1444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accent4"/>
                </a:solidFill>
              </a:rPr>
              <a:t>forward / backward, AIC / BIC</a:t>
            </a:r>
            <a:endParaRPr lang="en-US" sz="1300" dirty="0"/>
          </a:p>
        </p:txBody>
      </p:sp>
      <p:sp>
        <p:nvSpPr>
          <p:cNvPr id="14" name="Arrow 4"/>
          <p:cNvSpPr/>
          <p:nvPr/>
        </p:nvSpPr>
        <p:spPr>
          <a:xfrm>
            <a:off x="6798564" y="2788920"/>
            <a:ext cx="219456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tep 5"/>
          <p:cNvSpPr txBox="1"/>
          <p:nvPr/>
        </p:nvSpPr>
        <p:spPr>
          <a:xfrm>
            <a:off x="7036308" y="2194560"/>
            <a:ext cx="1371600" cy="118872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</a:rPr>
              <a:t>Transform, outliers, interactions</a:t>
            </a:r>
            <a:endParaRPr lang="en-US" sz="1500" dirty="0"/>
          </a:p>
        </p:txBody>
      </p:sp>
      <p:sp>
        <p:nvSpPr>
          <p:cNvPr id="16" name="Step 5 note"/>
          <p:cNvSpPr txBox="1"/>
          <p:nvPr/>
        </p:nvSpPr>
        <p:spPr>
          <a:xfrm>
            <a:off x="6999732" y="3520440"/>
            <a:ext cx="1444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accent4"/>
                </a:solidFill>
              </a:rPr>
              <a:t>y and x transforms, outlier rows, pairs</a:t>
            </a:r>
            <a:endParaRPr lang="en-US" sz="1300" dirty="0"/>
          </a:p>
        </p:txBody>
      </p:sp>
      <p:sp>
        <p:nvSpPr>
          <p:cNvPr id="17" name="Arrow 5"/>
          <p:cNvSpPr/>
          <p:nvPr/>
        </p:nvSpPr>
        <p:spPr>
          <a:xfrm>
            <a:off x="8426196" y="2788920"/>
            <a:ext cx="219456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tep 6"/>
          <p:cNvSpPr txBox="1"/>
          <p:nvPr/>
        </p:nvSpPr>
        <p:spPr>
          <a:xfrm>
            <a:off x="8663940" y="2194560"/>
            <a:ext cx="1371600" cy="118872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</a:rPr>
              <a:t>Models + comparison</a:t>
            </a:r>
            <a:endParaRPr lang="en-US" sz="1500" dirty="0"/>
          </a:p>
        </p:txBody>
      </p:sp>
      <p:sp>
        <p:nvSpPr>
          <p:cNvPr id="19" name="Step 6 note"/>
          <p:cNvSpPr txBox="1"/>
          <p:nvPr/>
        </p:nvSpPr>
        <p:spPr>
          <a:xfrm>
            <a:off x="8627364" y="3520440"/>
            <a:ext cx="1444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accent4"/>
                </a:solidFill>
              </a:rPr>
              <a:t>cross validation on unseen rows</a:t>
            </a:r>
            <a:endParaRPr lang="en-US" sz="1300" dirty="0"/>
          </a:p>
        </p:txBody>
      </p:sp>
      <p:sp>
        <p:nvSpPr>
          <p:cNvPr id="20" name="Arrow 6"/>
          <p:cNvSpPr/>
          <p:nvPr/>
        </p:nvSpPr>
        <p:spPr>
          <a:xfrm>
            <a:off x="10053828" y="2788920"/>
            <a:ext cx="219456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tep 7"/>
          <p:cNvSpPr txBox="1"/>
          <p:nvPr/>
        </p:nvSpPr>
        <p:spPr>
          <a:xfrm>
            <a:off x="10291572" y="2194560"/>
            <a:ext cx="1371600" cy="118872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</a:rPr>
              <a:t>Holdout test</a:t>
            </a:r>
            <a:endParaRPr lang="en-US" sz="1500" dirty="0"/>
          </a:p>
        </p:txBody>
      </p:sp>
      <p:sp>
        <p:nvSpPr>
          <p:cNvPr id="22" name="Step 7 note"/>
          <p:cNvSpPr txBox="1"/>
          <p:nvPr/>
        </p:nvSpPr>
        <p:spPr>
          <a:xfrm>
            <a:off x="10254996" y="3520440"/>
            <a:ext cx="1444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accent4"/>
                </a:solidFill>
              </a:rPr>
              <a:t>final check, once</a:t>
            </a:r>
            <a:endParaRPr lang="en-US" sz="1300" dirty="0"/>
          </a:p>
        </p:txBody>
      </p:sp>
      <p:sp>
        <p:nvSpPr>
          <p:cNvPr id="23" name="Summary line"/>
          <p:cNvSpPr txBox="1"/>
          <p:nvPr/>
        </p:nvSpPr>
        <p:spPr>
          <a:xfrm>
            <a:off x="548640" y="484632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chemeClr val="tx1"/>
                </a:solidFill>
              </a:rPr>
              <a:t>Every choice is made on the development part only. The holdout is opened once, at the end.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Data overview</a:t>
            </a:r>
            <a:endParaRPr lang="en-US" sz="3400" dirty="0"/>
          </a:p>
        </p:txBody>
      </p:sp>
      <p:sp>
        <p:nvSpPr>
          <p:cNvPr id="3" name="Data summary"/>
          <p:cNvSpPr txBox="1"/>
          <p:nvPr/>
        </p:nvSpPr>
        <p:spPr>
          <a:xfrm>
            <a:off x="548640" y="1280160"/>
            <a:ext cx="1109167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342900" indent="-342900">
              <a:spcBef>
                <a:spcPts val="1000"/>
              </a:spcBef>
              <a:buFont typeface="Arial"/>
              <a:buChar char="•"/>
            </a:pPr>
            <a:r>
              <a:rPr lang="en-US" sz="2000" dirty="0" b="1"/>
              <a:t>Data:</a:t>
            </a:r>
            <a:r>
              <a:rPr lang="en-US" sz="2000" dirty="0"/>
              <a:t xml:space="preserve"> [tables merged into one: A + B (key = ...)]</a:t>
            </a:r>
          </a:p>
          <a:p>
            <a:pPr marL="342900" indent="-342900">
              <a:spcBef>
                <a:spcPts val="1000"/>
              </a:spcBef>
              <a:buFont typeface="Arial"/>
              <a:buChar char="•"/>
            </a:pPr>
            <a:r>
              <a:rPr lang="en-US" sz="2000" dirty="0" b="1"/>
              <a:t>Samples:</a:t>
            </a:r>
            <a:r>
              <a:rPr lang="en-US" sz="2000" dirty="0"/>
              <a:t xml:space="preserve"> [N] rows   |   </a:t>
            </a:r>
            <a:r>
              <a:rPr lang="en-US" sz="2000" dirty="0" b="1"/>
              <a:t>Columns:</a:t>
            </a:r>
            <a:r>
              <a:rPr lang="en-US" sz="2000" dirty="0"/>
              <a:t xml:space="preserve"> [M]</a:t>
            </a:r>
          </a:p>
          <a:p>
            <a:pPr marL="342900" indent="-342900">
              <a:spcBef>
                <a:spcPts val="1000"/>
              </a:spcBef>
              <a:buFont typeface="Arial"/>
              <a:buChar char="•"/>
            </a:pPr>
            <a:r>
              <a:rPr lang="en-US" sz="2000" dirty="0" b="1"/>
              <a:t>Target:</a:t>
            </a:r>
            <a:r>
              <a:rPr lang="en-US" sz="2000" dirty="0"/>
              <a:t xml:space="preserve"> [name] (numeric)</a:t>
            </a:r>
          </a:p>
          <a:p>
            <a:pPr marL="342900" indent="-342900">
              <a:spcBef>
                <a:spcPts val="1000"/>
              </a:spcBef>
              <a:buFont typeface="Arial"/>
              <a:buChar char="•"/>
            </a:pPr>
            <a:r>
              <a:rPr lang="en-US" sz="2000" dirty="0" b="1"/>
              <a:t>Numeric ([n]):</a:t>
            </a:r>
            <a:r>
              <a:rPr lang="en-US" sz="2000" dirty="0"/>
              <a:t xml:space="preserve"> [main examples]</a:t>
            </a:r>
          </a:p>
          <a:p>
            <a:pPr marL="342900" indent="-342900">
              <a:spcBef>
                <a:spcPts val="1000"/>
              </a:spcBef>
              <a:buFont typeface="Arial"/>
              <a:buChar char="•"/>
            </a:pPr>
            <a:r>
              <a:rPr lang="en-US" sz="2000" dirty="0" b="1"/>
              <a:t>Categorical ([n]):</a:t>
            </a:r>
            <a:r>
              <a:rPr lang="en-US" sz="2000" dirty="0"/>
              <a:t xml:space="preserve"> [main examples]</a:t>
            </a:r>
          </a:p>
          <a:p>
            <a:pPr marL="342900" indent="-342900">
              <a:spcBef>
                <a:spcPts val="1000"/>
              </a:spcBef>
              <a:buFont typeface="Arial"/>
              <a:buChar char="•"/>
            </a:pPr>
            <a:r>
              <a:rPr lang="en-US" sz="2000" dirty="0" b="1"/>
              <a:t>Date ([n]):</a:t>
            </a:r>
            <a:r>
              <a:rPr lang="en-US" sz="2000" dirty="0"/>
              <a:t xml:space="preserve"> [all of them]</a:t>
            </a:r>
          </a:p>
          <a:p>
            <a:pPr marL="342900" indent="-342900">
              <a:spcBef>
                <a:spcPts val="1000"/>
              </a:spcBef>
              <a:buFont typeface="Arial"/>
              <a:buChar char="•"/>
            </a:pPr>
            <a:r>
              <a:rPr lang="en-US" sz="2000" dirty="0" b="1"/>
              <a:t>ID ([n]):</a:t>
            </a:r>
            <a:r>
              <a:rPr lang="en-US" sz="2000" dirty="0"/>
              <a:t xml:space="preserve"> [all of them]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Holdout split: time series</a:t>
            </a:r>
            <a:endParaRPr lang="en-US" sz="3400" dirty="0"/>
          </a:p>
        </p:txBody>
      </p:sp>
      <p:sp>
        <p:nvSpPr>
          <p:cNvPr id="3" name="development box"/>
          <p:cNvSpPr txBox="1"/>
          <p:nvPr/>
        </p:nvSpPr>
        <p:spPr>
          <a:xfrm>
            <a:off x="548640" y="1554480"/>
            <a:ext cx="8873338" cy="9144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1"/>
                </a:solidFill>
              </a:rPr>
              <a:t>development: first 80% of the days</a:t>
            </a:r>
            <a:endParaRPr lang="en-US" sz="2000" dirty="0"/>
          </a:p>
        </p:txBody>
      </p:sp>
      <p:sp>
        <p:nvSpPr>
          <p:cNvPr id="4" name="holdout box"/>
          <p:cNvSpPr txBox="1"/>
          <p:nvPr/>
        </p:nvSpPr>
        <p:spPr>
          <a:xfrm>
            <a:off x="9421978" y="1554480"/>
            <a:ext cx="2218334" cy="9144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1"/>
                </a:solidFill>
              </a:rPr>
              <a:t>holdout: last 20%</a:t>
            </a:r>
            <a:endParaRPr lang="en-US" sz="2000" dirty="0"/>
          </a:p>
        </p:txBody>
      </p:sp>
      <p:sp>
        <p:nvSpPr>
          <p:cNvPr id="5" name="Time arrow"/>
          <p:cNvSpPr/>
          <p:nvPr/>
        </p:nvSpPr>
        <p:spPr>
          <a:xfrm>
            <a:off x="548640" y="2834640"/>
            <a:ext cx="11091672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ime label"/>
          <p:cNvSpPr txBox="1"/>
          <p:nvPr/>
        </p:nvSpPr>
        <p:spPr>
          <a:xfrm>
            <a:off x="548640" y="290779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accent4"/>
                </a:solidFill>
              </a:rPr>
              <a:t>time</a:t>
            </a:r>
            <a:endParaRPr lang="en-US" sz="1400" dirty="0"/>
          </a:p>
        </p:txBody>
      </p:sp>
      <p:sp>
        <p:nvSpPr>
          <p:cNvPr id="7" name="Text"/>
          <p:cNvSpPr txBox="1"/>
          <p:nvPr/>
        </p:nvSpPr>
        <p:spPr>
          <a:xfrm>
            <a:off x="548640" y="3566160"/>
            <a:ext cx="1109167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342900" indent="-342900">
              <a:spcBef>
                <a:spcPts val="600"/>
              </a:spcBef>
              <a:buFont typeface="Arial"/>
              <a:buChar char="•"/>
            </a:pPr>
            <a:r>
              <a:rPr lang="en-US" sz="1800" dirty="0" b="1"/>
              <a:t>Split by time:</a:t>
            </a:r>
            <a:r>
              <a:rPr lang="en-US" sz="1800" dirty="0"/>
              <a:t xml:space="preserve"> the last [20]% of the days are the holdout (a day is never cut in two)</a:t>
            </a:r>
          </a:p>
          <a:p>
            <a:pPr marL="342900" indent="-342900">
              <a:spcBef>
                <a:spcPts val="600"/>
              </a:spcBef>
              <a:buFont typeface="Arial"/>
              <a:buChar char="•"/>
            </a:pPr>
            <a:r>
              <a:rPr lang="en-US" sz="1800" dirty="0" b="1"/>
              <a:t>No shuffling:</a:t>
            </a:r>
            <a:r>
              <a:rPr lang="en-US" sz="1800" dirty="0"/>
              <a:t xml:space="preserve"> the future must not leak into the past</a:t>
            </a:r>
          </a:p>
          <a:p>
            <a:pPr marL="342900" indent="-342900">
              <a:spcBef>
                <a:spcPts val="600"/>
              </a:spcBef>
              <a:buFont typeface="Arial"/>
              <a:buChar char="•"/>
            </a:pPr>
            <a:r>
              <a:rPr lang="en-US" sz="1800" dirty="0" b="1"/>
              <a:t>development:</a:t>
            </a:r>
            <a:r>
              <a:rPr lang="en-US" sz="1800" dirty="0"/>
              <a:t xml:space="preserve"> [start date] to [end date], [n] rows</a:t>
            </a:r>
          </a:p>
          <a:p>
            <a:pPr marL="342900" indent="-342900">
              <a:spcBef>
                <a:spcPts val="600"/>
              </a:spcBef>
              <a:buFont typeface="Arial"/>
              <a:buChar char="•"/>
            </a:pPr>
            <a:r>
              <a:rPr lang="en-US" sz="1800" dirty="0" b="1"/>
              <a:t>holdout:</a:t>
            </a:r>
            <a:r>
              <a:rPr lang="en-US" sz="1800" dirty="0"/>
              <a:t xml:space="preserve"> [start date] to [end date], [n] rows</a:t>
            </a:r>
          </a:p>
          <a:p>
            <a:pPr marL="342900" indent="-342900">
              <a:spcBef>
                <a:spcPts val="600"/>
              </a:spcBef>
              <a:buFont typeface="Arial"/>
              <a:buChar char="•"/>
            </a:pPr>
            <a:r>
              <a:rPr lang="en-US" sz="1800" dirty="0"/>
              <a:t>The holdout is not used until the final test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EDA: the target</a:t>
            </a:r>
            <a:endParaRPr lang="en-US" sz="3400" dirty="0"/>
          </a:p>
        </p:txBody>
      </p:sp>
      <p:sp>
        <p:nvSpPr>
          <p:cNvPr id="5" name="Text"/>
          <p:cNvSpPr txBox="1"/>
          <p:nvPr/>
        </p:nvSpPr>
        <p:spPr>
          <a:xfrm>
            <a:off x="548640" y="4389120"/>
            <a:ext cx="11091672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342900" indent="-342900">
              <a:spcBef>
                <a:spcPts val="300"/>
              </a:spcBef>
              <a:buFont typeface="Arial"/>
              <a:buChar char="•"/>
            </a:pPr>
            <a:r>
              <a:rPr lang="en-US" sz="1600" dirty="0" b="1"/>
              <a:t>Left:</a:t>
            </a:r>
            <a:r>
              <a:rPr lang="en-US" sz="1600" dirty="0"/>
              <a:t xml:space="preserve"> [histogram of the target (x = value, y = number of rows)]</a:t>
            </a:r>
          </a:p>
          <a:p>
            <a:pPr marL="342900" indent="-342900">
              <a:spcBef>
                <a:spcPts val="300"/>
              </a:spcBef>
              <a:buFont typeface="Arial"/>
              <a:buChar char="•"/>
            </a:pPr>
            <a:r>
              <a:rPr lang="en-US" sz="1600" dirty="0" b="1"/>
              <a:t>Right:</a:t>
            </a:r>
            <a:r>
              <a:rPr lang="en-US" sz="1600" dirty="0"/>
              <a:t xml:space="preserve"> [target over time, e.g. the mean by month]</a:t>
            </a:r>
          </a:p>
          <a:p>
            <a:pPr marL="342900" indent="-342900">
              <a:spcBef>
                <a:spcPts val="300"/>
              </a:spcBef>
              <a:buFont typeface="Arial"/>
              <a:buChar char="•"/>
            </a:pPr>
            <a:r>
              <a:rPr lang="en-US" sz="1600" dirty="0" b="1"/>
              <a:t>Basic statistics:</a:t>
            </a:r>
            <a:r>
              <a:rPr lang="en-US" sz="1600" dirty="0"/>
              <a:t xml:space="preserve"> [mean, median, min, max, sd]</a:t>
            </a:r>
          </a:p>
          <a:p>
            <a:pPr marL="342900" indent="-342900">
              <a:spcBef>
                <a:spcPts val="300"/>
              </a:spcBef>
              <a:buFont typeface="Arial"/>
              <a:buChar char="•"/>
            </a:pPr>
            <a:r>
              <a:rPr lang="en-US" sz="1600" dirty="0" b="1"/>
              <a:t>Distribution:</a:t>
            </a:r>
            <a:r>
              <a:rPr lang="en-US" sz="1600" dirty="0"/>
              <a:t xml:space="preserve"> [positive? skewed? zeros? range]</a:t>
            </a:r>
          </a:p>
          <a:p>
            <a:pPr marL="342900" indent="-342900">
              <a:spcBef>
                <a:spcPts val="300"/>
              </a:spcBef>
              <a:buFont typeface="Arial"/>
              <a:buChar char="•"/>
            </a:pPr>
            <a:r>
              <a:rPr lang="en-US" sz="1600" dirty="0" b="1"/>
              <a:t>Over time:</a:t>
            </a:r>
            <a:r>
              <a:rPr lang="en-US" sz="1600" dirty="0"/>
              <a:t xml:space="preserve"> [trend / seasonality / jumps]</a:t>
            </a:r>
          </a:p>
          <a:p>
            <a:pPr marL="342900" indent="-342900">
              <a:spcBef>
                <a:spcPts val="300"/>
              </a:spcBef>
              <a:buFont typeface="Arial"/>
              <a:buChar char="•"/>
            </a:pPr>
            <a:r>
              <a:rPr lang="en-US" sz="1600" dirty="0" b="1"/>
              <a:t>So what:</a:t>
            </a:r>
            <a:r>
              <a:rPr lang="en-US" sz="1600" dirty="0"/>
              <a:t xml:space="preserve"> [e.g. a log transform may help]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548640" y="1234440"/>
            <a:ext cx="5394960" cy="3017520"/>
          </a:xfrm>
          <a:prstGeom prst="rect">
            <a:avLst/>
          </a:prstGeom>
          <a:noFill/>
          <a:ln w="15875">
            <a:solidFill>
              <a:srgbClr val="7F7F7F"/>
            </a:solidFill>
            <a:prstDash val="dash"/>
          </a:ln>
        </p:spPr>
        <p:txBody>
          <a:bodyPr wrap="square" anchor="ctr">
            <a:noAutofit/>
          </a:bodyPr>
          <a:lstStyle/>
          <a:p>
            <a:pPr marL="0" indent="0" algn="ctr">
              <a:spcBef>
                <a:spcPts val="600"/>
              </a:spcBef>
              <a:buNone/>
            </a:pPr>
            <a:r>
              <a:rPr lang="en-US" sz="1400" dirty="0" b="1">
                <a:solidFill>
                  <a:srgbClr val="7F7F7F"/>
                </a:solidFill>
              </a:rPr>
              <a:t>Insert plot here</a:t>
            </a:r>
          </a:p>
          <a:p>
            <a:pPr marL="0" indent="0" algn="ctr">
              <a:spcBef>
                <a:spcPts val="600"/>
              </a:spcBef>
              <a:buNone/>
            </a:pPr>
            <a:r>
              <a:rPr lang="en-US" sz="1200" dirty="0">
                <a:solidFill>
                  <a:srgbClr val="7F7F7F"/>
                </a:solidFill>
              </a:rPr>
              <a:t>(histogram of the target)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45352" y="1234440"/>
            <a:ext cx="5394960" cy="3017520"/>
          </a:xfrm>
          <a:prstGeom prst="rect">
            <a:avLst/>
          </a:prstGeom>
          <a:noFill/>
          <a:ln w="15875">
            <a:solidFill>
              <a:srgbClr val="7F7F7F"/>
            </a:solidFill>
            <a:prstDash val="dash"/>
          </a:ln>
        </p:spPr>
        <p:txBody>
          <a:bodyPr wrap="square" anchor="ctr">
            <a:noAutofit/>
          </a:bodyPr>
          <a:lstStyle/>
          <a:p>
            <a:pPr marL="0" indent="0" algn="ctr">
              <a:spcBef>
                <a:spcPts val="600"/>
              </a:spcBef>
              <a:buNone/>
            </a:pPr>
            <a:r>
              <a:rPr lang="en-US" sz="1400" dirty="0" b="1">
                <a:solidFill>
                  <a:srgbClr val="7F7F7F"/>
                </a:solidFill>
              </a:rPr>
              <a:t>Insert plot here</a:t>
            </a:r>
          </a:p>
          <a:p>
            <a:pPr marL="0" indent="0" algn="ctr">
              <a:spcBef>
                <a:spcPts val="600"/>
              </a:spcBef>
              <a:buNone/>
            </a:pPr>
            <a:r>
              <a:rPr lang="en-US" sz="1200" dirty="0">
                <a:solidFill>
                  <a:srgbClr val="7F7F7F"/>
                </a:solidFill>
              </a:rPr>
              <a:t>(target over time)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EDA: predictors vs target</a:t>
            </a:r>
            <a:endParaRPr lang="en-US" sz="3400" dirty="0"/>
          </a:p>
        </p:txBody>
      </p:sp>
      <p:sp>
        <p:nvSpPr>
          <p:cNvPr id="4" name="Text"/>
          <p:cNvSpPr txBox="1"/>
          <p:nvPr/>
        </p:nvSpPr>
        <p:spPr>
          <a:xfrm>
            <a:off x="7406640" y="1371600"/>
            <a:ext cx="423367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342900" indent="-342900">
              <a:spcBef>
                <a:spcPts val="600"/>
              </a:spcBef>
              <a:buFont typeface="Arial"/>
              <a:buChar char="•"/>
            </a:pPr>
            <a:r>
              <a:rPr lang="en-US" sz="1800" dirty="0" b="1"/>
              <a:t>Left:</a:t>
            </a:r>
            <a:r>
              <a:rPr lang="en-US" sz="1800" dirty="0"/>
              <a:t xml:space="preserve"> [plot of the target vs a predictor (boxplot by category, scatter plot for numeric)]</a:t>
            </a:r>
          </a:p>
          <a:p>
            <a:pPr marL="342900" indent="-342900">
              <a:spcBef>
                <a:spcPts val="600"/>
              </a:spcBef>
              <a:buFont typeface="Arial"/>
              <a:buChar char="•"/>
            </a:pPr>
            <a:r>
              <a:rPr lang="en-US" sz="1800" dirty="0" b="1"/>
              <a:t>Numeric:</a:t>
            </a:r>
            <a:r>
              <a:rPr lang="en-US" sz="1800" dirty="0"/>
              <a:t xml:space="preserve"> [which move with the target, and in which direction]</a:t>
            </a:r>
          </a:p>
          <a:p>
            <a:pPr marL="342900" indent="-342900">
              <a:spcBef>
                <a:spcPts val="600"/>
              </a:spcBef>
              <a:buFont typeface="Arial"/>
              <a:buChar char="•"/>
            </a:pPr>
            <a:r>
              <a:rPr lang="en-US" sz="1800" dirty="0" b="1"/>
              <a:t>Categorical:</a:t>
            </a:r>
            <a:r>
              <a:rPr lang="en-US" sz="1800" dirty="0"/>
              <a:t xml:space="preserve"> [which groups differ]</a:t>
            </a:r>
          </a:p>
          <a:p>
            <a:pPr marL="342900" indent="-342900">
              <a:spcBef>
                <a:spcPts val="600"/>
              </a:spcBef>
              <a:buFont typeface="Arial"/>
              <a:buChar char="•"/>
            </a:pPr>
            <a:r>
              <a:rPr lang="en-US" sz="1800" dirty="0" b="1"/>
              <a:t>Time:</a:t>
            </a:r>
            <a:r>
              <a:rPr lang="en-US" sz="1800" dirty="0"/>
              <a:t xml:space="preserve"> [month / weekday effects]</a:t>
            </a:r>
          </a:p>
          <a:p>
            <a:pPr marL="342900" indent="-342900">
              <a:spcBef>
                <a:spcPts val="600"/>
              </a:spcBef>
              <a:buFont typeface="Arial"/>
              <a:buChar char="•"/>
            </a:pPr>
            <a:r>
              <a:rPr lang="en-US" sz="1800" dirty="0" b="1"/>
              <a:t>So what:</a:t>
            </a:r>
            <a:r>
              <a:rPr lang="en-US" sz="1800" dirty="0"/>
              <a:t xml:space="preserve"> [candidate predictors]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457200" y="1371600"/>
            <a:ext cx="6766560" cy="4754880"/>
          </a:xfrm>
          <a:prstGeom prst="rect">
            <a:avLst/>
          </a:prstGeom>
          <a:noFill/>
          <a:ln w="15875">
            <a:solidFill>
              <a:srgbClr val="7F7F7F"/>
            </a:solidFill>
            <a:prstDash val="dash"/>
          </a:ln>
        </p:spPr>
        <p:txBody>
          <a:bodyPr wrap="square" anchor="ctr">
            <a:noAutofit/>
          </a:bodyPr>
          <a:lstStyle/>
          <a:p>
            <a:pPr marL="0" indent="0" algn="ctr">
              <a:spcBef>
                <a:spcPts val="600"/>
              </a:spcBef>
              <a:buNone/>
            </a:pPr>
            <a:r>
              <a:rPr lang="en-US" sz="1400" dirty="0" b="1">
                <a:solidFill>
                  <a:srgbClr val="7F7F7F"/>
                </a:solidFill>
              </a:rPr>
              <a:t>Insert plot here</a:t>
            </a:r>
          </a:p>
          <a:p>
            <a:pPr marL="0" indent="0" algn="ctr">
              <a:spcBef>
                <a:spcPts val="600"/>
              </a:spcBef>
              <a:buNone/>
            </a:pPr>
            <a:r>
              <a:rPr lang="en-US" sz="1200" dirty="0">
                <a:solidFill>
                  <a:srgbClr val="7F7F7F"/>
                </a:solidFill>
              </a:rPr>
              <a:t>(boxplots by category / scatter plots of the target vs predictors)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EDA: relationships between predictors</a:t>
            </a:r>
            <a:endParaRPr lang="en-US" sz="3400" dirty="0"/>
          </a:p>
        </p:txBody>
      </p:sp>
      <p:sp>
        <p:nvSpPr>
          <p:cNvPr id="4" name="Text"/>
          <p:cNvSpPr txBox="1"/>
          <p:nvPr/>
        </p:nvSpPr>
        <p:spPr>
          <a:xfrm>
            <a:off x="7406640" y="1371600"/>
            <a:ext cx="423367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342900" indent="-342900">
              <a:spcBef>
                <a:spcPts val="600"/>
              </a:spcBef>
              <a:buFont typeface="Arial"/>
              <a:buChar char="•"/>
            </a:pPr>
            <a:r>
              <a:rPr lang="en-US" sz="1800" dirty="0" b="1"/>
              <a:t>Left:</a:t>
            </a:r>
            <a:r>
              <a:rPr lang="en-US" sz="1800" dirty="0"/>
              <a:t xml:space="preserve"> [correlation matrix of the numeric variables (red = positive, blue = negative, white = about 0)]</a:t>
            </a:r>
          </a:p>
          <a:p>
            <a:pPr marL="342900" indent="-342900">
              <a:spcBef>
                <a:spcPts val="600"/>
              </a:spcBef>
              <a:buFont typeface="Arial"/>
              <a:buChar char="•"/>
            </a:pPr>
            <a:r>
              <a:rPr lang="en-US" sz="1800" dirty="0" b="1"/>
              <a:t>Strongly correlated:</a:t>
            </a:r>
            <a:r>
              <a:rPr lang="en-US" sz="1800" dirty="0"/>
              <a:t xml:space="preserve"> [x and y] ([value])</a:t>
            </a:r>
          </a:p>
          <a:p>
            <a:pPr marL="342900" indent="-342900">
              <a:spcBef>
                <a:spcPts val="600"/>
              </a:spcBef>
              <a:buFont typeface="Arial"/>
              <a:buChar char="•"/>
            </a:pPr>
            <a:r>
              <a:rPr lang="en-US" sz="1800" dirty="0" b="1"/>
              <a:t>So what:</a:t>
            </a:r>
            <a:r>
              <a:rPr lang="en-US" sz="1800" dirty="0"/>
              <a:t xml:space="preserve"> [keep one / combine / keep both]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457200" y="1280160"/>
            <a:ext cx="6675120" cy="4937760"/>
          </a:xfrm>
          <a:prstGeom prst="rect">
            <a:avLst/>
          </a:prstGeom>
          <a:noFill/>
          <a:ln w="15875">
            <a:solidFill>
              <a:srgbClr val="7F7F7F"/>
            </a:solidFill>
            <a:prstDash val="dash"/>
          </a:ln>
        </p:spPr>
        <p:txBody>
          <a:bodyPr wrap="square" anchor="ctr">
            <a:noAutofit/>
          </a:bodyPr>
          <a:lstStyle/>
          <a:p>
            <a:pPr marL="0" indent="0" algn="ctr">
              <a:spcBef>
                <a:spcPts val="600"/>
              </a:spcBef>
              <a:buNone/>
            </a:pPr>
            <a:r>
              <a:rPr lang="en-US" sz="1400" dirty="0" b="1">
                <a:solidFill>
                  <a:srgbClr val="7F7F7F"/>
                </a:solidFill>
              </a:rPr>
              <a:t>Insert plot here</a:t>
            </a:r>
          </a:p>
          <a:p>
            <a:pPr marL="0" indent="0" algn="ctr">
              <a:spcBef>
                <a:spcPts val="600"/>
              </a:spcBef>
              <a:buNone/>
            </a:pPr>
            <a:r>
              <a:rPr lang="en-US" sz="1200" dirty="0">
                <a:solidFill>
                  <a:srgbClr val="7F7F7F"/>
                </a:solidFill>
              </a:rPr>
              <a:t>(correlation heatmap)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6E11E5-1092-DEE6-D1BA-C4FE0CF3C6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58BA53D-9DA7-3AE7-B9F0-8A62B4165E07}"/>
              </a:ext>
            </a:extLst>
          </p:cNvPr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EDA: variables with the same information</a:t>
            </a:r>
            <a:endParaRPr lang="en-US" sz="3400" dirty="0"/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0ADBC77B-B35A-0815-753B-1997DD0475F9}"/>
              </a:ext>
            </a:extLst>
          </p:cNvPr>
          <p:cNvSpPr txBox="1"/>
          <p:nvPr/>
        </p:nvSpPr>
        <p:spPr>
          <a:xfrm>
            <a:off x="548640" y="1371600"/>
            <a:ext cx="11091672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342900" indent="-342900">
              <a:spcBef>
                <a:spcPts val="1200"/>
              </a:spcBef>
              <a:buFont typeface="Arial"/>
              <a:buChar char="•"/>
            </a:pPr>
            <a:r>
              <a:rPr lang="en-US" sz="2000" dirty="0" b="1"/>
              <a:t>Compared:</a:t>
            </a:r>
            <a:r>
              <a:rPr lang="en-US" sz="2000" dirty="0"/>
              <a:t xml:space="preserve"> [x] and [x_code]: [do they carry the same information?]</a:t>
            </a:r>
          </a:p>
          <a:p>
            <a:pPr marL="342900" indent="-342900">
              <a:spcBef>
                <a:spcPts val="1200"/>
              </a:spcBef>
              <a:buFont typeface="Arial"/>
              <a:buChar char="•"/>
            </a:pPr>
            <a:r>
              <a:rPr lang="en-US" sz="2000" dirty="0" b="1"/>
              <a:t>But:</a:t>
            </a:r>
            <a:r>
              <a:rPr lang="en-US" sz="2000" dirty="0"/>
              <a:t xml:space="preserve"> [one of them has missing values / more levels]</a:t>
            </a:r>
          </a:p>
          <a:p>
            <a:pPr marL="342900" indent="-342900">
              <a:spcBef>
                <a:spcPts val="1200"/>
              </a:spcBef>
              <a:buFont typeface="Arial"/>
              <a:buChar char="•"/>
            </a:pPr>
            <a:r>
              <a:rPr lang="en-US" sz="2000" dirty="0" b="1"/>
              <a:t>Decision:</a:t>
            </a:r>
            <a:r>
              <a:rPr lang="en-US" sz="2000" dirty="0"/>
              <a:t xml:space="preserve"> [keep one / combine / keep both]</a:t>
            </a:r>
          </a:p>
          <a:p>
            <a:pPr marL="685800" indent="-285750">
              <a:spcBef>
                <a:spcPts val="300"/>
              </a:spcBef>
              <a:buFont typeface="Arial"/>
              <a:buChar char="–"/>
            </a:pPr>
            <a:r>
              <a:rPr lang="en-US" sz="2000" dirty="0"/>
              <a:t>[numbers that are only labels are treated as categorical variables]</a:t>
            </a:r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EE8F40BE-465D-0097-3CE0-B3B58F5F37C6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9951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EDA: missing values</a:t>
            </a:r>
            <a:endParaRPr lang="en-US" sz="3400" dirty="0"/>
          </a:p>
        </p:txBody>
      </p:sp>
      <p:sp>
        <p:nvSpPr>
          <p:cNvPr id="5" name="Text"/>
          <p:cNvSpPr txBox="1"/>
          <p:nvPr/>
        </p:nvSpPr>
        <p:spPr>
          <a:xfrm>
            <a:off x="548640" y="4434840"/>
            <a:ext cx="1109167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342900" indent="-342900">
              <a:spcBef>
                <a:spcPts val="400"/>
              </a:spcBef>
              <a:buFont typeface="Arial"/>
              <a:buChar char="•"/>
            </a:pPr>
            <a:r>
              <a:rPr lang="en-US" sz="1600" dirty="0" b="1"/>
              <a:t>Left:</a:t>
            </a:r>
            <a:r>
              <a:rPr lang="en-US" sz="1600" dirty="0"/>
              <a:t xml:space="preserve"> [missing cells (red) of each column / missing count per column]</a:t>
            </a:r>
          </a:p>
          <a:p>
            <a:pPr marL="342900" indent="-342900">
              <a:spcBef>
                <a:spcPts val="400"/>
              </a:spcBef>
              <a:buFont typeface="Arial"/>
              <a:buChar char="•"/>
            </a:pPr>
            <a:r>
              <a:rPr lang="en-US" sz="1600" dirty="0" b="1"/>
              <a:t>Right:</a:t>
            </a:r>
            <a:r>
              <a:rPr lang="en-US" sz="1600" dirty="0"/>
              <a:t xml:space="preserve"> [missing rate by month, or the missing pattern]</a:t>
            </a:r>
          </a:p>
          <a:p>
            <a:pPr marL="342900" indent="-342900">
              <a:spcBef>
                <a:spcPts val="400"/>
              </a:spcBef>
              <a:buFont typeface="Arial"/>
              <a:buChar char="•"/>
            </a:pPr>
            <a:r>
              <a:rPr lang="en-US" sz="1600" dirty="0" b="1"/>
              <a:t>Missing by column:</a:t>
            </a:r>
            <a:r>
              <a:rPr lang="en-US" sz="1600" dirty="0"/>
              <a:t xml:space="preserve"> [names (% missing)]</a:t>
            </a:r>
          </a:p>
          <a:p>
            <a:pPr marL="342900" indent="-342900">
              <a:spcBef>
                <a:spcPts val="400"/>
              </a:spcBef>
              <a:buFont typeface="Arial"/>
              <a:buChar char="•"/>
            </a:pPr>
            <a:r>
              <a:rPr lang="en-US" sz="1600" dirty="0" b="1"/>
              <a:t>Pattern:</a:t>
            </a:r>
            <a:r>
              <a:rPr lang="en-US" sz="1600" dirty="0"/>
              <a:t xml:space="preserve"> [missing together? only in some periods?]</a:t>
            </a:r>
          </a:p>
          <a:p>
            <a:pPr marL="342900" indent="-342900">
              <a:spcBef>
                <a:spcPts val="400"/>
              </a:spcBef>
              <a:buFont typeface="Arial"/>
              <a:buChar char="•"/>
            </a:pPr>
            <a:r>
              <a:rPr lang="en-US" sz="1600" dirty="0" b="1"/>
              <a:t>Rows:</a:t>
            </a:r>
            <a:r>
              <a:rPr lang="en-US" sz="1600" dirty="0"/>
              <a:t xml:space="preserve"> [n] rows with missing values, [n] rows without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548640" y="1234440"/>
            <a:ext cx="5394960" cy="3108960"/>
          </a:xfrm>
          <a:prstGeom prst="rect">
            <a:avLst/>
          </a:prstGeom>
          <a:noFill/>
          <a:ln w="15875">
            <a:solidFill>
              <a:srgbClr val="7F7F7F"/>
            </a:solidFill>
            <a:prstDash val="dash"/>
          </a:ln>
        </p:spPr>
        <p:txBody>
          <a:bodyPr wrap="square" anchor="ctr">
            <a:noAutofit/>
          </a:bodyPr>
          <a:lstStyle/>
          <a:p>
            <a:pPr marL="0" indent="0" algn="ctr">
              <a:spcBef>
                <a:spcPts val="600"/>
              </a:spcBef>
              <a:buNone/>
            </a:pPr>
            <a:r>
              <a:rPr lang="en-US" sz="1400" dirty="0" b="1">
                <a:solidFill>
                  <a:srgbClr val="7F7F7F"/>
                </a:solidFill>
              </a:rPr>
              <a:t>Insert plot here</a:t>
            </a:r>
          </a:p>
          <a:p>
            <a:pPr marL="0" indent="0" algn="ctr">
              <a:spcBef>
                <a:spcPts val="600"/>
              </a:spcBef>
              <a:buNone/>
            </a:pPr>
            <a:r>
              <a:rPr lang="en-US" sz="1200" dirty="0">
                <a:solidFill>
                  <a:srgbClr val="7F7F7F"/>
                </a:solidFill>
              </a:rPr>
              <a:t>(missing cells / missing count per column)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63640" y="1234440"/>
            <a:ext cx="5394960" cy="3108960"/>
          </a:xfrm>
          <a:prstGeom prst="rect">
            <a:avLst/>
          </a:prstGeom>
          <a:noFill/>
          <a:ln w="15875">
            <a:solidFill>
              <a:srgbClr val="7F7F7F"/>
            </a:solidFill>
            <a:prstDash val="dash"/>
          </a:ln>
        </p:spPr>
        <p:txBody>
          <a:bodyPr wrap="square" anchor="ctr">
            <a:noAutofit/>
          </a:bodyPr>
          <a:lstStyle/>
          <a:p>
            <a:pPr marL="0" indent="0" algn="ctr">
              <a:spcBef>
                <a:spcPts val="600"/>
              </a:spcBef>
              <a:buNone/>
            </a:pPr>
            <a:r>
              <a:rPr lang="en-US" sz="1400" dirty="0" b="1">
                <a:solidFill>
                  <a:srgbClr val="7F7F7F"/>
                </a:solidFill>
              </a:rPr>
              <a:t>Insert plot here</a:t>
            </a:r>
          </a:p>
          <a:p>
            <a:pPr marL="0" indent="0" algn="ctr">
              <a:spcBef>
                <a:spcPts val="600"/>
              </a:spcBef>
              <a:buNone/>
            </a:pPr>
            <a:r>
              <a:rPr lang="en-US" sz="1200" dirty="0">
                <a:solidFill>
                  <a:srgbClr val="7F7F7F"/>
                </a:solidFill>
              </a:rPr>
              <a:t>(missing pattern / missing rate by group)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EDA: what does the missingness mean?</a:t>
            </a:r>
            <a:endParaRPr lang="en-US" sz="3400" dirty="0"/>
          </a:p>
        </p:txBody>
      </p:sp>
      <p:sp>
        <p:nvSpPr>
          <p:cNvPr id="4" name="Text"/>
          <p:cNvSpPr txBox="1"/>
          <p:nvPr/>
        </p:nvSpPr>
        <p:spPr>
          <a:xfrm>
            <a:off x="6766560" y="1371600"/>
            <a:ext cx="487375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342900" indent="-342900">
              <a:spcBef>
                <a:spcPts val="600"/>
              </a:spcBef>
              <a:buFont typeface="Arial"/>
              <a:buChar char="•"/>
            </a:pPr>
            <a:r>
              <a:rPr lang="en-US" sz="1800" dirty="0" b="1"/>
              <a:t>Left:</a:t>
            </a:r>
            <a:r>
              <a:rPr lang="en-US" sz="1800" dirty="0"/>
              <a:t xml:space="preserve"> [mean of the numeric variables when [x] is missing vs present]</a:t>
            </a:r>
          </a:p>
          <a:p>
            <a:pPr marL="342900" indent="-342900">
              <a:spcBef>
                <a:spcPts val="600"/>
              </a:spcBef>
              <a:buFont typeface="Arial"/>
              <a:buChar char="•"/>
            </a:pPr>
            <a:r>
              <a:rPr lang="en-US" sz="1800" dirty="0" b="1"/>
              <a:t>Difference:</a:t>
            </a:r>
            <a:r>
              <a:rPr lang="en-US" sz="1800" dirty="0"/>
              <a:t xml:space="preserve"> [big / small], so the missing values [may / may not] have a special meaning</a:t>
            </a:r>
          </a:p>
          <a:p>
            <a:pPr marL="342900" indent="-342900">
              <a:spcBef>
                <a:spcPts val="600"/>
              </a:spcBef>
              <a:buFont typeface="Arial"/>
              <a:buChar char="•"/>
            </a:pPr>
            <a:r>
              <a:rPr lang="en-US" sz="1800" dirty="0" b="1"/>
              <a:t>How to fill the missing values:</a:t>
            </a:r>
            <a:r>
              <a:rPr lang="en-US" sz="1800" dirty="0"/>
              <a:t xml:space="preserve"> [method, e.g. look back [W] days]</a:t>
            </a:r>
          </a:p>
          <a:p>
            <a:pPr marL="685800" indent="-285750">
              <a:spcBef>
                <a:spcPts val="300"/>
              </a:spcBef>
              <a:buFont typeface="Arial"/>
              <a:buChar char="–"/>
            </a:pPr>
            <a:r>
              <a:rPr lang="en-US" sz="1800" dirty="0"/>
              <a:t>numeric: [mean / median of ...]</a:t>
            </a:r>
          </a:p>
          <a:p>
            <a:pPr marL="685800" indent="-285750">
              <a:spcBef>
                <a:spcPts val="300"/>
              </a:spcBef>
              <a:buFont typeface="Arial"/>
              <a:buChar char="–"/>
            </a:pPr>
            <a:r>
              <a:rPr lang="en-US" sz="1800" dirty="0"/>
              <a:t>categorical: [most frequent value]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457200" y="1463040"/>
            <a:ext cx="6035040" cy="4480560"/>
          </a:xfrm>
          <a:prstGeom prst="rect">
            <a:avLst/>
          </a:prstGeom>
          <a:noFill/>
          <a:ln w="15875">
            <a:solidFill>
              <a:srgbClr val="7F7F7F"/>
            </a:solidFill>
            <a:prstDash val="dash"/>
          </a:ln>
        </p:spPr>
        <p:txBody>
          <a:bodyPr wrap="square" anchor="ctr">
            <a:noAutofit/>
          </a:bodyPr>
          <a:lstStyle/>
          <a:p>
            <a:pPr marL="0" indent="0" algn="ctr">
              <a:spcBef>
                <a:spcPts val="600"/>
              </a:spcBef>
              <a:buNone/>
            </a:pPr>
            <a:r>
              <a:rPr lang="en-US" sz="1400" dirty="0" b="1">
                <a:solidFill>
                  <a:srgbClr val="7F7F7F"/>
                </a:solidFill>
              </a:rPr>
              <a:t>Insert plot here</a:t>
            </a:r>
          </a:p>
          <a:p>
            <a:pPr marL="0" indent="0" algn="ctr">
              <a:spcBef>
                <a:spcPts val="600"/>
              </a:spcBef>
              <a:buNone/>
            </a:pPr>
            <a:r>
              <a:rPr lang="en-US" sz="1200" dirty="0">
                <a:solidFill>
                  <a:srgbClr val="7F7F7F"/>
                </a:solidFill>
              </a:rPr>
              <a:t>(table or plot: mean when missing / present)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Variable selection: AIC and BIC</a:t>
            </a:r>
            <a:endParaRPr lang="en-US" sz="3400" dirty="0"/>
          </a:p>
        </p:txBody>
      </p:sp>
      <p:sp>
        <p:nvSpPr>
          <p:cNvPr id="3" name="AIC"/>
          <p:cNvSpPr txBox="1"/>
          <p:nvPr/>
        </p:nvSpPr>
        <p:spPr>
          <a:xfrm>
            <a:off x="548640" y="3291840"/>
            <a:ext cx="541324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en-US" sz="2400" dirty="0" b="1"/>
              <a:t>AIC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000" dirty="0" b="1"/>
              <a:t>AIC = 2k − 2 ln(L)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600" dirty="0" b="1"/>
              <a:t>Pros:</a:t>
            </a:r>
            <a:r>
              <a:rPr lang="en-US" sz="1600" dirty="0"/>
              <a:t xml:space="preserve"> Light penalty: keeps more variables, good for prediction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600" dirty="0" b="1"/>
              <a:t>Cons:</a:t>
            </a:r>
            <a:r>
              <a:rPr lang="en-US" sz="1600" dirty="0"/>
              <a:t xml:space="preserve"> Can keep noise variables (overfit)</a:t>
            </a:r>
          </a:p>
        </p:txBody>
      </p:sp>
      <p:sp>
        <p:nvSpPr>
          <p:cNvPr id="4" name="BIC"/>
          <p:cNvSpPr txBox="1"/>
          <p:nvPr/>
        </p:nvSpPr>
        <p:spPr>
          <a:xfrm>
            <a:off x="6236208" y="3291840"/>
            <a:ext cx="541324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en-US" sz="2400" dirty="0" b="1"/>
              <a:t>BIC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000" dirty="0" b="1"/>
              <a:t>BIC = k ln(n) − 2 ln(L)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600" dirty="0" b="1"/>
              <a:t>Pros:</a:t>
            </a:r>
            <a:r>
              <a:rPr lang="en-US" sz="1600" dirty="0"/>
              <a:t xml:space="preserve"> Heavier penalty (grows with n): a simpler model that is easy to explain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600" dirty="0" b="1"/>
              <a:t>Cons:</a:t>
            </a:r>
            <a:r>
              <a:rPr lang="en-US" sz="1600" dirty="0"/>
              <a:t xml:space="preserve"> May drop weak but useful variables (underfit)</a:t>
            </a:r>
          </a:p>
        </p:txBody>
      </p:sp>
      <p:sp>
        <p:nvSpPr>
          <p:cNvPr id="5" name="Note"/>
          <p:cNvSpPr txBox="1"/>
          <p:nvPr/>
        </p:nvSpPr>
        <p:spPr>
          <a:xfrm>
            <a:off x="548640" y="57150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en-US" sz="1400" dirty="0">
                <a:solidFill>
                  <a:srgbClr val="7F7F7F"/>
                </a:solidFill>
              </a:rPr>
              <a:t>k = number of parameters, n = number of rows, L = the maximized likelihood. Smaller is better. When n ≥ 8, BIC charges more for every variable than AIC.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548640" y="1280160"/>
            <a:ext cx="11091672" cy="18288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42900" indent="-342900">
              <a:spcBef>
                <a:spcPts val="800"/>
              </a:spcBef>
              <a:buFont typeface="Arial"/>
              <a:buChar char="•"/>
            </a:pPr>
            <a:r>
              <a:rPr lang="en-US" sz="2000" dirty="0" b="1"/>
              <a:t>Used linear regression</a:t>
            </a:r>
            <a:r>
              <a:rPr lang="en-US" sz="2000" dirty="0"/>
              <a:t xml:space="preserve"> (lm of the target)</a:t>
            </a:r>
          </a:p>
          <a:p>
            <a:pPr marL="342900" indent="-342900">
              <a:spcBef>
                <a:spcPts val="800"/>
              </a:spcBef>
              <a:buFont typeface="Arial"/>
              <a:buChar char="•"/>
            </a:pPr>
            <a:r>
              <a:rPr lang="en-US" sz="2000" dirty="0" b="1"/>
              <a:t>Forward selection:</a:t>
            </a:r>
            <a:r>
              <a:rPr lang="en-US" sz="2000" dirty="0"/>
              <a:t xml:space="preserve"> start with no variable and add the one that helps most.  </a:t>
            </a:r>
            <a:r>
              <a:rPr lang="en-US" sz="2000" dirty="0" b="1"/>
              <a:t>Backward selection:</a:t>
            </a:r>
            <a:r>
              <a:rPr lang="en-US" sz="2000" dirty="0"/>
              <a:t xml:space="preserve"> start with all variables and drop the one that hurts least</a:t>
            </a:r>
          </a:p>
          <a:p>
            <a:pPr marL="342900" indent="-342900">
              <a:spcBef>
                <a:spcPts val="800"/>
              </a:spcBef>
              <a:buFont typeface="Arial"/>
              <a:buChar char="•"/>
            </a:pPr>
            <a:r>
              <a:rPr lang="en-US" sz="2000" dirty="0" b="1"/>
              <a:t>What is “help”?</a:t>
            </a:r>
            <a:r>
              <a:rPr lang="en-US" sz="2000" dirty="0"/>
              <a:t xml:space="preserve"> Two criteria: AIC and BIC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Variable selection: result</a:t>
            </a:r>
            <a:endParaRPr lang="en-US" sz="3400" dirty="0"/>
          </a:p>
        </p:txBody>
      </p:sp>
      <p:sp>
        <p:nvSpPr>
          <p:cNvPr id="4" name="Text"/>
          <p:cNvSpPr txBox="1"/>
          <p:nvPr/>
        </p:nvSpPr>
        <p:spPr>
          <a:xfrm>
            <a:off x="487680" y="5518726"/>
            <a:ext cx="10861040" cy="49714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en-US" sz="2000" dirty="0" b="1"/>
              <a:t>Used [method]</a:t>
            </a:r>
            <a:r>
              <a:rPr lang="en-US" sz="2000" dirty="0"/>
              <a:t xml:space="preserve"> since [reason, e.g. AIC is better than BIC when our goal is prediction].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800" dirty="0" b="1"/>
              <a:t>Selected:</a:t>
            </a:r>
            <a:r>
              <a:rPr lang="en-US" sz="1800" dirty="0"/>
              <a:t xml:space="preserve"> [target] ~ [x1 + x2 + ...]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8E953EE-5636-DC45-D886-473EC3E89F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9754312"/>
              </p:ext>
            </p:extLst>
          </p:nvPr>
        </p:nvGraphicFramePr>
        <p:xfrm>
          <a:off x="487680" y="1470120"/>
          <a:ext cx="8719130" cy="38170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8619">
                  <a:extLst>
                    <a:ext uri="{9D8B030D-6E8A-4147-A177-3AD203B41FA5}">
                      <a16:colId xmlns:a16="http://schemas.microsoft.com/office/drawing/2014/main" val="2722001112"/>
                    </a:ext>
                  </a:extLst>
                </a:gridCol>
                <a:gridCol w="1801091">
                  <a:extLst>
                    <a:ext uri="{9D8B030D-6E8A-4147-A177-3AD203B41FA5}">
                      <a16:colId xmlns:a16="http://schemas.microsoft.com/office/drawing/2014/main" val="3964251077"/>
                    </a:ext>
                  </a:extLst>
                </a:gridCol>
                <a:gridCol w="1200727">
                  <a:extLst>
                    <a:ext uri="{9D8B030D-6E8A-4147-A177-3AD203B41FA5}">
                      <a16:colId xmlns:a16="http://schemas.microsoft.com/office/drawing/2014/main" val="2645514048"/>
                    </a:ext>
                  </a:extLst>
                </a:gridCol>
                <a:gridCol w="1174867">
                  <a:extLst>
                    <a:ext uri="{9D8B030D-6E8A-4147-A177-3AD203B41FA5}">
                      <a16:colId xmlns:a16="http://schemas.microsoft.com/office/drawing/2014/main" val="659144918"/>
                    </a:ext>
                  </a:extLst>
                </a:gridCol>
                <a:gridCol w="1743826">
                  <a:extLst>
                    <a:ext uri="{9D8B030D-6E8A-4147-A177-3AD203B41FA5}">
                      <a16:colId xmlns:a16="http://schemas.microsoft.com/office/drawing/2014/main" val="4082350222"/>
                    </a:ext>
                  </a:extLst>
                </a:gridCol>
              </a:tblGrid>
              <a:tr h="4250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b="1">
                          <a:solidFill>
                            <a:srgbClr val="FFFFFF"/>
                          </a:solidFill>
                        </a:rPr>
                        <a:t>Method / measure</a:t>
                      </a:r>
                      <a:endParaRPr lang="ko-KR" altLang="ko-KR" sz="2000" b="0" i="0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5720" marR="45720" marT="15240" marB="1524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sz="1600" dirty="0" b="1">
                          <a:solidFill>
                            <a:srgbClr val="FFFFFF"/>
                          </a:solidFill>
                        </a:rPr>
                        <a:t>Variables</a:t>
                      </a:r>
                      <a:endParaRPr lang="ko-KR" sz="2000" b="0" i="0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5720" marR="45720" marT="15240" marB="1524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sz="1600" dirty="0" b="1">
                          <a:solidFill>
                            <a:srgbClr val="FFFFFF"/>
                          </a:solidFill>
                        </a:rPr>
                        <a:t>AIC</a:t>
                      </a:r>
                      <a:endParaRPr lang="ko-KR" sz="2000" b="0" i="0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5720" marR="45720" marT="15240" marB="1524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sz="1600" dirty="0" b="1">
                          <a:solidFill>
                            <a:srgbClr val="FFFFFF"/>
                          </a:solidFill>
                        </a:rPr>
                        <a:t>BIC</a:t>
                      </a:r>
                      <a:endParaRPr lang="ko-KR" sz="2000" b="0" i="0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5720" marR="45720" marT="15240" marB="1524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sz="1600" dirty="0" b="1">
                          <a:solidFill>
                            <a:srgbClr val="FFFFFF"/>
                          </a:solidFill>
                        </a:rPr>
                        <a:t>Adj. R²</a:t>
                      </a:r>
                      <a:endParaRPr lang="ko-KR" sz="2000" b="0" i="0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5720" marR="45720" marT="15240" marB="15240" anchor="ctr"/>
                </a:tc>
                <a:extLst>
                  <a:ext uri="{0D108BD9-81ED-4DB2-BD59-A6C34878D82A}">
                    <a16:rowId xmlns:a16="http://schemas.microsoft.com/office/drawing/2014/main" val="3234001059"/>
                  </a:ext>
                </a:extLst>
              </a:tr>
              <a:tr h="55255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ko-KR" sz="2000" b="0" i="0" dirty="0" err="1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forward_AIC</a:t>
                      </a:r>
                      <a:endParaRPr lang="ko-KR" sz="2000" b="0" i="0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5720" marR="45720" marT="15240" marB="1524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sz="1600" dirty="0"/>
                        <a:t/>
                      </a:r>
                    </a:p>
                  </a:txBody>
                  <a:tcPr marL="45720" marR="45720" marT="15240" marB="1524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sz="1600" dirty="0"/>
                        <a:t/>
                      </a:r>
                    </a:p>
                  </a:txBody>
                  <a:tcPr marL="45720" marR="45720" marT="15240" marB="1524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sz="1600" dirty="0"/>
                        <a:t/>
                      </a:r>
                    </a:p>
                  </a:txBody>
                  <a:tcPr marL="45720" marR="45720" marT="15240" marB="1524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sz="1600" dirty="0"/>
                        <a:t/>
                      </a:r>
                    </a:p>
                  </a:txBody>
                  <a:tcPr marL="45720" marR="45720" marT="15240" marB="15240" anchor="ctr"/>
                </a:tc>
                <a:extLst>
                  <a:ext uri="{0D108BD9-81ED-4DB2-BD59-A6C34878D82A}">
                    <a16:rowId xmlns:a16="http://schemas.microsoft.com/office/drawing/2014/main" val="376836485"/>
                  </a:ext>
                </a:extLst>
              </a:tr>
              <a:tr h="65611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ko-KR" sz="2000" b="0" i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forward_BIC</a:t>
                      </a:r>
                    </a:p>
                  </a:txBody>
                  <a:tcPr marL="45720" marR="45720" marT="15240" marB="1524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sz="1600" dirty="0"/>
                        <a:t/>
                      </a:r>
                    </a:p>
                  </a:txBody>
                  <a:tcPr marL="45720" marR="45720" marT="15240" marB="1524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sz="1600" dirty="0"/>
                        <a:t/>
                      </a:r>
                    </a:p>
                  </a:txBody>
                  <a:tcPr marL="45720" marR="45720" marT="15240" marB="1524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sz="1600" dirty="0"/>
                        <a:t/>
                      </a:r>
                    </a:p>
                  </a:txBody>
                  <a:tcPr marL="45720" marR="45720" marT="15240" marB="1524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sz="1600" dirty="0"/>
                        <a:t/>
                      </a:r>
                    </a:p>
                  </a:txBody>
                  <a:tcPr marL="45720" marR="45720" marT="15240" marB="15240" anchor="ctr"/>
                </a:tc>
                <a:extLst>
                  <a:ext uri="{0D108BD9-81ED-4DB2-BD59-A6C34878D82A}">
                    <a16:rowId xmlns:a16="http://schemas.microsoft.com/office/drawing/2014/main" val="1275944354"/>
                  </a:ext>
                </a:extLst>
              </a:tr>
              <a:tr h="65611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ko-KR" sz="2000" b="0" i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backward_AIC</a:t>
                      </a:r>
                    </a:p>
                  </a:txBody>
                  <a:tcPr marL="45720" marR="45720" marT="15240" marB="1524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sz="1600" dirty="0"/>
                        <a:t/>
                      </a:r>
                    </a:p>
                  </a:txBody>
                  <a:tcPr marL="45720" marR="45720" marT="15240" marB="1524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sz="1600" dirty="0"/>
                        <a:t/>
                      </a:r>
                    </a:p>
                  </a:txBody>
                  <a:tcPr marL="45720" marR="45720" marT="15240" marB="1524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sz="1600" dirty="0"/>
                        <a:t/>
                      </a:r>
                    </a:p>
                  </a:txBody>
                  <a:tcPr marL="45720" marR="45720" marT="15240" marB="1524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sz="1600" dirty="0"/>
                        <a:t/>
                      </a:r>
                    </a:p>
                  </a:txBody>
                  <a:tcPr marL="45720" marR="45720" marT="15240" marB="15240" anchor="ctr"/>
                </a:tc>
                <a:extLst>
                  <a:ext uri="{0D108BD9-81ED-4DB2-BD59-A6C34878D82A}">
                    <a16:rowId xmlns:a16="http://schemas.microsoft.com/office/drawing/2014/main" val="4275581621"/>
                  </a:ext>
                </a:extLst>
              </a:tr>
              <a:tr h="65611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ko-KR" sz="2000" b="0" i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backward_BIC</a:t>
                      </a:r>
                    </a:p>
                  </a:txBody>
                  <a:tcPr marL="45720" marR="45720" marT="15240" marB="1524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sz="1600" dirty="0"/>
                        <a:t/>
                      </a:r>
                    </a:p>
                  </a:txBody>
                  <a:tcPr marL="45720" marR="45720" marT="15240" marB="1524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sz="1600" dirty="0"/>
                        <a:t/>
                      </a:r>
                    </a:p>
                  </a:txBody>
                  <a:tcPr marL="45720" marR="45720" marT="15240" marB="1524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sz="1600" dirty="0"/>
                        <a:t/>
                      </a:r>
                    </a:p>
                  </a:txBody>
                  <a:tcPr marL="45720" marR="45720" marT="15240" marB="1524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sz="1600" dirty="0"/>
                        <a:t/>
                      </a:r>
                    </a:p>
                  </a:txBody>
                  <a:tcPr marL="45720" marR="45720" marT="15240" marB="15240" anchor="ctr"/>
                </a:tc>
                <a:extLst>
                  <a:ext uri="{0D108BD9-81ED-4DB2-BD59-A6C34878D82A}">
                    <a16:rowId xmlns:a16="http://schemas.microsoft.com/office/drawing/2014/main" val="3110527934"/>
                  </a:ext>
                </a:extLst>
              </a:tr>
              <a:tr h="65611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ko-KR" sz="2000" b="0" i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full</a:t>
                      </a:r>
                    </a:p>
                  </a:txBody>
                  <a:tcPr marL="45720" marR="45720" marT="15240" marB="1524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sz="1600" dirty="0"/>
                        <a:t/>
                      </a:r>
                    </a:p>
                  </a:txBody>
                  <a:tcPr marL="45720" marR="45720" marT="15240" marB="1524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sz="1600" dirty="0"/>
                        <a:t/>
                      </a:r>
                    </a:p>
                  </a:txBody>
                  <a:tcPr marL="45720" marR="45720" marT="15240" marB="1524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sz="1600" dirty="0"/>
                        <a:t/>
                      </a:r>
                    </a:p>
                  </a:txBody>
                  <a:tcPr marL="45720" marR="45720" marT="15240" marB="1524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sz="1600" dirty="0"/>
                        <a:t/>
                      </a:r>
                    </a:p>
                  </a:txBody>
                  <a:tcPr marL="45720" marR="45720" marT="15240" marB="15240" anchor="ctr"/>
                </a:tc>
                <a:extLst>
                  <a:ext uri="{0D108BD9-81ED-4DB2-BD59-A6C34878D82A}">
                    <a16:rowId xmlns:a16="http://schemas.microsoft.com/office/drawing/2014/main" val="387300025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17E9CA-7B75-5319-67C0-AEC821E958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BE10B34-E6CC-F8B9-DADE-AE9E8FFC2595}"/>
              </a:ext>
            </a:extLst>
          </p:cNvPr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Assumptions check</a:t>
            </a:r>
            <a:endParaRPr lang="en-US" sz="3400" dirty="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93ACCF46-E596-A10A-2216-25862525D6D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  <p:sp>
        <p:nvSpPr>
          <p:cNvPr id="18" name="Text">
            <a:extLst>
              <a:ext uri="{FF2B5EF4-FFF2-40B4-BE49-F238E27FC236}">
                <a16:creationId xmlns:a16="http://schemas.microsoft.com/office/drawing/2014/main" id="{086D78D7-3FC5-7B4D-F5B5-5DCD4C8FD51B}"/>
              </a:ext>
            </a:extLst>
          </p:cNvPr>
          <p:cNvSpPr txBox="1"/>
          <p:nvPr/>
        </p:nvSpPr>
        <p:spPr>
          <a:xfrm>
            <a:off x="7589520" y="1188720"/>
            <a:ext cx="41148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342900" indent="-342900">
              <a:spcBef>
                <a:spcPts val="600"/>
              </a:spcBef>
              <a:buFont typeface="Arial"/>
              <a:buChar char="•"/>
            </a:pPr>
            <a:r>
              <a:rPr lang="en-US" sz="1600" dirty="0" b="1"/>
              <a:t>Top-left:</a:t>
            </a:r>
            <a:r>
              <a:rPr lang="en-US" sz="1600" dirty="0"/>
              <a:t xml:space="preserve"> residual vs fitted → [what you see]</a:t>
            </a:r>
          </a:p>
          <a:p>
            <a:pPr marL="342900" indent="-342900">
              <a:spcBef>
                <a:spcPts val="600"/>
              </a:spcBef>
              <a:buFont typeface="Arial"/>
              <a:buChar char="•"/>
            </a:pPr>
            <a:r>
              <a:rPr lang="en-US" sz="1600" dirty="0" b="1"/>
              <a:t>Top-right:</a:t>
            </a:r>
            <a:r>
              <a:rPr lang="en-US" sz="1600" dirty="0"/>
              <a:t xml:space="preserve"> root(standardized residual) vs fitted → [what you see]</a:t>
            </a:r>
          </a:p>
          <a:p>
            <a:pPr marL="342900" indent="-342900">
              <a:spcBef>
                <a:spcPts val="600"/>
              </a:spcBef>
              <a:buFont typeface="Arial"/>
              <a:buChar char="•"/>
            </a:pPr>
            <a:r>
              <a:rPr lang="en-US" sz="1600" dirty="0" b="1"/>
              <a:t>Bottom-left:</a:t>
            </a:r>
            <a:r>
              <a:rPr lang="en-US" sz="1600" dirty="0"/>
              <a:t xml:space="preserve"> Q-Q plot → [what you see]</a:t>
            </a:r>
          </a:p>
          <a:p>
            <a:pPr marL="342900" indent="-342900">
              <a:spcBef>
                <a:spcPts val="600"/>
              </a:spcBef>
              <a:buFont typeface="Arial"/>
              <a:buChar char="•"/>
            </a:pPr>
            <a:r>
              <a:rPr lang="en-US" sz="1600" dirty="0" b="1"/>
              <a:t>Bottom-right:</a:t>
            </a:r>
            <a:r>
              <a:rPr lang="en-US" sz="1600" dirty="0"/>
              <a:t xml:space="preserve"> residual vs time → [what you see]</a:t>
            </a:r>
          </a:p>
        </p:txBody>
      </p:sp>
      <p:sp>
        <p:nvSpPr>
          <p:cNvPr id="20" name="Text">
            <a:extLst>
              <a:ext uri="{FF2B5EF4-FFF2-40B4-BE49-F238E27FC236}">
                <a16:creationId xmlns:a16="http://schemas.microsoft.com/office/drawing/2014/main" id="{C0B48B10-217A-4504-7384-DCBCD050BAFD}"/>
              </a:ext>
            </a:extLst>
          </p:cNvPr>
          <p:cNvSpPr txBox="1"/>
          <p:nvPr/>
        </p:nvSpPr>
        <p:spPr>
          <a:xfrm>
            <a:off x="548640" y="5349240"/>
            <a:ext cx="110916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342900" indent="-342900">
              <a:spcBef>
                <a:spcPts val="400"/>
              </a:spcBef>
              <a:buFont typeface="Arial"/>
              <a:buChar char="•"/>
            </a:pPr>
            <a:r>
              <a:rPr lang="en-US" sz="1800" dirty="0" b="1"/>
              <a:t>[Target distribution]</a:t>
            </a:r>
            <a:r>
              <a:rPr lang="en-US" sz="1800" dirty="0"/>
              <a:t xml:space="preserve"> → [transformation?]</a:t>
            </a:r>
          </a:p>
          <a:p>
            <a:pPr marL="342900" indent="-342900">
              <a:spcBef>
                <a:spcPts val="400"/>
              </a:spcBef>
              <a:buFont typeface="Arial"/>
              <a:buChar char="•"/>
            </a:pPr>
            <a:r>
              <a:rPr lang="en-US" sz="1800" dirty="0" b="1"/>
              <a:t>[Variance of residuals vs fitted value]</a:t>
            </a:r>
            <a:r>
              <a:rPr lang="en-US" sz="1800" dirty="0"/>
              <a:t xml:space="preserve"> → [generalized linear model: Poisson (variance ∝ mean), Gamma (variance ∝ mean²)]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1188720"/>
            <a:ext cx="3383280" cy="1965960"/>
          </a:xfrm>
          <a:prstGeom prst="rect">
            <a:avLst/>
          </a:prstGeom>
          <a:noFill/>
          <a:ln w="15875">
            <a:solidFill>
              <a:srgbClr val="7F7F7F"/>
            </a:solidFill>
            <a:prstDash val="dash"/>
          </a:ln>
        </p:spPr>
        <p:txBody>
          <a:bodyPr wrap="square" anchor="ctr">
            <a:noAutofit/>
          </a:bodyPr>
          <a:lstStyle/>
          <a:p>
            <a:pPr marL="0" indent="0" algn="ctr">
              <a:spcBef>
                <a:spcPts val="600"/>
              </a:spcBef>
              <a:buNone/>
            </a:pPr>
            <a:r>
              <a:rPr lang="en-US" sz="1400" dirty="0" b="1">
                <a:solidFill>
                  <a:srgbClr val="7F7F7F"/>
                </a:solidFill>
              </a:rPr>
              <a:t>Insert plot here</a:t>
            </a:r>
          </a:p>
          <a:p>
            <a:pPr marL="0" indent="0" algn="ctr">
              <a:spcBef>
                <a:spcPts val="600"/>
              </a:spcBef>
              <a:buNone/>
            </a:pPr>
            <a:r>
              <a:rPr lang="en-US" sz="1200" dirty="0">
                <a:solidFill>
                  <a:srgbClr val="7F7F7F"/>
                </a:solidFill>
              </a:rPr>
              <a:t>(residuals vs fitted)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31920" y="1188720"/>
            <a:ext cx="3383280" cy="1965960"/>
          </a:xfrm>
          <a:prstGeom prst="rect">
            <a:avLst/>
          </a:prstGeom>
          <a:noFill/>
          <a:ln w="15875">
            <a:solidFill>
              <a:srgbClr val="7F7F7F"/>
            </a:solidFill>
            <a:prstDash val="dash"/>
          </a:ln>
        </p:spPr>
        <p:txBody>
          <a:bodyPr wrap="square" anchor="ctr">
            <a:noAutofit/>
          </a:bodyPr>
          <a:lstStyle/>
          <a:p>
            <a:pPr marL="0" indent="0" algn="ctr">
              <a:spcBef>
                <a:spcPts val="600"/>
              </a:spcBef>
              <a:buNone/>
            </a:pPr>
            <a:r>
              <a:rPr lang="en-US" sz="1400" dirty="0" b="1">
                <a:solidFill>
                  <a:srgbClr val="7F7F7F"/>
                </a:solidFill>
              </a:rPr>
              <a:t>Insert plot here</a:t>
            </a:r>
          </a:p>
          <a:p>
            <a:pPr marL="0" indent="0" algn="ctr">
              <a:spcBef>
                <a:spcPts val="600"/>
              </a:spcBef>
              <a:buNone/>
            </a:pPr>
            <a:r>
              <a:rPr lang="en-US" sz="1200" dirty="0">
                <a:solidFill>
                  <a:srgbClr val="7F7F7F"/>
                </a:solidFill>
              </a:rPr>
              <a:t>(root of standardized residuals vs fitted)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3246120"/>
            <a:ext cx="3383280" cy="1965960"/>
          </a:xfrm>
          <a:prstGeom prst="rect">
            <a:avLst/>
          </a:prstGeom>
          <a:noFill/>
          <a:ln w="15875">
            <a:solidFill>
              <a:srgbClr val="7F7F7F"/>
            </a:solidFill>
            <a:prstDash val="dash"/>
          </a:ln>
        </p:spPr>
        <p:txBody>
          <a:bodyPr wrap="square" anchor="ctr">
            <a:noAutofit/>
          </a:bodyPr>
          <a:lstStyle/>
          <a:p>
            <a:pPr marL="0" indent="0" algn="ctr">
              <a:spcBef>
                <a:spcPts val="600"/>
              </a:spcBef>
              <a:buNone/>
            </a:pPr>
            <a:r>
              <a:rPr lang="en-US" sz="1400" dirty="0" b="1">
                <a:solidFill>
                  <a:srgbClr val="7F7F7F"/>
                </a:solidFill>
              </a:rPr>
              <a:t>Insert plot here</a:t>
            </a:r>
          </a:p>
          <a:p>
            <a:pPr marL="0" indent="0" algn="ctr">
              <a:spcBef>
                <a:spcPts val="600"/>
              </a:spcBef>
              <a:buNone/>
            </a:pPr>
            <a:r>
              <a:rPr lang="en-US" sz="1200" dirty="0">
                <a:solidFill>
                  <a:srgbClr val="7F7F7F"/>
                </a:solidFill>
              </a:rPr>
              <a:t>(Q-Q plot)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31920" y="3246120"/>
            <a:ext cx="3383280" cy="1965960"/>
          </a:xfrm>
          <a:prstGeom prst="rect">
            <a:avLst/>
          </a:prstGeom>
          <a:noFill/>
          <a:ln w="15875">
            <a:solidFill>
              <a:srgbClr val="7F7F7F"/>
            </a:solidFill>
            <a:prstDash val="dash"/>
          </a:ln>
        </p:spPr>
        <p:txBody>
          <a:bodyPr wrap="square" anchor="ctr">
            <a:noAutofit/>
          </a:bodyPr>
          <a:lstStyle/>
          <a:p>
            <a:pPr marL="0" indent="0" algn="ctr">
              <a:spcBef>
                <a:spcPts val="600"/>
              </a:spcBef>
              <a:buNone/>
            </a:pPr>
            <a:r>
              <a:rPr lang="en-US" sz="1400" dirty="0" b="1">
                <a:solidFill>
                  <a:srgbClr val="7F7F7F"/>
                </a:solidFill>
              </a:rPr>
              <a:t>Insert plot here</a:t>
            </a:r>
          </a:p>
          <a:p>
            <a:pPr marL="0" indent="0" algn="ctr">
              <a:spcBef>
                <a:spcPts val="600"/>
              </a:spcBef>
              <a:buNone/>
            </a:pPr>
            <a:r>
              <a:rPr lang="en-US" sz="1200" dirty="0">
                <a:solidFill>
                  <a:srgbClr val="7F7F7F"/>
                </a:solidFill>
              </a:rPr>
              <a:t>(residuals vs time)</a:t>
            </a:r>
          </a:p>
        </p:txBody>
      </p:sp>
    </p:spTree>
    <p:extLst>
      <p:ext uri="{BB962C8B-B14F-4D97-AF65-F5344CB8AC3E}">
        <p14:creationId xmlns:p14="http://schemas.microsoft.com/office/powerpoint/2010/main" val="21485727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chemeClr val="tx1"/>
                </a:solidFill>
              </a:rPr>
              <a:t>Box-</a:t>
            </a:r>
            <a:r>
              <a:rPr lang="en-US"/>
              <a:t>C</a:t>
            </a:r>
            <a:r>
              <a:rPr lang="en-US" sz="3400" b="1">
                <a:solidFill>
                  <a:schemeClr val="tx1"/>
                </a:solidFill>
              </a:rPr>
              <a:t>ox Transformations</a:t>
            </a:r>
            <a:endParaRPr lang="en-US" sz="3400" dirty="0"/>
          </a:p>
        </p:txBody>
      </p:sp>
      <p:sp>
        <p:nvSpPr>
          <p:cNvPr id="5" name="Text"/>
          <p:cNvSpPr txBox="1"/>
          <p:nvPr/>
        </p:nvSpPr>
        <p:spPr>
          <a:xfrm>
            <a:off x="548640" y="4160520"/>
            <a:ext cx="1109167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342900" indent="-342900">
              <a:spcBef>
                <a:spcPts val="400"/>
              </a:spcBef>
              <a:buFont typeface="Arial"/>
              <a:buChar char="•"/>
            </a:pPr>
            <a:r>
              <a:rPr lang="en-US" sz="1800" dirty="0" b="1"/>
              <a:t>Box-Cox formula:</a:t>
            </a:r>
            <a:r>
              <a:rPr lang="en-US" sz="1800" dirty="0"/>
              <a:t xml:space="preserve"> y(λ) = (y^λ − 1) / λ  for λ ≠ 0,   y(λ) = log(y)  for λ = 0   (y must be positive; λ is chosen to maximize the log-likelihood of the lm)</a:t>
            </a:r>
          </a:p>
          <a:p>
            <a:pPr marL="342900" indent="-342900">
              <a:spcBef>
                <a:spcPts val="400"/>
              </a:spcBef>
              <a:buFont typeface="Arial"/>
              <a:buChar char="•"/>
            </a:pPr>
            <a:r>
              <a:rPr lang="en-US" sz="1800" dirty="0" b="1"/>
              <a:t>Left:</a:t>
            </a:r>
            <a:r>
              <a:rPr lang="en-US" sz="1800" dirty="0"/>
              <a:t xml:space="preserve"> [Box-Cox log-likelihood by lambda (dotted lines: 95% interval)]</a:t>
            </a:r>
          </a:p>
          <a:p>
            <a:pPr marL="342900" indent="-342900">
              <a:spcBef>
                <a:spcPts val="400"/>
              </a:spcBef>
              <a:buFont typeface="Arial"/>
              <a:buChar char="•"/>
            </a:pPr>
            <a:r>
              <a:rPr lang="en-US" sz="1800" dirty="0" b="1"/>
              <a:t>Right:</a:t>
            </a:r>
            <a:r>
              <a:rPr lang="en-US" sz="1800" dirty="0"/>
              <a:t xml:space="preserve"> [Q-Q plots before and after the transformation]</a:t>
            </a:r>
          </a:p>
          <a:p>
            <a:pPr marL="342900" indent="-342900">
              <a:spcBef>
                <a:spcPts val="400"/>
              </a:spcBef>
              <a:buFont typeface="Arial"/>
              <a:buChar char="•"/>
            </a:pPr>
            <a:r>
              <a:rPr lang="en-US" sz="1800" dirty="0" b="1"/>
              <a:t>Target (Box-Cox):</a:t>
            </a:r>
            <a:r>
              <a:rPr lang="en-US" sz="1800" dirty="0"/>
              <a:t xml:space="preserve"> lambda hat = [value], the nearest simple value is [value], so use [transformation]</a:t>
            </a:r>
          </a:p>
          <a:p>
            <a:pPr marL="342900" indent="-342900">
              <a:spcBef>
                <a:spcPts val="400"/>
              </a:spcBef>
              <a:buFont typeface="Arial"/>
              <a:buChar char="•"/>
            </a:pPr>
            <a:r>
              <a:rPr lang="en-US" sz="1800" dirty="0" b="1"/>
              <a:t>Predictors:</a:t>
            </a:r>
            <a:r>
              <a:rPr lang="en-US" sz="1800" dirty="0"/>
              <a:t xml:space="preserve"> [transform] of [column] (AIC change [value])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548640" y="1188720"/>
            <a:ext cx="5486400" cy="2880360"/>
          </a:xfrm>
          <a:prstGeom prst="rect">
            <a:avLst/>
          </a:prstGeom>
          <a:noFill/>
          <a:ln w="15875">
            <a:solidFill>
              <a:srgbClr val="7F7F7F"/>
            </a:solidFill>
            <a:prstDash val="dash"/>
          </a:ln>
        </p:spPr>
        <p:txBody>
          <a:bodyPr wrap="square" anchor="ctr">
            <a:noAutofit/>
          </a:bodyPr>
          <a:lstStyle/>
          <a:p>
            <a:pPr marL="0" indent="0" algn="ctr">
              <a:spcBef>
                <a:spcPts val="600"/>
              </a:spcBef>
              <a:buNone/>
            </a:pPr>
            <a:r>
              <a:rPr lang="en-US" sz="1400" dirty="0" b="1">
                <a:solidFill>
                  <a:srgbClr val="7F7F7F"/>
                </a:solidFill>
              </a:rPr>
              <a:t>Insert plot here</a:t>
            </a:r>
          </a:p>
          <a:p>
            <a:pPr marL="0" indent="0" algn="ctr">
              <a:spcBef>
                <a:spcPts val="600"/>
              </a:spcBef>
              <a:buNone/>
            </a:pPr>
            <a:r>
              <a:rPr lang="en-US" sz="1200" dirty="0">
                <a:solidFill>
                  <a:srgbClr val="7F7F7F"/>
                </a:solidFill>
              </a:rPr>
              <a:t>(Box-Cox log-likelihood plot)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1234440"/>
            <a:ext cx="5029200" cy="2788920"/>
          </a:xfrm>
          <a:prstGeom prst="rect">
            <a:avLst/>
          </a:prstGeom>
          <a:noFill/>
          <a:ln w="15875">
            <a:solidFill>
              <a:srgbClr val="7F7F7F"/>
            </a:solidFill>
            <a:prstDash val="dash"/>
          </a:ln>
        </p:spPr>
        <p:txBody>
          <a:bodyPr wrap="square" anchor="ctr">
            <a:noAutofit/>
          </a:bodyPr>
          <a:lstStyle/>
          <a:p>
            <a:pPr marL="0" indent="0" algn="ctr">
              <a:spcBef>
                <a:spcPts val="600"/>
              </a:spcBef>
              <a:buNone/>
            </a:pPr>
            <a:r>
              <a:rPr lang="en-US" sz="1400" dirty="0" b="1">
                <a:solidFill>
                  <a:srgbClr val="7F7F7F"/>
                </a:solidFill>
              </a:rPr>
              <a:t>Insert plot here</a:t>
            </a:r>
          </a:p>
          <a:p>
            <a:pPr marL="0" indent="0" algn="ctr">
              <a:spcBef>
                <a:spcPts val="600"/>
              </a:spcBef>
              <a:buNone/>
            </a:pPr>
            <a:r>
              <a:rPr lang="en-US" sz="1200" dirty="0">
                <a:solidFill>
                  <a:srgbClr val="7F7F7F"/>
                </a:solidFill>
              </a:rPr>
              <a:t>(Q-Q plots before / after the transformation)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Checkpoint: the model so far</a:t>
            </a:r>
            <a:endParaRPr lang="en-US" sz="3400" dirty="0"/>
          </a:p>
        </p:txBody>
      </p:sp>
      <p:sp>
        <p:nvSpPr>
          <p:cNvPr id="3" name="Plot placeholder"/>
          <p:cNvSpPr txBox="1"/>
          <p:nvPr/>
        </p:nvSpPr>
        <p:spPr>
          <a:xfrm>
            <a:off x="548640" y="1371600"/>
            <a:ext cx="6583680" cy="3291840"/>
          </a:xfrm>
          <a:prstGeom prst="rect">
            <a:avLst/>
          </a:prstGeom>
          <a:solidFill>
            <a:srgbClr val="F2F2F2"/>
          </a:solidFill>
          <a:ln w="15875">
            <a:noFill/>
            <a:prstDash val="dash"/>
          </a:ln>
        </p:spPr>
        <p:txBody>
          <a:bodyPr wrap="square" rtlCol="0" anchor="t" lIns="228600" rIns="228600" tIns="182880">
            <a:noAutofit/>
          </a:bodyPr>
          <a:lstStyle/>
          <a:p>
            <a:pPr marL="0" indent="0">
              <a:spcBef>
                <a:spcPts val="1400"/>
              </a:spcBef>
              <a:buNone/>
            </a:pPr>
            <a:r>
              <a:rPr lang="en-US" sz="2000" dirty="0" b="1"/>
              <a:t>[Model type, e.g. linear regression (lm)] on the [transformed] target</a:t>
            </a:r>
          </a:p>
          <a:p>
            <a:pPr marL="0" indent="0">
              <a:spcBef>
                <a:spcPts val="1400"/>
              </a:spcBef>
              <a:buNone/>
            </a:pPr>
            <a:r>
              <a:rPr lang="en-US" sz="2000" dirty="0"/>
              <a:t>[target] ~ [x1] + [x2] + ...   (the selected variables + the transformed terms)</a:t>
            </a:r>
          </a:p>
          <a:p>
            <a:pPr marL="0" indent="0">
              <a:spcBef>
                <a:spcPts val="1400"/>
              </a:spcBef>
              <a:buNone/>
            </a:pPr>
            <a:r>
              <a:rPr lang="en-US" sz="2000" dirty="0" b="1"/>
              <a:t>In symbols:</a:t>
            </a:r>
            <a:r>
              <a:rPr lang="en-US" sz="2000" dirty="0"/>
              <a:t xml:space="preserve">  log(TARGET) = β₀ + β₁X₁ + β₂X₂ + … + ε,   where X₁ = [first variable]</a:t>
            </a:r>
          </a:p>
        </p:txBody>
      </p:sp>
      <p:sp>
        <p:nvSpPr>
          <p:cNvPr id="4" name="Text"/>
          <p:cNvSpPr txBox="1"/>
          <p:nvPr/>
        </p:nvSpPr>
        <p:spPr>
          <a:xfrm>
            <a:off x="7406640" y="1371600"/>
            <a:ext cx="423367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342900" indent="-342900">
              <a:spcBef>
                <a:spcPts val="600"/>
              </a:spcBef>
              <a:buFont typeface="Arial"/>
              <a:buChar char="•"/>
            </a:pPr>
            <a:r>
              <a:rPr lang="en-US" sz="1800" dirty="0" b="1"/>
              <a:t>Left:</a:t>
            </a:r>
            <a:r>
              <a:rPr lang="en-US" sz="1800" dirty="0"/>
              <a:t xml:space="preserve"> the model so far ([n] selected variables + [n] transformed terms; no interaction yet)</a:t>
            </a:r>
          </a:p>
          <a:p>
            <a:pPr marL="342900" indent="-342900">
              <a:spcBef>
                <a:spcPts val="600"/>
              </a:spcBef>
              <a:buFont typeface="Arial"/>
              <a:buChar char="•"/>
            </a:pPr>
            <a:r>
              <a:rPr lang="en-US" sz="1800" dirty="0" b="1"/>
              <a:t>Reading β₁</a:t>
            </a:r>
            <a:r>
              <a:rPr lang="en-US" sz="1800" dirty="0"/>
              <a:t xml:space="preserve"> (the first variable, X₁ = [name]):</a:t>
            </a:r>
          </a:p>
          <a:p>
            <a:pPr marL="685800" indent="-285750">
              <a:spcBef>
                <a:spcPts val="300"/>
              </a:spcBef>
              <a:buFont typeface="Arial"/>
              <a:buChar char="–"/>
            </a:pPr>
            <a:r>
              <a:rPr lang="en-US" sz="1800" dirty="0"/>
              <a:t>X₁ increases by 1 unit ([unit]) → log(TARGET) increases by β̂₁ (other variables fixed)</a:t>
            </a:r>
          </a:p>
          <a:p>
            <a:pPr marL="685800" indent="-285750">
              <a:spcBef>
                <a:spcPts val="300"/>
              </a:spcBef>
              <a:buFont typeface="Arial"/>
              <a:buChar char="–"/>
            </a:pPr>
            <a:r>
              <a:rPr lang="en-US" sz="2200" dirty="0"/>
              <a:t>that is, TARGET is multiplied by e</a:t>
            </a:r>
            <a:r>
              <a:rPr lang="en-US" sz="2200" dirty="0" baseline="30000"/>
              <a:t>β̂1</a:t>
            </a:r>
          </a:p>
          <a:p>
            <a:pPr marL="685800" indent="-285750">
              <a:spcBef>
                <a:spcPts val="300"/>
              </a:spcBef>
              <a:buFont typeface="Arial"/>
              <a:buChar char="–"/>
            </a:pPr>
            <a:r>
              <a:rPr lang="en-US" sz="1800" dirty="0"/>
              <a:t>[if the target is not log-transformed: TARGET itself increases by β̂₁]</a:t>
            </a:r>
          </a:p>
          <a:p>
            <a:pPr marL="342900" indent="-342900">
              <a:spcBef>
                <a:spcPts val="600"/>
              </a:spcBef>
              <a:buFont typeface="Arial"/>
              <a:buChar char="•"/>
            </a:pPr>
            <a:r>
              <a:rPr lang="en-US" sz="1800" dirty="0" b="1"/>
              <a:t>Estimate:</a:t>
            </a:r>
            <a:r>
              <a:rPr lang="en-US" sz="1800" dirty="0"/>
              <a:t xml:space="preserve"> β̂₁ = [__], exp(β̂₁) = [__]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24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Outliers: how we handled them</a:t>
            </a:r>
            <a:endParaRPr lang="en-US" sz="3400" dirty="0"/>
          </a:p>
        </p:txBody>
      </p:sp>
      <p:sp>
        <p:nvSpPr>
          <p:cNvPr id="4" name="Text"/>
          <p:cNvSpPr txBox="1"/>
          <p:nvPr/>
        </p:nvSpPr>
        <p:spPr>
          <a:xfrm>
            <a:off x="7406640" y="1371600"/>
            <a:ext cx="423367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342900" indent="-342900">
              <a:spcBef>
                <a:spcPts val="600"/>
              </a:spcBef>
              <a:buFont typeface="Arial"/>
              <a:buChar char="•"/>
            </a:pPr>
            <a:r>
              <a:rPr lang="en-US" sz="1800" dirty="0" b="1"/>
              <a:t>Left:</a:t>
            </a:r>
            <a:r>
              <a:rPr lang="en-US" sz="1800" dirty="0"/>
              <a:t xml:space="preserve"> [standardized residuals of the selected lm over time; red dots = outlier candidates]</a:t>
            </a:r>
          </a:p>
          <a:p>
            <a:pPr marL="342900" indent="-342900">
              <a:spcBef>
                <a:spcPts val="600"/>
              </a:spcBef>
              <a:buFont typeface="Arial"/>
              <a:buChar char="•"/>
            </a:pPr>
            <a:r>
              <a:rPr lang="en-US" sz="1800" dirty="0" b="1"/>
              <a:t>Candidates:</a:t>
            </a:r>
            <a:r>
              <a:rPr lang="en-US" sz="1800" dirty="0"/>
              <a:t xml:space="preserve"> rows with |standardized residual| &gt; [3] (red dots): [n] rows</a:t>
            </a:r>
          </a:p>
          <a:p>
            <a:pPr marL="342900" indent="-342900">
              <a:spcBef>
                <a:spcPts val="600"/>
              </a:spcBef>
              <a:buFont typeface="Arial"/>
              <a:buChar char="•"/>
            </a:pPr>
            <a:r>
              <a:rPr lang="en-US" sz="1800" dirty="0" b="1"/>
              <a:t>Looked at:</a:t>
            </a:r>
            <a:r>
              <a:rPr lang="en-US" sz="1800" dirty="0"/>
              <a:t xml:space="preserve"> the candidate rows, and how their other columns differ from the normal rows: [what you found]</a:t>
            </a:r>
          </a:p>
          <a:p>
            <a:pPr marL="342900" indent="-342900">
              <a:spcBef>
                <a:spcPts val="600"/>
              </a:spcBef>
              <a:buFont typeface="Arial"/>
              <a:buChar char="•"/>
            </a:pPr>
            <a:r>
              <a:rPr lang="en-US" sz="1800" dirty="0" b="1"/>
              <a:t>Decision:</a:t>
            </a:r>
            <a:r>
              <a:rPr lang="en-US" sz="1800" dirty="0"/>
              <a:t xml:space="preserve"> [kept / removed / explained by X] because [reason]</a:t>
            </a:r>
          </a:p>
          <a:p>
            <a:pPr marL="342900" indent="-342900">
              <a:spcBef>
                <a:spcPts val="600"/>
              </a:spcBef>
              <a:buFont typeface="Arial"/>
              <a:buChar char="•"/>
            </a:pPr>
            <a:r>
              <a:rPr lang="en-US" sz="1800" dirty="0" b="1"/>
              <a:t>Also:</a:t>
            </a:r>
            <a:r>
              <a:rPr lang="en-US" sz="1800" dirty="0"/>
              <a:t xml:space="preserve"> MAE is shown next to RMSE, since RMSE reacts strongly to outliers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457200" y="1463040"/>
            <a:ext cx="6766560" cy="4389120"/>
          </a:xfrm>
          <a:prstGeom prst="rect">
            <a:avLst/>
          </a:prstGeom>
          <a:noFill/>
          <a:ln w="15875">
            <a:solidFill>
              <a:srgbClr val="7F7F7F"/>
            </a:solidFill>
            <a:prstDash val="dash"/>
          </a:ln>
        </p:spPr>
        <p:txBody>
          <a:bodyPr wrap="square" anchor="ctr">
            <a:noAutofit/>
          </a:bodyPr>
          <a:lstStyle/>
          <a:p>
            <a:pPr marL="0" indent="0" algn="ctr">
              <a:spcBef>
                <a:spcPts val="600"/>
              </a:spcBef>
              <a:buNone/>
            </a:pPr>
            <a:r>
              <a:rPr lang="en-US" sz="1400" dirty="0" b="1">
                <a:solidFill>
                  <a:srgbClr val="7F7F7F"/>
                </a:solidFill>
              </a:rPr>
              <a:t>Insert plot here</a:t>
            </a:r>
          </a:p>
          <a:p>
            <a:pPr marL="0" indent="0" algn="ctr">
              <a:spcBef>
                <a:spcPts val="600"/>
              </a:spcBef>
              <a:buNone/>
            </a:pPr>
            <a:r>
              <a:rPr lang="en-US" sz="1200" dirty="0">
                <a:solidFill>
                  <a:srgbClr val="7F7F7F"/>
                </a:solidFill>
              </a:rPr>
              <a:t>(standardized residuals; red = outlier candidates)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Interactions</a:t>
            </a:r>
            <a:endParaRPr lang="en-US" sz="3400" dirty="0"/>
          </a:p>
        </p:txBody>
      </p:sp>
      <p:sp>
        <p:nvSpPr>
          <p:cNvPr id="4" name="Text"/>
          <p:cNvSpPr txBox="1"/>
          <p:nvPr/>
        </p:nvSpPr>
        <p:spPr>
          <a:xfrm>
            <a:off x="7406640" y="1371600"/>
            <a:ext cx="423367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342900" indent="-342900">
              <a:spcBef>
                <a:spcPts val="600"/>
              </a:spcBef>
              <a:buFont typeface="Arial"/>
              <a:buChar char="•"/>
            </a:pPr>
            <a:r>
              <a:rPr lang="en-US" sz="1800" dirty="0" b="1"/>
              <a:t>Left:</a:t>
            </a:r>
            <a:r>
              <a:rPr lang="en-US" sz="1800" dirty="0"/>
              <a:t xml:space="preserve"> [interaction plot: the target vs [a] for different levels of [b]]</a:t>
            </a:r>
          </a:p>
          <a:p>
            <a:pPr marL="342900" indent="-342900">
              <a:spcBef>
                <a:spcPts val="600"/>
              </a:spcBef>
              <a:buFont typeface="Arial"/>
              <a:buChar char="•"/>
            </a:pPr>
            <a:r>
              <a:rPr lang="en-US" sz="1800" dirty="0" b="1"/>
              <a:t>Tested:</a:t>
            </a:r>
            <a:r>
              <a:rPr lang="en-US" sz="1800" dirty="0"/>
              <a:t xml:space="preserve"> [pairs] (F-test in the lm)</a:t>
            </a:r>
          </a:p>
          <a:p>
            <a:pPr marL="342900" indent="-342900">
              <a:spcBef>
                <a:spcPts val="600"/>
              </a:spcBef>
              <a:buFont typeface="Arial"/>
              <a:buChar char="•"/>
            </a:pPr>
            <a:r>
              <a:rPr lang="en-US" sz="1800" dirty="0" b="1"/>
              <a:t>Kept:</a:t>
            </a:r>
            <a:r>
              <a:rPr lang="en-US" sz="1800" dirty="0"/>
              <a:t xml:space="preserve"> [a : b] (p-value [value])</a:t>
            </a:r>
          </a:p>
          <a:p>
            <a:pPr marL="342900" indent="-342900">
              <a:spcBef>
                <a:spcPts val="600"/>
              </a:spcBef>
              <a:buFont typeface="Arial"/>
              <a:buChar char="•"/>
            </a:pPr>
            <a:r>
              <a:rPr lang="en-US" sz="1800" dirty="0" b="1"/>
              <a:t>Why it makes sense:</a:t>
            </a:r>
            <a:r>
              <a:rPr lang="en-US" sz="1800" dirty="0"/>
              <a:t xml:space="preserve"> [reason]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365760" y="1280160"/>
            <a:ext cx="6858000" cy="4937760"/>
          </a:xfrm>
          <a:prstGeom prst="rect">
            <a:avLst/>
          </a:prstGeom>
          <a:noFill/>
          <a:ln w="15875">
            <a:solidFill>
              <a:srgbClr val="7F7F7F"/>
            </a:solidFill>
            <a:prstDash val="dash"/>
          </a:ln>
        </p:spPr>
        <p:txBody>
          <a:bodyPr wrap="square" anchor="ctr">
            <a:noAutofit/>
          </a:bodyPr>
          <a:lstStyle/>
          <a:p>
            <a:pPr marL="0" indent="0" algn="ctr">
              <a:spcBef>
                <a:spcPts val="600"/>
              </a:spcBef>
              <a:buNone/>
            </a:pPr>
            <a:r>
              <a:rPr lang="en-US" sz="1400" dirty="0" b="1">
                <a:solidFill>
                  <a:srgbClr val="7F7F7F"/>
                </a:solidFill>
              </a:rPr>
              <a:t>Insert plot here</a:t>
            </a:r>
          </a:p>
          <a:p>
            <a:pPr marL="0" indent="0" algn="ctr">
              <a:spcBef>
                <a:spcPts val="600"/>
              </a:spcBef>
              <a:buNone/>
            </a:pPr>
            <a:r>
              <a:rPr lang="en-US" sz="1200" dirty="0">
                <a:solidFill>
                  <a:srgbClr val="7F7F7F"/>
                </a:solidFill>
              </a:rPr>
              <a:t>(interaction plot or test table)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Candidate models</a:t>
            </a:r>
            <a:endParaRPr lang="en-US" sz="3400" dirty="0"/>
          </a:p>
        </p:txBody>
      </p:sp>
      <p:sp>
        <p:nvSpPr>
          <p:cNvPr id="3" name="Text"/>
          <p:cNvSpPr txBox="1"/>
          <p:nvPr/>
        </p:nvSpPr>
        <p:spPr>
          <a:xfrm>
            <a:off x="548640" y="1463040"/>
            <a:ext cx="11091672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b="1" dirty="0">
                <a:solidFill>
                  <a:schemeClr val="tx1"/>
                </a:solidFill>
              </a:rPr>
              <a:t>baseline: </a:t>
            </a:r>
            <a:r>
              <a:rPr lang="en-US" sz="2200" dirty="0">
                <a:solidFill>
                  <a:schemeClr val="tx1"/>
                </a:solidFill>
              </a:rPr>
              <a:t>the mean of the training y (the number to beat)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b="1" dirty="0">
                <a:solidFill>
                  <a:schemeClr val="tx1"/>
                </a:solidFill>
              </a:rPr>
              <a:t>lm: </a:t>
            </a:r>
            <a:r>
              <a:rPr lang="en-US" sz="2200" dirty="0">
                <a:solidFill>
                  <a:schemeClr val="tx1"/>
                </a:solidFill>
              </a:rPr>
              <a:t>ordinary least squares, on the transformed y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b="1" dirty="0">
                <a:solidFill>
                  <a:schemeClr val="tx1"/>
                </a:solidFill>
              </a:rPr>
              <a:t>lasso, ridge: </a:t>
            </a:r>
            <a:r>
              <a:rPr lang="en-US" sz="2200" dirty="0">
                <a:solidFill>
                  <a:schemeClr val="tx1"/>
                </a:solidFill>
              </a:rPr>
              <a:t>lm with shrunk coefficients (lasso can drop variables)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b="1" dirty="0">
                <a:solidFill>
                  <a:schemeClr val="tx1"/>
                </a:solidFill>
              </a:rPr>
              <a:t>glm: </a:t>
            </a:r>
            <a:r>
              <a:rPr lang="en-US" sz="2200" dirty="0">
                <a:solidFill>
                  <a:schemeClr val="tx1"/>
                </a:solidFill>
              </a:rPr>
              <a:t>Gamma family, log link, on the original y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b="1" dirty="0">
                <a:solidFill>
                  <a:schemeClr val="tx1"/>
                </a:solidFill>
              </a:rPr>
              <a:t>mixed, glmm: </a:t>
            </a:r>
            <a:r>
              <a:rPr lang="en-US" sz="2200" dirty="0">
                <a:solidFill>
                  <a:schemeClr val="tx1"/>
                </a:solidFill>
              </a:rPr>
              <a:t>lm / glm plus a random intercept per group</a:t>
            </a:r>
            <a:endParaRPr lang="en-US" sz="2200" dirty="0"/>
          </a:p>
        </p:txBody>
      </p:sp>
      <p:sp>
        <p:nvSpPr>
          <p:cNvPr id="4" name="Note"/>
          <p:cNvSpPr txBox="1"/>
          <p:nvPr/>
        </p:nvSpPr>
        <p:spPr>
          <a:xfrm>
            <a:off x="548640" y="548640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800" dirty="0">
                <a:solidFill>
                  <a:schemeClr val="accent4"/>
                </a:solidFill>
              </a:rPr>
              <a:t>All candidates use the same variables, transformations and interactions.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Measures (1/2): RMSE and MAE</a:t>
            </a:r>
            <a:endParaRPr lang="en-US" sz="3400" dirty="0"/>
          </a:p>
        </p:txBody>
      </p:sp>
      <p:sp>
        <p:nvSpPr>
          <p:cNvPr id="3" name="RMSE"/>
          <p:cNvSpPr txBox="1"/>
          <p:nvPr/>
        </p:nvSpPr>
        <p:spPr>
          <a:xfrm>
            <a:off x="548640" y="1371600"/>
            <a:ext cx="5408676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600"/>
              </a:spcAft>
              <a:buNone/>
            </a:pPr>
            <a:r>
              <a:rPr lang="en-US" sz="2800" b="1" dirty="0">
                <a:solidFill>
                  <a:schemeClr val="tx1"/>
                </a:solidFill>
              </a:rPr>
              <a:t>RMSE</a:t>
            </a:r>
            <a:endParaRPr lang="en-US" sz="2800" dirty="0"/>
          </a:p>
          <a:p>
            <a:pPr marL="0" indent="0">
              <a:spcAft>
                <a:spcPts val="1600"/>
              </a:spcAft>
              <a:buNone/>
            </a:pPr>
            <a:r>
              <a:rPr lang="en-US" sz="2400" b="1" dirty="0">
                <a:solidFill>
                  <a:schemeClr val="tx1"/>
                </a:solidFill>
              </a:rPr>
              <a:t>RMSE = √( (1/n) Σ e² )</a:t>
            </a:r>
            <a:endParaRPr lang="en-US" sz="2800" dirty="0"/>
          </a:p>
          <a:p>
            <a:pPr marL="0" indent="0">
              <a:spcAft>
                <a:spcPts val="16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Pros: </a:t>
            </a:r>
            <a:r>
              <a:rPr lang="en-US" sz="2000" dirty="0">
                <a:solidFill>
                  <a:schemeClr val="tx1"/>
                </a:solidFill>
              </a:rPr>
              <a:t>Same unit as y; punishes big errors; the standard score</a:t>
            </a:r>
            <a:endParaRPr lang="en-US" sz="2800" dirty="0"/>
          </a:p>
          <a:p>
            <a:pPr marL="0" indent="0">
              <a:spcAft>
                <a:spcPts val="16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Cons: </a:t>
            </a:r>
            <a:r>
              <a:rPr lang="en-US" sz="2000" dirty="0">
                <a:solidFill>
                  <a:schemeClr val="tx1"/>
                </a:solidFill>
              </a:rPr>
              <a:t>Sensitive to outliers: a few big errors can dominate</a:t>
            </a:r>
            <a:endParaRPr lang="en-US" sz="2800" dirty="0"/>
          </a:p>
        </p:txBody>
      </p:sp>
      <p:sp>
        <p:nvSpPr>
          <p:cNvPr id="4" name="MAE"/>
          <p:cNvSpPr txBox="1"/>
          <p:nvPr/>
        </p:nvSpPr>
        <p:spPr>
          <a:xfrm>
            <a:off x="6231636" y="1371600"/>
            <a:ext cx="5408676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600"/>
              </a:spcAft>
              <a:buNone/>
            </a:pPr>
            <a:r>
              <a:rPr lang="en-US" sz="2800" b="1" dirty="0">
                <a:solidFill>
                  <a:schemeClr val="tx1"/>
                </a:solidFill>
              </a:rPr>
              <a:t>MAE</a:t>
            </a:r>
            <a:endParaRPr lang="en-US" sz="2800" dirty="0"/>
          </a:p>
          <a:p>
            <a:pPr marL="0" indent="0">
              <a:spcAft>
                <a:spcPts val="1600"/>
              </a:spcAft>
              <a:buNone/>
            </a:pPr>
            <a:r>
              <a:rPr lang="en-US" sz="2400" b="1" dirty="0">
                <a:solidFill>
                  <a:schemeClr val="tx1"/>
                </a:solidFill>
              </a:rPr>
              <a:t>MAE = (1/n) Σ |e|</a:t>
            </a:r>
            <a:endParaRPr lang="en-US" sz="2800" dirty="0"/>
          </a:p>
          <a:p>
            <a:pPr marL="0" indent="0">
              <a:spcAft>
                <a:spcPts val="16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Pros: </a:t>
            </a:r>
            <a:r>
              <a:rPr lang="en-US" sz="2000" dirty="0">
                <a:solidFill>
                  <a:schemeClr val="tx1"/>
                </a:solidFill>
              </a:rPr>
              <a:t>Same unit as y; the average miss, easy to explain; robust to outliers</a:t>
            </a:r>
            <a:endParaRPr lang="en-US" sz="2800" dirty="0"/>
          </a:p>
          <a:p>
            <a:pPr marL="0" indent="0">
              <a:spcAft>
                <a:spcPts val="16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Cons: </a:t>
            </a:r>
            <a:r>
              <a:rPr lang="en-US" sz="2000" dirty="0">
                <a:solidFill>
                  <a:schemeClr val="tx1"/>
                </a:solidFill>
              </a:rPr>
              <a:t>A big miss counts like several small ones</a:t>
            </a:r>
            <a:endParaRPr lang="en-US" sz="2800" dirty="0"/>
          </a:p>
        </p:txBody>
      </p:sp>
      <p:sp>
        <p:nvSpPr>
          <p:cNvPr id="5" name="Note"/>
          <p:cNvSpPr txBox="1"/>
          <p:nvPr/>
        </p:nvSpPr>
        <p:spPr>
          <a:xfrm>
            <a:off x="548640" y="4937760"/>
            <a:ext cx="110916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accent4"/>
                </a:solidFill>
              </a:rPr>
              <a:t>e = prediction − actual, n = number of rows. All scores are computed on the validation rows, in the original units of y.</a:t>
            </a:r>
            <a:endParaRPr lang="en-US" sz="16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accent4"/>
                </a:solidFill>
              </a:rPr>
              <a:t>Main score for choosing the model: RMSE.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Measures (2/2): MAPE, R² and Bias</a:t>
            </a:r>
            <a:endParaRPr lang="en-US" sz="3400" dirty="0"/>
          </a:p>
        </p:txBody>
      </p:sp>
      <p:sp>
        <p:nvSpPr>
          <p:cNvPr id="3" name="MAPE"/>
          <p:cNvSpPr txBox="1"/>
          <p:nvPr/>
        </p:nvSpPr>
        <p:spPr>
          <a:xfrm>
            <a:off x="548640" y="1371600"/>
            <a:ext cx="3514344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200"/>
              </a:spcAft>
              <a:buNone/>
            </a:pPr>
            <a:r>
              <a:rPr lang="en-US" sz="2600" b="1" dirty="0">
                <a:solidFill>
                  <a:schemeClr val="tx1"/>
                </a:solidFill>
              </a:rPr>
              <a:t>MAPE</a:t>
            </a:r>
            <a:endParaRPr lang="en-US" sz="26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MAPE = (100/n) Σ |e| / |y|</a:t>
            </a:r>
            <a:endParaRPr lang="en-US" sz="26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Pros: </a:t>
            </a:r>
            <a:r>
              <a:rPr lang="en-US" sz="1800" dirty="0">
                <a:solidFill>
                  <a:schemeClr val="tx1"/>
                </a:solidFill>
              </a:rPr>
              <a:t>In percent: comparable across scales</a:t>
            </a:r>
            <a:endParaRPr lang="en-US" sz="26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Cons: </a:t>
            </a:r>
            <a:r>
              <a:rPr lang="en-US" sz="1800" dirty="0">
                <a:solidFill>
                  <a:schemeClr val="tx1"/>
                </a:solidFill>
              </a:rPr>
              <a:t>Explodes when y is near 0 (rows with y = 0 are left out)</a:t>
            </a:r>
            <a:endParaRPr lang="en-US" sz="2600" dirty="0"/>
          </a:p>
        </p:txBody>
      </p:sp>
      <p:sp>
        <p:nvSpPr>
          <p:cNvPr id="4" name="R²"/>
          <p:cNvSpPr txBox="1"/>
          <p:nvPr/>
        </p:nvSpPr>
        <p:spPr>
          <a:xfrm>
            <a:off x="4337304" y="1371600"/>
            <a:ext cx="3514344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200"/>
              </a:spcAft>
              <a:buNone/>
            </a:pPr>
            <a:r>
              <a:rPr lang="en-US" sz="2600" b="1" dirty="0">
                <a:solidFill>
                  <a:schemeClr val="tx1"/>
                </a:solidFill>
              </a:rPr>
              <a:t>R²</a:t>
            </a:r>
            <a:endParaRPr lang="en-US" sz="26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R² = 1 − Σ e² / Σ (y − mean y)²</a:t>
            </a:r>
            <a:endParaRPr lang="en-US" sz="26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Pros: </a:t>
            </a:r>
            <a:r>
              <a:rPr lang="en-US" sz="1800" dirty="0">
                <a:solidFill>
                  <a:schemeClr val="tx1"/>
                </a:solidFill>
              </a:rPr>
              <a:t>No unit: 1 is perfect, 0 is as good as the mean</a:t>
            </a:r>
            <a:endParaRPr lang="en-US" sz="26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Cons: </a:t>
            </a:r>
            <a:r>
              <a:rPr lang="en-US" sz="1800" dirty="0">
                <a:solidFill>
                  <a:schemeClr val="tx1"/>
                </a:solidFill>
              </a:rPr>
              <a:t>Can be negative on new data; hides the size of the error</a:t>
            </a:r>
            <a:endParaRPr lang="en-US" sz="2600" dirty="0"/>
          </a:p>
        </p:txBody>
      </p:sp>
      <p:sp>
        <p:nvSpPr>
          <p:cNvPr id="5" name="Bias"/>
          <p:cNvSpPr txBox="1"/>
          <p:nvPr/>
        </p:nvSpPr>
        <p:spPr>
          <a:xfrm>
            <a:off x="8125968" y="1371600"/>
            <a:ext cx="3514344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200"/>
              </a:spcAft>
              <a:buNone/>
            </a:pPr>
            <a:r>
              <a:rPr lang="en-US" sz="2600" b="1" dirty="0">
                <a:solidFill>
                  <a:schemeClr val="tx1"/>
                </a:solidFill>
              </a:rPr>
              <a:t>Bias</a:t>
            </a:r>
            <a:endParaRPr lang="en-US" sz="26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Bias = (1/n) Σ e</a:t>
            </a:r>
            <a:endParaRPr lang="en-US" sz="26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Pros: </a:t>
            </a:r>
            <a:r>
              <a:rPr lang="en-US" sz="1800" dirty="0">
                <a:solidFill>
                  <a:schemeClr val="tx1"/>
                </a:solidFill>
              </a:rPr>
              <a:t>Shows if the model predicts too high or too low</a:t>
            </a:r>
            <a:endParaRPr lang="en-US" sz="26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Cons: </a:t>
            </a:r>
            <a:r>
              <a:rPr lang="en-US" sz="1800" dirty="0">
                <a:solidFill>
                  <a:schemeClr val="tx1"/>
                </a:solidFill>
              </a:rPr>
              <a:t>Errors cancel out: Bias near 0 can hide big errors</a:t>
            </a:r>
            <a:endParaRPr lang="en-US" sz="2600" dirty="0"/>
          </a:p>
        </p:txBody>
      </p:sp>
      <p:sp>
        <p:nvSpPr>
          <p:cNvPr id="6" name="Note"/>
          <p:cNvSpPr txBox="1"/>
          <p:nvPr/>
        </p:nvSpPr>
        <p:spPr>
          <a:xfrm>
            <a:off x="548640" y="55778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accent4"/>
                </a:solidFill>
              </a:rPr>
              <a:t>e = prediction − actual, n = number of rows, y = actual.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Cross validation: moving window (time series)</a:t>
            </a:r>
            <a:endParaRPr lang="en-US" sz="3400" dirty="0"/>
          </a:p>
        </p:txBody>
      </p:sp>
      <p:sp>
        <p:nvSpPr>
          <p:cNvPr id="3" name="train 1"/>
          <p:cNvSpPr txBox="1"/>
          <p:nvPr/>
        </p:nvSpPr>
        <p:spPr>
          <a:xfrm>
            <a:off x="1645920" y="1463040"/>
            <a:ext cx="5852160" cy="50292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train: last [W] days</a:t>
            </a:r>
            <a:endParaRPr lang="en-US" sz="1600" dirty="0"/>
          </a:p>
        </p:txBody>
      </p:sp>
      <p:sp>
        <p:nvSpPr>
          <p:cNvPr id="4" name="test 1"/>
          <p:cNvSpPr txBox="1"/>
          <p:nvPr/>
        </p:nvSpPr>
        <p:spPr>
          <a:xfrm>
            <a:off x="7498080" y="1463040"/>
            <a:ext cx="731520" cy="50292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test</a:t>
            </a:r>
            <a:endParaRPr lang="en-US" sz="1600" dirty="0"/>
          </a:p>
        </p:txBody>
      </p:sp>
      <p:sp>
        <p:nvSpPr>
          <p:cNvPr id="5" name="block label 1"/>
          <p:cNvSpPr txBox="1"/>
          <p:nvPr/>
        </p:nvSpPr>
        <p:spPr>
          <a:xfrm>
            <a:off x="8366760" y="146304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block 1</a:t>
            </a:r>
            <a:endParaRPr lang="en-US" sz="1600" dirty="0"/>
          </a:p>
        </p:txBody>
      </p:sp>
      <p:sp>
        <p:nvSpPr>
          <p:cNvPr id="6" name="train 2"/>
          <p:cNvSpPr txBox="1"/>
          <p:nvPr/>
        </p:nvSpPr>
        <p:spPr>
          <a:xfrm>
            <a:off x="2377440" y="2148840"/>
            <a:ext cx="5852160" cy="50292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train: last [W] days</a:t>
            </a:r>
            <a:endParaRPr lang="en-US" sz="1600" dirty="0"/>
          </a:p>
        </p:txBody>
      </p:sp>
      <p:sp>
        <p:nvSpPr>
          <p:cNvPr id="7" name="test 2"/>
          <p:cNvSpPr txBox="1"/>
          <p:nvPr/>
        </p:nvSpPr>
        <p:spPr>
          <a:xfrm>
            <a:off x="8229600" y="2148840"/>
            <a:ext cx="731520" cy="50292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test</a:t>
            </a:r>
            <a:endParaRPr lang="en-US" sz="1600" dirty="0"/>
          </a:p>
        </p:txBody>
      </p:sp>
      <p:sp>
        <p:nvSpPr>
          <p:cNvPr id="8" name="block label 2"/>
          <p:cNvSpPr txBox="1"/>
          <p:nvPr/>
        </p:nvSpPr>
        <p:spPr>
          <a:xfrm>
            <a:off x="9098280" y="214884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block 2</a:t>
            </a:r>
            <a:endParaRPr lang="en-US" sz="1600" dirty="0"/>
          </a:p>
        </p:txBody>
      </p:sp>
      <p:sp>
        <p:nvSpPr>
          <p:cNvPr id="9" name="train 3"/>
          <p:cNvSpPr txBox="1"/>
          <p:nvPr/>
        </p:nvSpPr>
        <p:spPr>
          <a:xfrm>
            <a:off x="3108960" y="2834640"/>
            <a:ext cx="5852160" cy="50292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train: last [W] days</a:t>
            </a:r>
            <a:endParaRPr lang="en-US" sz="1600" dirty="0"/>
          </a:p>
        </p:txBody>
      </p:sp>
      <p:sp>
        <p:nvSpPr>
          <p:cNvPr id="10" name="test 3"/>
          <p:cNvSpPr txBox="1"/>
          <p:nvPr/>
        </p:nvSpPr>
        <p:spPr>
          <a:xfrm>
            <a:off x="8961120" y="2834640"/>
            <a:ext cx="731520" cy="50292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test</a:t>
            </a:r>
            <a:endParaRPr lang="en-US" sz="1600" dirty="0"/>
          </a:p>
        </p:txBody>
      </p:sp>
      <p:sp>
        <p:nvSpPr>
          <p:cNvPr id="11" name="block label 3"/>
          <p:cNvSpPr txBox="1"/>
          <p:nvPr/>
        </p:nvSpPr>
        <p:spPr>
          <a:xfrm>
            <a:off x="9829800" y="283464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block 3</a:t>
            </a:r>
            <a:endParaRPr lang="en-US" sz="1600" dirty="0"/>
          </a:p>
        </p:txBody>
      </p:sp>
      <p:sp>
        <p:nvSpPr>
          <p:cNvPr id="12" name="More blocks"/>
          <p:cNvSpPr txBox="1"/>
          <p:nvPr/>
        </p:nvSpPr>
        <p:spPr>
          <a:xfrm>
            <a:off x="9235440" y="35204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chemeClr val="tx1"/>
                </a:solidFill>
              </a:rPr>
              <a:t>...</a:t>
            </a:r>
            <a:endParaRPr lang="en-US" sz="2400" dirty="0"/>
          </a:p>
        </p:txBody>
      </p:sp>
      <p:sp>
        <p:nvSpPr>
          <p:cNvPr id="13" name="Time arrow"/>
          <p:cNvSpPr/>
          <p:nvPr/>
        </p:nvSpPr>
        <p:spPr>
          <a:xfrm>
            <a:off x="548640" y="4160520"/>
            <a:ext cx="11091672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ime label"/>
          <p:cNvSpPr txBox="1"/>
          <p:nvPr/>
        </p:nvSpPr>
        <p:spPr>
          <a:xfrm>
            <a:off x="548640" y="4224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accent4"/>
                </a:solidFill>
              </a:rPr>
              <a:t>time</a:t>
            </a:r>
            <a:endParaRPr lang="en-US" sz="1400" dirty="0"/>
          </a:p>
        </p:txBody>
      </p:sp>
      <p:sp>
        <p:nvSpPr>
          <p:cNvPr id="15" name="Text"/>
          <p:cNvSpPr txBox="1"/>
          <p:nvPr/>
        </p:nvSpPr>
        <p:spPr>
          <a:xfrm>
            <a:off x="548640" y="4663440"/>
            <a:ext cx="1109167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342900" indent="-342900">
              <a:spcBef>
                <a:spcPts val="600"/>
              </a:spcBef>
              <a:buFont typeface="Arial"/>
              <a:buChar char="•"/>
            </a:pPr>
            <a:r>
              <a:rPr lang="en-US" sz="1800" dirty="0"/>
              <a:t>Train on the last [W] days, predict the next [T] days, then move the window forward by [T] days</a:t>
            </a:r>
          </a:p>
          <a:p>
            <a:pPr marL="342900" indent="-342900">
              <a:spcBef>
                <a:spcPts val="600"/>
              </a:spcBef>
              <a:buFont typeface="Arial"/>
              <a:buChar char="•"/>
            </a:pPr>
            <a:r>
              <a:rPr lang="en-US" sz="1800" dirty="0"/>
              <a:t>A model only sees days before the days it predicts: no leakage</a:t>
            </a:r>
          </a:p>
          <a:p>
            <a:pPr marL="342900" indent="-342900">
              <a:spcBef>
                <a:spcPts val="600"/>
              </a:spcBef>
              <a:buFont typeface="Arial"/>
              <a:buChar char="•"/>
            </a:pPr>
            <a:r>
              <a:rPr lang="en-US" sz="1800" dirty="0"/>
              <a:t>All the test predictions are collected and scored together (RMSE)</a:t>
            </a:r>
          </a:p>
          <a:p>
            <a:pPr marL="342900" indent="-342900">
              <a:spcBef>
                <a:spcPts val="600"/>
              </a:spcBef>
              <a:buFont typeface="Arial"/>
              <a:buChar char="•"/>
            </a:pPr>
            <a:r>
              <a:rPr lang="en-US" sz="1800" dirty="0"/>
              <a:t>Every candidate uses the same blocks, so the scores can be compared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Model comparison</a:t>
            </a:r>
            <a:endParaRPr lang="en-US" sz="3400" dirty="0"/>
          </a:p>
        </p:txBody>
      </p:sp>
      <p:sp>
        <p:nvSpPr>
          <p:cNvPr id="3" name="Plot placeholder"/>
          <p:cNvSpPr txBox="1"/>
          <p:nvPr/>
        </p:nvSpPr>
        <p:spPr>
          <a:xfrm>
            <a:off x="548640" y="4526280"/>
            <a:ext cx="6583680" cy="1645920"/>
          </a:xfrm>
          <a:prstGeom prst="rect">
            <a:avLst/>
          </a:prstGeom>
          <a:solidFill>
            <a:schemeClr val="bg1"/>
          </a:solidFill>
          <a:ln w="15875">
            <a:solidFill>
              <a:schemeClr val="accent2"/>
            </a:solidFill>
            <a:prstDash val="dash"/>
          </a:ln>
        </p:spPr>
        <p:txBody>
          <a:bodyPr wrap="square" rtlCol="0" anchor="ctr">
            <a:noAutofit/>
          </a:bodyPr>
          <a:lstStyle/>
          <a:p>
            <a:pPr marL="0" indent="0" algn="ctr">
              <a:spcBef>
                <a:spcPts val="600"/>
              </a:spcBef>
              <a:buNone/>
            </a:pPr>
            <a:r>
              <a:rPr lang="en-US" sz="1400" dirty="0">
                <a:solidFill>
                  <a:srgbClr val="7F7F7F"/>
                </a:solidFill>
              </a:rPr>
              <a:t>RMSE bar chart of the models: paste here</a:t>
            </a:r>
          </a:p>
        </p:txBody>
      </p:sp>
      <p:sp>
        <p:nvSpPr>
          <p:cNvPr id="4" name="Text"/>
          <p:cNvSpPr txBox="1"/>
          <p:nvPr/>
        </p:nvSpPr>
        <p:spPr>
          <a:xfrm>
            <a:off x="7406640" y="1371600"/>
            <a:ext cx="423367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342900" indent="-342900">
              <a:spcBef>
                <a:spcPts val="600"/>
              </a:spcBef>
              <a:buFont typeface="Arial"/>
              <a:buChar char="•"/>
            </a:pPr>
            <a:r>
              <a:rPr lang="en-US" sz="1800" dirty="0" b="1"/>
              <a:t>Top-left:</a:t>
            </a:r>
            <a:r>
              <a:rPr lang="en-US" sz="1800" dirty="0"/>
              <a:t xml:space="preserve"> score table of the 7 models (cross validation, in the original units of y)</a:t>
            </a:r>
          </a:p>
          <a:p>
            <a:pPr marL="342900" indent="-342900">
              <a:spcBef>
                <a:spcPts val="600"/>
              </a:spcBef>
              <a:buFont typeface="Arial"/>
              <a:buChar char="•"/>
            </a:pPr>
            <a:r>
              <a:rPr lang="en-US" sz="1800" dirty="0" b="1"/>
              <a:t>Bottom-left:</a:t>
            </a:r>
            <a:r>
              <a:rPr lang="en-US" sz="1800" dirty="0"/>
              <a:t xml:space="preserve"> bar chart of the RMSE (smaller is better)</a:t>
            </a:r>
          </a:p>
          <a:p>
            <a:pPr marL="342900" indent="-342900">
              <a:spcBef>
                <a:spcPts val="600"/>
              </a:spcBef>
              <a:buFont typeface="Arial"/>
              <a:buChar char="•"/>
            </a:pPr>
            <a:r>
              <a:rPr lang="en-US" sz="1800" dirty="0" b="1"/>
              <a:t>Score:</a:t>
            </a:r>
            <a:r>
              <a:rPr lang="en-US" sz="1800" dirty="0"/>
              <a:t xml:space="preserve"> RMSE (main); MAE, MAPE, R² and Bias are also shown</a:t>
            </a:r>
          </a:p>
          <a:p>
            <a:pPr marL="342900" indent="-342900">
              <a:spcBef>
                <a:spcPts val="600"/>
              </a:spcBef>
              <a:buFont typeface="Arial"/>
              <a:buChar char="•"/>
            </a:pPr>
            <a:r>
              <a:rPr lang="en-US" sz="1800" dirty="0" b="1"/>
              <a:t>Best candidate:</a:t>
            </a:r>
            <a:r>
              <a:rPr lang="en-US" sz="1800" dirty="0"/>
              <a:t xml:space="preserve"> [model], RMSE [value]</a:t>
            </a:r>
          </a:p>
          <a:p>
            <a:pPr marL="342900" indent="-342900">
              <a:spcBef>
                <a:spcPts val="600"/>
              </a:spcBef>
              <a:buFont typeface="Arial"/>
              <a:buChar char="•"/>
            </a:pPr>
            <a:r>
              <a:rPr lang="en-US" sz="1800" dirty="0" b="1"/>
              <a:t>Baseline:</a:t>
            </a:r>
            <a:r>
              <a:rPr lang="en-US" sz="1800" dirty="0"/>
              <a:t xml:space="preserve"> RMSE [value]: the number to beat</a:t>
            </a:r>
          </a:p>
          <a:p>
            <a:pPr marL="342900" indent="-342900">
              <a:spcBef>
                <a:spcPts val="600"/>
              </a:spcBef>
              <a:buFont typeface="Arial"/>
              <a:buChar char="•"/>
            </a:pPr>
            <a:r>
              <a:rPr lang="en-US" sz="1800" dirty="0" b="1"/>
              <a:t>Others:</a:t>
            </a:r>
            <a:r>
              <a:rPr lang="en-US" sz="1800" dirty="0"/>
              <a:t xml:space="preserve"> [what we see, e.g. lasso is close to lm]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22</a:t>
            </a:fld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25D2176-53C1-FD11-941F-B6B1A634C8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2544220"/>
              </p:ext>
            </p:extLst>
          </p:nvPr>
        </p:nvGraphicFramePr>
        <p:xfrm>
          <a:off x="548640" y="1371600"/>
          <a:ext cx="658368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2921">
                  <a:extLst>
                    <a:ext uri="{9D8B030D-6E8A-4147-A177-3AD203B41FA5}">
                      <a16:colId xmlns:a16="http://schemas.microsoft.com/office/drawing/2014/main" val="2560184830"/>
                    </a:ext>
                  </a:extLst>
                </a:gridCol>
                <a:gridCol w="1012921">
                  <a:extLst>
                    <a:ext uri="{9D8B030D-6E8A-4147-A177-3AD203B41FA5}">
                      <a16:colId xmlns:a16="http://schemas.microsoft.com/office/drawing/2014/main" val="4160176262"/>
                    </a:ext>
                  </a:extLst>
                </a:gridCol>
                <a:gridCol w="1012921">
                  <a:extLst>
                    <a:ext uri="{9D8B030D-6E8A-4147-A177-3AD203B41FA5}">
                      <a16:colId xmlns:a16="http://schemas.microsoft.com/office/drawing/2014/main" val="1079911923"/>
                    </a:ext>
                  </a:extLst>
                </a:gridCol>
                <a:gridCol w="1012921">
                  <a:extLst>
                    <a:ext uri="{9D8B030D-6E8A-4147-A177-3AD203B41FA5}">
                      <a16:colId xmlns:a16="http://schemas.microsoft.com/office/drawing/2014/main" val="217829271"/>
                    </a:ext>
                  </a:extLst>
                </a:gridCol>
                <a:gridCol w="1012921">
                  <a:extLst>
                    <a:ext uri="{9D8B030D-6E8A-4147-A177-3AD203B41FA5}">
                      <a16:colId xmlns:a16="http://schemas.microsoft.com/office/drawing/2014/main" val="950948651"/>
                    </a:ext>
                  </a:extLst>
                </a:gridCol>
                <a:gridCol w="1012921">
                  <a:extLst>
                    <a:ext uri="{9D8B030D-6E8A-4147-A177-3AD203B41FA5}">
                      <a16:colId xmlns:a16="http://schemas.microsoft.com/office/drawing/2014/main" val="417156473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 algn="l"/>
                      <a:r>
                        <a:rPr lang="en-US" sz="1400" dirty="0" b="1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ko-KR" altLang="en-US" dirty="0">
                        <a:highlight>
                          <a:srgbClr val="FFFF00"/>
                        </a:highlight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 algn="ctr"/>
                      <a:r>
                        <a:rPr lang="en-US" sz="1400" dirty="0" b="1">
                          <a:solidFill>
                            <a:srgbClr val="FFFFFF"/>
                          </a:solidFill>
                        </a:rPr>
                        <a:t>RMSE</a:t>
                      </a:r>
                      <a:endParaRPr lang="ko-KR" altLang="en-US" dirty="0">
                        <a:highlight>
                          <a:srgbClr val="FFFF00"/>
                        </a:highlight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 algn="ctr"/>
                      <a:r>
                        <a:rPr lang="en-US" sz="1400" dirty="0" b="1">
                          <a:solidFill>
                            <a:srgbClr val="FFFFFF"/>
                          </a:solidFill>
                        </a:rPr>
                        <a:t>MAE</a:t>
                      </a:r>
                      <a:endParaRPr lang="ko-KR" altLang="en-US" dirty="0">
                        <a:highlight>
                          <a:srgbClr val="FFFF00"/>
                        </a:highlight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 algn="ctr"/>
                      <a:r>
                        <a:rPr lang="en-US" sz="1400" dirty="0" b="1">
                          <a:solidFill>
                            <a:srgbClr val="FFFFFF"/>
                          </a:solidFill>
                        </a:rPr>
                        <a:t>MAPE (%)</a:t>
                      </a:r>
                      <a:endParaRPr lang="ko-KR" altLang="en-US" dirty="0">
                        <a:highlight>
                          <a:srgbClr val="FFFF00"/>
                        </a:highlight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 algn="ctr"/>
                      <a:r>
                        <a:rPr lang="en-US" sz="1400" dirty="0" b="1">
                          <a:solidFill>
                            <a:srgbClr val="FFFFFF"/>
                          </a:solidFill>
                        </a:rPr>
                        <a:t>R²</a:t>
                      </a:r>
                      <a:endParaRPr lang="ko-KR" altLang="en-US" dirty="0">
                        <a:highlight>
                          <a:srgbClr val="FFFF00"/>
                        </a:highlight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 algn="ctr"/>
                      <a:r>
                        <a:rPr lang="en-US" sz="1400" dirty="0" b="1">
                          <a:solidFill>
                            <a:srgbClr val="FFFFFF"/>
                          </a:solidFill>
                        </a:rPr>
                        <a:t>Bias</a:t>
                      </a:r>
                      <a:endParaRPr lang="ko-KR" altLang="en-US" dirty="0">
                        <a:highlight>
                          <a:srgbClr val="FFFF00"/>
                        </a:highlight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412898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 algn="l"/>
                      <a:r>
                        <a:rPr lang="en-US" sz="1400" dirty="0"/>
                        <a:t>baseline</a:t>
                      </a:r>
                      <a:endParaRPr lang="ko-KR" altLang="en-US" dirty="0">
                        <a:highlight>
                          <a:srgbClr val="FFFF00"/>
                        </a:highlight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 algn="ctr"/>
                      <a:r>
                        <a:rPr lang="en-US" sz="1400" dirty="0"/>
                        <a:t/>
                      </a:r>
                      <a:endParaRPr lang="ko-KR" altLang="en-US" dirty="0">
                        <a:highlight>
                          <a:srgbClr val="FFFF00"/>
                        </a:highlight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 algn="ctr"/>
                      <a:r>
                        <a:rPr lang="en-US" sz="1400" dirty="0"/>
                        <a:t/>
                      </a:r>
                      <a:endParaRPr lang="ko-KR" altLang="en-US">
                        <a:highlight>
                          <a:srgbClr val="FFFF00"/>
                        </a:highlight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 algn="ctr"/>
                      <a:r>
                        <a:rPr lang="en-US" sz="1400" dirty="0"/>
                        <a:t/>
                      </a:r>
                      <a:endParaRPr lang="ko-KR" altLang="en-US">
                        <a:highlight>
                          <a:srgbClr val="FFFF00"/>
                        </a:highlight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 algn="ctr"/>
                      <a:r>
                        <a:rPr lang="en-US" sz="1400" dirty="0"/>
                        <a:t/>
                      </a:r>
                      <a:endParaRPr lang="ko-KR" altLang="en-US">
                        <a:highlight>
                          <a:srgbClr val="FFFF00"/>
                        </a:highlight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 algn="ctr"/>
                      <a:r>
                        <a:rPr lang="en-US" sz="1400" dirty="0"/>
                        <a:t/>
                      </a:r>
                      <a:endParaRPr lang="ko-KR" altLang="en-US" dirty="0">
                        <a:highlight>
                          <a:srgbClr val="FFFF00"/>
                        </a:highlight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398778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 algn="l"/>
                      <a:r>
                        <a:rPr lang="en-US" sz="1400" dirty="0"/>
                        <a:t>lm</a:t>
                      </a:r>
                      <a:endParaRPr lang="ko-KR" altLang="en-US" dirty="0">
                        <a:highlight>
                          <a:srgbClr val="FFFF00"/>
                        </a:highlight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 algn="ctr"/>
                      <a:r>
                        <a:rPr lang="en-US" sz="1400" dirty="0"/>
                        <a:t/>
                      </a:r>
                      <a:endParaRPr lang="ko-KR" altLang="en-US" dirty="0">
                        <a:highlight>
                          <a:srgbClr val="FFFF00"/>
                        </a:highlight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 algn="ctr"/>
                      <a:r>
                        <a:rPr lang="en-US" sz="1400" dirty="0"/>
                        <a:t/>
                      </a:r>
                      <a:endParaRPr lang="ko-KR" altLang="en-US">
                        <a:highlight>
                          <a:srgbClr val="FFFF00"/>
                        </a:highlight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 algn="ctr"/>
                      <a:r>
                        <a:rPr lang="en-US" sz="1400" dirty="0"/>
                        <a:t/>
                      </a:r>
                      <a:endParaRPr lang="ko-KR" altLang="en-US" dirty="0">
                        <a:highlight>
                          <a:srgbClr val="FFFF00"/>
                        </a:highlight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 algn="ctr"/>
                      <a:r>
                        <a:rPr lang="en-US" sz="1400" dirty="0"/>
                        <a:t/>
                      </a:r>
                      <a:endParaRPr lang="ko-KR" altLang="en-US">
                        <a:highlight>
                          <a:srgbClr val="FFFF00"/>
                        </a:highlight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 algn="ctr"/>
                      <a:r>
                        <a:rPr lang="en-US" sz="1400" dirty="0"/>
                        <a:t/>
                      </a:r>
                      <a:endParaRPr lang="ko-KR" altLang="en-US" dirty="0">
                        <a:highlight>
                          <a:srgbClr val="FFFF00"/>
                        </a:highlight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81619937"/>
                  </a:ext>
                </a:extLst>
              </a:tr>
              <a:tr h="375305">
                <a:tc>
                  <a:txBody>
                    <a:bodyPr/>
                    <a:lstStyle/>
                    <a:p>
                      <a:pPr latinLnBrk="1" algn="l"/>
                      <a:r>
                        <a:rPr lang="en-US" sz="1400" dirty="0"/>
                        <a:t>lasso</a:t>
                      </a:r>
                      <a:endParaRPr lang="ko-KR" altLang="en-US" dirty="0">
                        <a:highlight>
                          <a:srgbClr val="FFFF00"/>
                        </a:highlight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 algn="ctr"/>
                      <a:r>
                        <a:rPr lang="en-US" sz="1400" dirty="0"/>
                        <a:t/>
                      </a:r>
                      <a:endParaRPr lang="ko-KR" altLang="en-US" dirty="0">
                        <a:highlight>
                          <a:srgbClr val="FFFF00"/>
                        </a:highlight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 algn="ctr"/>
                      <a:r>
                        <a:rPr lang="en-US" sz="1400" dirty="0"/>
                        <a:t/>
                      </a:r>
                      <a:endParaRPr lang="ko-KR" altLang="en-US">
                        <a:highlight>
                          <a:srgbClr val="FFFF00"/>
                        </a:highlight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 algn="ctr"/>
                      <a:r>
                        <a:rPr lang="en-US" sz="1400" dirty="0"/>
                        <a:t/>
                      </a:r>
                      <a:endParaRPr lang="ko-KR" altLang="en-US" dirty="0">
                        <a:highlight>
                          <a:srgbClr val="FFFF00"/>
                        </a:highlight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 algn="ctr"/>
                      <a:r>
                        <a:rPr lang="en-US" sz="1400" dirty="0"/>
                        <a:t/>
                      </a:r>
                      <a:endParaRPr lang="ko-KR" altLang="en-US" dirty="0">
                        <a:highlight>
                          <a:srgbClr val="FFFF00"/>
                        </a:highlight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 algn="ctr"/>
                      <a:r>
                        <a:rPr lang="en-US" sz="1400" dirty="0"/>
                        <a:t/>
                      </a:r>
                      <a:endParaRPr lang="ko-KR" altLang="en-US" dirty="0">
                        <a:highlight>
                          <a:srgbClr val="FFFF00"/>
                        </a:highlight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619105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 algn="l"/>
                      <a:r>
                        <a:rPr lang="en-US" sz="1400" dirty="0"/>
                        <a:t>ridge</a:t>
                      </a:r>
                      <a:endParaRPr lang="ko-KR" altLang="en-US" dirty="0">
                        <a:highlight>
                          <a:srgbClr val="FFFF00"/>
                        </a:highlight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 algn="ctr"/>
                      <a:r>
                        <a:rPr lang="en-US" sz="1400" dirty="0"/>
                        <a:t/>
                      </a:r>
                      <a:endParaRPr lang="ko-KR" altLang="en-US" dirty="0">
                        <a:highlight>
                          <a:srgbClr val="FFFF00"/>
                        </a:highlight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 algn="ctr"/>
                      <a:r>
                        <a:rPr lang="en-US" sz="1400" dirty="0"/>
                        <a:t/>
                      </a:r>
                      <a:endParaRPr lang="ko-KR" altLang="en-US" dirty="0">
                        <a:highlight>
                          <a:srgbClr val="FFFF00"/>
                        </a:highlight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 algn="ctr"/>
                      <a:r>
                        <a:rPr lang="en-US" sz="1400" dirty="0"/>
                        <a:t/>
                      </a:r>
                      <a:endParaRPr lang="ko-KR" altLang="en-US">
                        <a:highlight>
                          <a:srgbClr val="FFFF00"/>
                        </a:highlight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 algn="ctr"/>
                      <a:r>
                        <a:rPr lang="en-US" sz="1400" dirty="0"/>
                        <a:t/>
                      </a:r>
                      <a:endParaRPr lang="ko-KR" altLang="en-US">
                        <a:highlight>
                          <a:srgbClr val="FFFF00"/>
                        </a:highlight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 algn="ctr"/>
                      <a:r>
                        <a:rPr lang="en-US" sz="1400" dirty="0"/>
                        <a:t/>
                      </a:r>
                      <a:endParaRPr lang="ko-KR" altLang="en-US" dirty="0">
                        <a:highlight>
                          <a:srgbClr val="FFFF00"/>
                        </a:highlight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08474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 algn="l"/>
                      <a:r>
                        <a:rPr lang="en-US" sz="1400" dirty="0"/>
                        <a:t>glm</a:t>
                      </a:r>
                      <a:endParaRPr lang="ko-KR" altLang="en-US" dirty="0">
                        <a:highlight>
                          <a:srgbClr val="FFFF00"/>
                        </a:highlight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 algn="ctr"/>
                      <a:r>
                        <a:rPr lang="en-US" sz="1400" dirty="0"/>
                        <a:t/>
                      </a:r>
                      <a:endParaRPr lang="ko-KR" altLang="en-US" dirty="0">
                        <a:highlight>
                          <a:srgbClr val="FFFF00"/>
                        </a:highlight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 algn="ctr"/>
                      <a:r>
                        <a:rPr lang="en-US" sz="1400" dirty="0"/>
                        <a:t/>
                      </a:r>
                      <a:endParaRPr lang="ko-KR" altLang="en-US">
                        <a:highlight>
                          <a:srgbClr val="FFFF00"/>
                        </a:highlight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 algn="ctr"/>
                      <a:r>
                        <a:rPr lang="en-US" sz="1400" dirty="0"/>
                        <a:t/>
                      </a:r>
                      <a:endParaRPr lang="ko-KR" altLang="en-US">
                        <a:highlight>
                          <a:srgbClr val="FFFF00"/>
                        </a:highlight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 algn="ctr"/>
                      <a:r>
                        <a:rPr lang="en-US" sz="1400" dirty="0"/>
                        <a:t/>
                      </a:r>
                      <a:endParaRPr lang="ko-KR" altLang="en-US" dirty="0">
                        <a:highlight>
                          <a:srgbClr val="FFFF00"/>
                        </a:highlight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 algn="ctr"/>
                      <a:r>
                        <a:rPr lang="en-US" sz="1400" dirty="0"/>
                        <a:t/>
                      </a:r>
                      <a:endParaRPr lang="ko-KR" altLang="en-US" dirty="0">
                        <a:highlight>
                          <a:srgbClr val="FFFF00"/>
                        </a:highlight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506438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 algn="l"/>
                      <a:r>
                        <a:rPr lang="en-US" sz="1400" dirty="0"/>
                        <a:t>mixed</a:t>
                      </a:r>
                      <a:endParaRPr lang="ko-KR" altLang="en-US" dirty="0">
                        <a:highlight>
                          <a:srgbClr val="FFFF00"/>
                        </a:highlight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 algn="ctr"/>
                      <a:r>
                        <a:rPr lang="en-US" sz="1400" dirty="0"/>
                        <a:t/>
                      </a:r>
                      <a:endParaRPr lang="ko-KR" altLang="en-US" dirty="0">
                        <a:highlight>
                          <a:srgbClr val="FFFF00"/>
                        </a:highlight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 algn="ctr"/>
                      <a:r>
                        <a:rPr lang="en-US" sz="1400" dirty="0"/>
                        <a:t/>
                      </a:r>
                      <a:endParaRPr lang="ko-KR" altLang="en-US">
                        <a:highlight>
                          <a:srgbClr val="FFFF00"/>
                        </a:highlight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 algn="ctr"/>
                      <a:r>
                        <a:rPr lang="en-US" sz="1400" dirty="0"/>
                        <a:t/>
                      </a:r>
                      <a:endParaRPr lang="ko-KR" altLang="en-US" dirty="0">
                        <a:highlight>
                          <a:srgbClr val="FFFF00"/>
                        </a:highlight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 algn="ctr"/>
                      <a:r>
                        <a:rPr lang="en-US" sz="1400" dirty="0"/>
                        <a:t/>
                      </a:r>
                      <a:endParaRPr lang="ko-KR" altLang="en-US">
                        <a:highlight>
                          <a:srgbClr val="FFFF00"/>
                        </a:highlight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 algn="ctr"/>
                      <a:r>
                        <a:rPr lang="en-US" sz="1400" dirty="0"/>
                        <a:t/>
                      </a:r>
                      <a:endParaRPr lang="ko-KR" altLang="en-US" dirty="0">
                        <a:highlight>
                          <a:srgbClr val="FFFF00"/>
                        </a:highlight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835381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lang="en-US" sz="1400" dirty="0"/>
                        <a:t>glmm</a:t>
                      </a:r>
                      <a:endParaRPr lang="ko-KR" altLang="en-US" dirty="0">
                        <a:highlight>
                          <a:srgbClr val="FFFF00"/>
                        </a:highlight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 algn="ctr"/>
                      <a:r>
                        <a:rPr lang="en-US" sz="1400" dirty="0"/>
                        <a:t/>
                      </a:r>
                      <a:endParaRPr lang="ko-KR" altLang="en-US" dirty="0">
                        <a:highlight>
                          <a:srgbClr val="FFFF00"/>
                        </a:highlight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 algn="ctr"/>
                      <a:r>
                        <a:rPr lang="en-US" sz="1400" dirty="0"/>
                        <a:t/>
                      </a:r>
                      <a:endParaRPr lang="ko-KR" altLang="en-US" dirty="0">
                        <a:highlight>
                          <a:srgbClr val="FFFF00"/>
                        </a:highlight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 algn="ctr"/>
                      <a:r>
                        <a:rPr lang="en-US" sz="1400" dirty="0"/>
                        <a:t/>
                      </a:r>
                      <a:endParaRPr lang="ko-KR" altLang="en-US" dirty="0">
                        <a:highlight>
                          <a:srgbClr val="FFFF00"/>
                        </a:highlight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 algn="ctr"/>
                      <a:r>
                        <a:rPr lang="en-US" sz="1400" dirty="0"/>
                        <a:t/>
                      </a:r>
                      <a:endParaRPr lang="ko-KR" altLang="en-US" dirty="0">
                        <a:highlight>
                          <a:srgbClr val="FFFF00"/>
                        </a:highlight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 algn="ctr"/>
                      <a:r>
                        <a:rPr lang="en-US" sz="1400" dirty="0"/>
                        <a:t/>
                      </a:r>
                      <a:endParaRPr lang="ko-KR" altLang="en-US" dirty="0">
                        <a:highlight>
                          <a:srgbClr val="FFFF00"/>
                        </a:highlight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2118276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Combinations of steps: ideal vs this analysis</a:t>
            </a:r>
            <a:endParaRPr lang="en-US" sz="3400" dirty="0"/>
          </a:p>
        </p:txBody>
      </p:sp>
      <p:sp>
        <p:nvSpPr>
          <p:cNvPr id="3" name="Ideal header"/>
          <p:cNvSpPr txBox="1"/>
          <p:nvPr/>
        </p:nvSpPr>
        <p:spPr>
          <a:xfrm>
            <a:off x="548640" y="1371600"/>
            <a:ext cx="53172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tx1"/>
                </a:solidFill>
              </a:rPr>
              <a:t>Ideal</a:t>
            </a:r>
            <a:endParaRPr lang="en-US" sz="2400" dirty="0"/>
          </a:p>
        </p:txBody>
      </p:sp>
      <p:sp>
        <p:nvSpPr>
          <p:cNvPr id="4" name="Text"/>
          <p:cNvSpPr txBox="1"/>
          <p:nvPr/>
        </p:nvSpPr>
        <p:spPr>
          <a:xfrm>
            <a:off x="548640" y="1965960"/>
            <a:ext cx="5317236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Try many combinations of the steps: variable selection (forward / backward, AIC / BIC), transformations, outlier handling, interactions, models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Compare all the combinations with cross validation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Keep the best combination</a:t>
            </a:r>
            <a:endParaRPr lang="en-US" sz="2000" dirty="0"/>
          </a:p>
        </p:txBody>
      </p:sp>
      <p:sp>
        <p:nvSpPr>
          <p:cNvPr id="5" name="This analysis header"/>
          <p:cNvSpPr txBox="1"/>
          <p:nvPr/>
        </p:nvSpPr>
        <p:spPr>
          <a:xfrm>
            <a:off x="6323076" y="1371600"/>
            <a:ext cx="53172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tx1"/>
                </a:solidFill>
              </a:rPr>
              <a:t>This analysis</a:t>
            </a:r>
            <a:endParaRPr lang="en-US" sz="2400" dirty="0"/>
          </a:p>
        </p:txBody>
      </p:sp>
      <p:sp>
        <p:nvSpPr>
          <p:cNvPr id="6" name="Text"/>
          <p:cNvSpPr txBox="1"/>
          <p:nvPr/>
        </p:nvSpPr>
        <p:spPr>
          <a:xfrm>
            <a:off x="6323076" y="1965960"/>
            <a:ext cx="5317236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Limited time: every step was run once, in the order of the previous slides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The candidate models share the same variables, transformations and interactions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Only the candidates are compared, with cross validation; the best one is the final model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Final model</a:t>
            </a:r>
            <a:endParaRPr lang="en-US" sz="3400" dirty="0"/>
          </a:p>
        </p:txBody>
      </p:sp>
      <p:sp>
        <p:nvSpPr>
          <p:cNvPr id="3" name="Plot placeholder"/>
          <p:cNvSpPr txBox="1"/>
          <p:nvPr/>
        </p:nvSpPr>
        <p:spPr>
          <a:xfrm>
            <a:off x="548640" y="1371600"/>
            <a:ext cx="6583680" cy="3291840"/>
          </a:xfrm>
          <a:prstGeom prst="rect">
            <a:avLst/>
          </a:prstGeom>
          <a:solidFill>
            <a:srgbClr val="F2F2F2"/>
          </a:solidFill>
          <a:ln w="15875">
            <a:noFill/>
            <a:prstDash val="dash"/>
          </a:ln>
        </p:spPr>
        <p:txBody>
          <a:bodyPr wrap="square" rtlCol="0" anchor="t" lIns="228600" rIns="228600" tIns="182880">
            <a:noAutofit/>
          </a:bodyPr>
          <a:lstStyle/>
          <a:p>
            <a:pPr marL="0" indent="0">
              <a:spcBef>
                <a:spcPts val="1400"/>
              </a:spcBef>
              <a:buNone/>
            </a:pPr>
            <a:r>
              <a:rPr lang="en-US" sz="2000" dirty="0" b="1"/>
              <a:t>[Model]: [family] family, [link] link</a:t>
            </a:r>
            <a:r>
              <a:rPr lang="en-US" sz="2000" dirty="0"/>
              <a:t xml:space="preserve"> (fitted on the [original / transformed] y)</a:t>
            </a:r>
          </a:p>
          <a:p>
            <a:pPr marL="0" indent="0">
              <a:spcBef>
                <a:spcPts val="1400"/>
              </a:spcBef>
              <a:buNone/>
            </a:pPr>
            <a:r>
              <a:rPr lang="en-US" sz="2000" dirty="0"/>
              <a:t>[target] ~ [family](mean μ)</a:t>
            </a:r>
          </a:p>
          <a:p>
            <a:pPr marL="0" indent="0">
              <a:spcBef>
                <a:spcPts val="1400"/>
              </a:spcBef>
              <a:buNone/>
            </a:pPr>
            <a:r>
              <a:rPr lang="en-US" sz="2000" dirty="0"/>
              <a:t>g(μ) = [x1 + x2 + ... + transformed terms + interactions]</a:t>
            </a:r>
          </a:p>
        </p:txBody>
      </p:sp>
      <p:sp>
        <p:nvSpPr>
          <p:cNvPr id="4" name="Text"/>
          <p:cNvSpPr txBox="1"/>
          <p:nvPr/>
        </p:nvSpPr>
        <p:spPr>
          <a:xfrm>
            <a:off x="7406640" y="1371600"/>
            <a:ext cx="423367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342900" indent="-342900">
              <a:spcBef>
                <a:spcPts val="600"/>
              </a:spcBef>
              <a:buFont typeface="Arial"/>
              <a:buChar char="•"/>
            </a:pPr>
            <a:r>
              <a:rPr lang="en-US" sz="1600" dirty="0" b="1"/>
              <a:t>Left:</a:t>
            </a:r>
            <a:r>
              <a:rPr lang="en-US" sz="1600" dirty="0"/>
              <a:t xml:space="preserve"> model formula ([model], [link] link)</a:t>
            </a:r>
          </a:p>
          <a:p>
            <a:pPr marL="342900" indent="-342900">
              <a:spcBef>
                <a:spcPts val="600"/>
              </a:spcBef>
              <a:buFont typeface="Arial"/>
              <a:buChar char="•"/>
            </a:pPr>
            <a:r>
              <a:rPr lang="en-US" sz="1600" dirty="0" b="1"/>
              <a:t>Variables:</a:t>
            </a:r>
            <a:r>
              <a:rPr lang="en-US" sz="1600" dirty="0"/>
              <a:t xml:space="preserve"> [selected] + [transformations] + [interactions]</a:t>
            </a:r>
          </a:p>
          <a:p>
            <a:pPr marL="342900" indent="-342900">
              <a:spcBef>
                <a:spcPts val="600"/>
              </a:spcBef>
              <a:buFont typeface="Arial"/>
              <a:buChar char="•"/>
            </a:pPr>
            <a:r>
              <a:rPr lang="en-US" sz="1600" dirty="0" b="1"/>
              <a:t>Why [model]:</a:t>
            </a:r>
          </a:p>
          <a:p>
            <a:pPr marL="685800" indent="-285750">
              <a:spcBef>
                <a:spcPts val="300"/>
              </a:spcBef>
              <a:buFont typeface="Arial"/>
              <a:buChar char="–"/>
            </a:pPr>
            <a:r>
              <a:rPr lang="en-US" sz="1600" dirty="0"/>
              <a:t>[reason 1, e.g. matches the variance pattern of the residuals]</a:t>
            </a:r>
          </a:p>
          <a:p>
            <a:pPr marL="685800" indent="-285750">
              <a:spcBef>
                <a:spcPts val="300"/>
              </a:spcBef>
              <a:buFont typeface="Arial"/>
              <a:buChar char="–"/>
            </a:pPr>
            <a:r>
              <a:rPr lang="en-US" sz="1600" dirty="0"/>
              <a:t>[reason 2, e.g. the target is positive and skewed]</a:t>
            </a:r>
          </a:p>
          <a:p>
            <a:pPr marL="685800" indent="-285750">
              <a:spcBef>
                <a:spcPts val="300"/>
              </a:spcBef>
              <a:buFont typeface="Arial"/>
              <a:buChar char="–"/>
            </a:pPr>
            <a:r>
              <a:rPr lang="en-US" sz="1600" dirty="0"/>
              <a:t>[reason 3, e.g. easy to interpret]</a:t>
            </a:r>
          </a:p>
          <a:p>
            <a:pPr marL="685800" indent="-285750">
              <a:spcBef>
                <a:spcPts val="300"/>
              </a:spcBef>
              <a:buFont typeface="Arial"/>
              <a:buChar char="–"/>
            </a:pPr>
            <a:r>
              <a:rPr lang="en-US" sz="1600" dirty="0"/>
              <a:t>[smallest cross-validated RMSE among the candidates, only if true]</a:t>
            </a:r>
          </a:p>
          <a:p>
            <a:pPr marL="342900" indent="-342900">
              <a:spcBef>
                <a:spcPts val="600"/>
              </a:spcBef>
              <a:buFont typeface="Arial"/>
              <a:buChar char="•"/>
            </a:pPr>
            <a:r>
              <a:rPr lang="en-US" sz="1600" dirty="0" b="1"/>
              <a:t>Cross validation:</a:t>
            </a:r>
            <a:r>
              <a:rPr lang="en-US" sz="1600" dirty="0"/>
              <a:t xml:space="preserve"> RMSE [value] vs baseline [value]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Final model: interpreting a coefficient</a:t>
            </a:r>
            <a:endParaRPr lang="en-US" sz="3400" dirty="0"/>
          </a:p>
        </p:txBody>
      </p:sp>
      <p:sp>
        <p:nvSpPr>
          <p:cNvPr id="3" name="Plot placeholder"/>
          <p:cNvSpPr txBox="1"/>
          <p:nvPr/>
        </p:nvSpPr>
        <p:spPr>
          <a:xfrm>
            <a:off x="548640" y="1371600"/>
            <a:ext cx="6583680" cy="3291840"/>
          </a:xfrm>
          <a:prstGeom prst="rect">
            <a:avLst/>
          </a:prstGeom>
          <a:solidFill>
            <a:srgbClr val="F2F2F2"/>
          </a:solidFill>
          <a:ln w="15875">
            <a:noFill/>
            <a:prstDash val="dash"/>
          </a:ln>
        </p:spPr>
        <p:txBody>
          <a:bodyPr wrap="square" rtlCol="0" anchor="t" lIns="228600" rIns="228600" tIns="182880">
            <a:noAutofit/>
          </a:bodyPr>
          <a:lstStyle/>
          <a:p>
            <a:pPr marL="0" indent="0">
              <a:spcBef>
                <a:spcPts val="1400"/>
              </a:spcBef>
              <a:buNone/>
            </a:pPr>
            <a:r>
              <a:rPr lang="en-US" sz="2000" dirty="0" b="1"/>
              <a:t>[Model], [link] link</a:t>
            </a:r>
          </a:p>
          <a:p>
            <a:pPr marL="0" indent="0">
              <a:spcBef>
                <a:spcPts val="1400"/>
              </a:spcBef>
              <a:buNone/>
            </a:pPr>
            <a:r>
              <a:rPr lang="en-US" sz="2000" dirty="0"/>
              <a:t>g(μ) = β₀ + β₁X₁ + β₂X₂ + …</a:t>
            </a:r>
          </a:p>
          <a:p>
            <a:pPr marL="0" indent="0">
              <a:spcBef>
                <a:spcPts val="1400"/>
              </a:spcBef>
              <a:buNone/>
            </a:pPr>
            <a:r>
              <a:rPr lang="en-US" sz="2000" dirty="0"/>
              <a:t>μ = expected [target],   X₁ = [first variable]</a:t>
            </a:r>
          </a:p>
          <a:p>
            <a:pPr marL="0" indent="0">
              <a:spcBef>
                <a:spcPts val="1400"/>
              </a:spcBef>
              <a:buNone/>
            </a:pPr>
            <a:r>
              <a:rPr lang="en-US" sz="2000" dirty="0" b="1"/>
              <a:t>Interaction in the model:</a:t>
            </a:r>
            <a:r>
              <a:rPr lang="en-US" sz="2000" dirty="0"/>
              <a:t xml:space="preserve"> [a × b]  (only if X₁ is part of it)</a:t>
            </a:r>
          </a:p>
        </p:txBody>
      </p:sp>
      <p:sp>
        <p:nvSpPr>
          <p:cNvPr id="4" name="Text"/>
          <p:cNvSpPr txBox="1"/>
          <p:nvPr/>
        </p:nvSpPr>
        <p:spPr>
          <a:xfrm>
            <a:off x="7406640" y="1371600"/>
            <a:ext cx="423367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342900" indent="-342900">
              <a:spcBef>
                <a:spcPts val="600"/>
              </a:spcBef>
              <a:buFont typeface="Arial"/>
              <a:buChar char="•"/>
            </a:pPr>
            <a:r>
              <a:rPr lang="en-US" sz="1800" dirty="0" b="1"/>
              <a:t>Left:</a:t>
            </a:r>
            <a:r>
              <a:rPr lang="en-US" sz="1800" dirty="0"/>
              <a:t xml:space="preserve"> the final model in symbols</a:t>
            </a:r>
          </a:p>
          <a:p>
            <a:pPr marL="342900" indent="-342900">
              <a:spcBef>
                <a:spcPts val="600"/>
              </a:spcBef>
              <a:buFont typeface="Arial"/>
              <a:buChar char="•"/>
            </a:pPr>
            <a:r>
              <a:rPr lang="en-US" sz="1800" dirty="0" b="1"/>
              <a:t>Reading β₁:</a:t>
            </a:r>
          </a:p>
          <a:p>
            <a:pPr marL="685800" indent="-285750">
              <a:spcBef>
                <a:spcPts val="300"/>
              </a:spcBef>
              <a:buFont typeface="Arial"/>
              <a:buChar char="–"/>
            </a:pPr>
            <a:r>
              <a:rPr lang="en-US" sz="1800" dirty="0"/>
              <a:t>X₁ increases by 1 unit → [g(expected TARGET), e.g. log(expected TARGET)] increases by β̂₁ (other variables fixed)</a:t>
            </a:r>
          </a:p>
          <a:p>
            <a:pPr marL="685800" indent="-285750">
              <a:spcBef>
                <a:spcPts val="300"/>
              </a:spcBef>
              <a:buFont typeface="Arial"/>
              <a:buChar char="–"/>
            </a:pPr>
            <a:r>
              <a:rPr lang="en-US" sz="2200" dirty="0"/>
              <a:t>that is, the expected TARGET is multiplied by e</a:t>
            </a:r>
            <a:r>
              <a:rPr lang="en-US" sz="2200" dirty="0" baseline="30000"/>
              <a:t>β̂1</a:t>
            </a:r>
            <a:r>
              <a:rPr lang="en-US" sz="2200" dirty="0"/>
              <a:t xml:space="preserve">  (log link)</a:t>
            </a:r>
          </a:p>
          <a:p>
            <a:pPr marL="342900" indent="-342900">
              <a:spcBef>
                <a:spcPts val="600"/>
              </a:spcBef>
              <a:buFont typeface="Arial"/>
              <a:buChar char="•"/>
            </a:pPr>
            <a:r>
              <a:rPr lang="en-US" sz="1800" dirty="0" b="1"/>
              <a:t>Interaction:</a:t>
            </a:r>
            <a:r>
              <a:rPr lang="en-US" sz="1800" dirty="0"/>
              <a:t xml:space="preserve"> [if X₁ is also in a × b, the factor depends on b:]</a:t>
            </a:r>
          </a:p>
          <a:p>
            <a:pPr marL="685800" indent="-285750">
              <a:spcBef>
                <a:spcPts val="300"/>
              </a:spcBef>
              <a:buFont typeface="Arial"/>
              <a:buChar char="–"/>
            </a:pPr>
            <a:r>
              <a:rPr lang="en-US" sz="1800" dirty="0"/>
              <a:t>factor = exp(β̂₁ + β̂_int × [b])</a:t>
            </a:r>
          </a:p>
          <a:p>
            <a:pPr marL="342900" indent="-342900">
              <a:spcBef>
                <a:spcPts val="600"/>
              </a:spcBef>
              <a:buFont typeface="Arial"/>
              <a:buChar char="•"/>
            </a:pPr>
            <a:r>
              <a:rPr lang="en-US" sz="1800" dirty="0" b="1"/>
              <a:t>Example:</a:t>
            </a:r>
            <a:r>
              <a:rPr lang="en-US" sz="1800" dirty="0"/>
              <a:t xml:space="preserve"> at [b] = [value], the factor is [__]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24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Final test on the holdout</a:t>
            </a:r>
            <a:endParaRPr lang="en-US" sz="3400" dirty="0"/>
          </a:p>
        </p:txBody>
      </p:sp>
      <p:sp>
        <p:nvSpPr>
          <p:cNvPr id="3" name="Plot placeholder 1"/>
          <p:cNvSpPr txBox="1"/>
          <p:nvPr/>
        </p:nvSpPr>
        <p:spPr>
          <a:xfrm>
            <a:off x="548640" y="1371600"/>
            <a:ext cx="5408676" cy="3017520"/>
          </a:xfrm>
          <a:prstGeom prst="rect">
            <a:avLst/>
          </a:prstGeom>
          <a:solidFill>
            <a:schemeClr val="bg1"/>
          </a:solidFill>
          <a:ln w="15875">
            <a:solidFill>
              <a:schemeClr val="accent2"/>
            </a:solidFill>
            <a:prstDash val="dash"/>
          </a:ln>
        </p:spPr>
        <p:txBody>
          <a:bodyPr wrap="square" rtlCol="0" anchor="ctr">
            <a:noAutofit/>
          </a:bodyPr>
          <a:lstStyle/>
          <a:p>
            <a:pPr marL="0" indent="0" algn="ctr">
              <a:spcBef>
                <a:spcPts val="600"/>
              </a:spcBef>
              <a:buNone/>
            </a:pPr>
            <a:r>
              <a:rPr lang="en-US" sz="1400" dirty="0">
                <a:solidFill>
                  <a:srgbClr val="7F7F7F"/>
                </a:solidFill>
              </a:rPr>
              <a:t>Holdout score table: paste here</a:t>
            </a:r>
          </a:p>
        </p:txBody>
      </p:sp>
      <p:sp>
        <p:nvSpPr>
          <p:cNvPr id="4" name="Plot placeholder 2"/>
          <p:cNvSpPr txBox="1"/>
          <p:nvPr/>
        </p:nvSpPr>
        <p:spPr>
          <a:xfrm>
            <a:off x="6231636" y="1371600"/>
            <a:ext cx="5408676" cy="3017520"/>
          </a:xfrm>
          <a:prstGeom prst="rect">
            <a:avLst/>
          </a:prstGeom>
          <a:solidFill>
            <a:schemeClr val="bg1"/>
          </a:solidFill>
          <a:ln w="15875">
            <a:solidFill>
              <a:schemeClr val="accent2"/>
            </a:solidFill>
            <a:prstDash val="dash"/>
          </a:ln>
        </p:spPr>
        <p:txBody>
          <a:bodyPr wrap="square" rtlCol="0" anchor="ctr">
            <a:noAutofit/>
          </a:bodyPr>
          <a:lstStyle/>
          <a:p>
            <a:pPr marL="0" indent="0" algn="ctr">
              <a:spcBef>
                <a:spcPts val="600"/>
              </a:spcBef>
              <a:buNone/>
            </a:pPr>
            <a:r>
              <a:rPr lang="en-US" sz="1400" dirty="0">
                <a:solidFill>
                  <a:srgbClr val="7F7F7F"/>
                </a:solidFill>
              </a:rPr>
              <a:t>Actual vs predicted: paste here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548640" y="4572000"/>
            <a:ext cx="11091672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342900" indent="-342900">
              <a:spcBef>
                <a:spcPts val="400"/>
              </a:spcBef>
              <a:buFont typeface="Arial"/>
              <a:buChar char="•"/>
            </a:pPr>
            <a:r>
              <a:rPr lang="en-US" sz="1600" dirty="0" b="1"/>
              <a:t>Left:</a:t>
            </a:r>
            <a:r>
              <a:rPr lang="en-US" sz="1600" dirty="0"/>
              <a:t xml:space="preserve"> holdout score table of the models (scores computed on the holdout)</a:t>
            </a:r>
          </a:p>
          <a:p>
            <a:pPr marL="342900" indent="-342900">
              <a:spcBef>
                <a:spcPts val="400"/>
              </a:spcBef>
              <a:buFont typeface="Arial"/>
              <a:buChar char="•"/>
            </a:pPr>
            <a:r>
              <a:rPr lang="en-US" sz="1600" dirty="0" b="1"/>
              <a:t>Right:</a:t>
            </a:r>
            <a:r>
              <a:rPr lang="en-US" sz="1600" dirty="0"/>
              <a:t xml:space="preserve"> actual vs predicted of the final model on the holdout (points near the diagonal = good)</a:t>
            </a:r>
          </a:p>
          <a:p>
            <a:pPr marL="342900" indent="-342900">
              <a:spcBef>
                <a:spcPts val="400"/>
              </a:spcBef>
              <a:buFont typeface="Arial"/>
              <a:buChar char="•"/>
            </a:pPr>
            <a:r>
              <a:rPr lang="en-US" sz="1600" dirty="0" b="1"/>
              <a:t>Result:</a:t>
            </a:r>
            <a:r>
              <a:rPr lang="en-US" sz="1600" dirty="0"/>
              <a:t xml:space="preserve"> [model], RMSE [value] on the holdout (baseline [value], cross validation [value])</a:t>
            </a:r>
          </a:p>
          <a:p>
            <a:pPr marL="342900" indent="-342900">
              <a:spcBef>
                <a:spcPts val="400"/>
              </a:spcBef>
              <a:buFont typeface="Arial"/>
              <a:buChar char="•"/>
            </a:pPr>
            <a:r>
              <a:rPr lang="en-US" sz="1600" dirty="0" b="1"/>
              <a:t>Compared with cross validation:</a:t>
            </a:r>
            <a:r>
              <a:rPr lang="en-US" sz="1600" dirty="0"/>
              <a:t xml:space="preserve"> [similar / worse] because [reason]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25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Conclusion</a:t>
            </a:r>
            <a:endParaRPr lang="en-US" sz="3400" dirty="0"/>
          </a:p>
        </p:txBody>
      </p:sp>
      <p:sp>
        <p:nvSpPr>
          <p:cNvPr id="3" name="Findings header"/>
          <p:cNvSpPr txBox="1"/>
          <p:nvPr/>
        </p:nvSpPr>
        <p:spPr>
          <a:xfrm>
            <a:off x="548640" y="1463040"/>
            <a:ext cx="3514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tx1"/>
                </a:solidFill>
              </a:rPr>
              <a:t>Findings</a:t>
            </a:r>
            <a:endParaRPr lang="en-US" sz="2400" dirty="0"/>
          </a:p>
        </p:txBody>
      </p:sp>
      <p:sp>
        <p:nvSpPr>
          <p:cNvPr id="4" name="Text"/>
          <p:cNvSpPr txBox="1"/>
          <p:nvPr/>
        </p:nvSpPr>
        <p:spPr>
          <a:xfrm>
            <a:off x="548640" y="2011680"/>
            <a:ext cx="3511296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342900" indent="-342900">
              <a:spcBef>
                <a:spcPts val="1000"/>
              </a:spcBef>
              <a:buFont typeface="Arial"/>
              <a:buChar char="•"/>
            </a:pPr>
            <a:r>
              <a:rPr lang="en-US" sz="1800" dirty="0"/>
              <a:t>[main finding 1]</a:t>
            </a:r>
          </a:p>
          <a:p>
            <a:pPr marL="342900" indent="-342900">
              <a:spcBef>
                <a:spcPts val="1000"/>
              </a:spcBef>
              <a:buFont typeface="Arial"/>
              <a:buChar char="•"/>
            </a:pPr>
            <a:r>
              <a:rPr lang="en-US" sz="1800" dirty="0"/>
              <a:t>[main finding 2]</a:t>
            </a:r>
          </a:p>
          <a:p>
            <a:pPr marL="342900" indent="-342900">
              <a:spcBef>
                <a:spcPts val="1000"/>
              </a:spcBef>
              <a:buFont typeface="Arial"/>
              <a:buChar char="•"/>
            </a:pPr>
            <a:r>
              <a:rPr lang="en-US" sz="1800" dirty="0"/>
              <a:t>[main finding 3]</a:t>
            </a:r>
          </a:p>
        </p:txBody>
      </p:sp>
      <p:sp>
        <p:nvSpPr>
          <p:cNvPr id="5" name="Limitations header"/>
          <p:cNvSpPr txBox="1"/>
          <p:nvPr/>
        </p:nvSpPr>
        <p:spPr>
          <a:xfrm>
            <a:off x="4337304" y="1463040"/>
            <a:ext cx="3514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tx1"/>
                </a:solidFill>
              </a:rPr>
              <a:t>Limitations</a:t>
            </a:r>
            <a:endParaRPr lang="en-US" sz="2400" dirty="0"/>
          </a:p>
        </p:txBody>
      </p:sp>
      <p:sp>
        <p:nvSpPr>
          <p:cNvPr id="6" name="Text"/>
          <p:cNvSpPr txBox="1"/>
          <p:nvPr/>
        </p:nvSpPr>
        <p:spPr>
          <a:xfrm>
            <a:off x="4337304" y="2011680"/>
            <a:ext cx="3511296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342900" indent="-342900">
              <a:spcBef>
                <a:spcPts val="1000"/>
              </a:spcBef>
              <a:buFont typeface="Arial"/>
              <a:buChar char="•"/>
            </a:pPr>
            <a:r>
              <a:rPr lang="en-US" sz="1800" dirty="0"/>
              <a:t>[limitation 1]</a:t>
            </a:r>
          </a:p>
          <a:p>
            <a:pPr marL="342900" indent="-342900">
              <a:spcBef>
                <a:spcPts val="1000"/>
              </a:spcBef>
              <a:buFont typeface="Arial"/>
              <a:buChar char="•"/>
            </a:pPr>
            <a:r>
              <a:rPr lang="en-US" sz="1800" dirty="0"/>
              <a:t>[limitation 2]</a:t>
            </a:r>
          </a:p>
          <a:p>
            <a:pPr marL="342900" indent="-342900">
              <a:spcBef>
                <a:spcPts val="1000"/>
              </a:spcBef>
              <a:buFont typeface="Arial"/>
              <a:buChar char="•"/>
            </a:pPr>
            <a:r>
              <a:rPr lang="en-US" sz="1800" dirty="0"/>
              <a:t>[limitation 3]</a:t>
            </a:r>
          </a:p>
        </p:txBody>
      </p:sp>
      <p:sp>
        <p:nvSpPr>
          <p:cNvPr id="7" name="Next steps header"/>
          <p:cNvSpPr txBox="1"/>
          <p:nvPr/>
        </p:nvSpPr>
        <p:spPr>
          <a:xfrm>
            <a:off x="8125968" y="1463040"/>
            <a:ext cx="3514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tx1"/>
                </a:solidFill>
              </a:rPr>
              <a:t>Next steps</a:t>
            </a:r>
            <a:endParaRPr lang="en-US" sz="2400" dirty="0"/>
          </a:p>
        </p:txBody>
      </p:sp>
      <p:sp>
        <p:nvSpPr>
          <p:cNvPr id="8" name="Text"/>
          <p:cNvSpPr txBox="1"/>
          <p:nvPr/>
        </p:nvSpPr>
        <p:spPr>
          <a:xfrm>
            <a:off x="8125968" y="2011680"/>
            <a:ext cx="3511296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342900" indent="-342900">
              <a:spcBef>
                <a:spcPts val="1000"/>
              </a:spcBef>
              <a:buFont typeface="Arial"/>
              <a:buChar char="•"/>
            </a:pPr>
            <a:r>
              <a:rPr lang="en-US" sz="1800" dirty="0"/>
              <a:t>[next step 1]</a:t>
            </a:r>
          </a:p>
          <a:p>
            <a:pPr marL="342900" indent="-342900">
              <a:spcBef>
                <a:spcPts val="1000"/>
              </a:spcBef>
              <a:buFont typeface="Arial"/>
              <a:buChar char="•"/>
            </a:pPr>
            <a:r>
              <a:rPr lang="en-US" sz="1800" dirty="0"/>
              <a:t>[next step 2]</a:t>
            </a:r>
          </a:p>
          <a:p>
            <a:pPr marL="342900" indent="-342900">
              <a:spcBef>
                <a:spcPts val="1000"/>
              </a:spcBef>
              <a:buFont typeface="Arial"/>
              <a:buChar char="•"/>
            </a:pPr>
            <a:r>
              <a:rPr lang="en-US" sz="1800" dirty="0"/>
              <a:t>[next step 3]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26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Holdout split: not time series</a:t>
            </a:r>
            <a:endParaRPr lang="en-US" sz="3400" dirty="0"/>
          </a:p>
        </p:txBody>
      </p:sp>
      <p:sp>
        <p:nvSpPr>
          <p:cNvPr id="3" name="development box"/>
          <p:cNvSpPr txBox="1"/>
          <p:nvPr/>
        </p:nvSpPr>
        <p:spPr>
          <a:xfrm>
            <a:off x="548640" y="1554480"/>
            <a:ext cx="8873338" cy="9144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1"/>
                </a:solidFill>
              </a:rPr>
              <a:t>development: random 80% of the rows</a:t>
            </a:r>
            <a:endParaRPr lang="en-US" sz="2000" dirty="0"/>
          </a:p>
        </p:txBody>
      </p:sp>
      <p:sp>
        <p:nvSpPr>
          <p:cNvPr id="4" name="holdout box"/>
          <p:cNvSpPr txBox="1"/>
          <p:nvPr/>
        </p:nvSpPr>
        <p:spPr>
          <a:xfrm>
            <a:off x="9421978" y="1554480"/>
            <a:ext cx="2218334" cy="9144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1"/>
                </a:solidFill>
              </a:rPr>
              <a:t>holdout: random 20%</a:t>
            </a:r>
            <a:endParaRPr lang="en-US" sz="2000" dirty="0"/>
          </a:p>
        </p:txBody>
      </p:sp>
      <p:sp>
        <p:nvSpPr>
          <p:cNvPr id="7" name="Text"/>
          <p:cNvSpPr txBox="1"/>
          <p:nvPr/>
        </p:nvSpPr>
        <p:spPr>
          <a:xfrm>
            <a:off x="548640" y="3566160"/>
            <a:ext cx="1109167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342900" indent="-342900">
              <a:spcBef>
                <a:spcPts val="600"/>
              </a:spcBef>
              <a:buFont typeface="Arial"/>
              <a:buChar char="•"/>
            </a:pPr>
            <a:r>
              <a:rPr lang="en-US" sz="1800" dirty="0" b="1"/>
              <a:t>Random split:</a:t>
            </a:r>
            <a:r>
              <a:rPr lang="en-US" sz="1800" dirty="0"/>
              <a:t xml:space="preserve"> 80% of the rows are development, 20% are the holdout (fixed seed, so it can be repeated)</a:t>
            </a:r>
          </a:p>
          <a:p>
            <a:pPr marL="342900" indent="-342900">
              <a:spcBef>
                <a:spcPts val="600"/>
              </a:spcBef>
              <a:buFont typeface="Arial"/>
              <a:buChar char="•"/>
            </a:pPr>
            <a:r>
              <a:rPr lang="en-US" sz="1800" dirty="0" b="1"/>
              <a:t>development:</a:t>
            </a:r>
            <a:r>
              <a:rPr lang="en-US" sz="1800" dirty="0"/>
              <a:t xml:space="preserve"> [n] rows</a:t>
            </a:r>
          </a:p>
          <a:p>
            <a:pPr marL="342900" indent="-342900">
              <a:spcBef>
                <a:spcPts val="600"/>
              </a:spcBef>
              <a:buFont typeface="Arial"/>
              <a:buChar char="•"/>
            </a:pPr>
            <a:r>
              <a:rPr lang="en-US" sz="1800" dirty="0" b="1"/>
              <a:t>holdout:</a:t>
            </a:r>
            <a:r>
              <a:rPr lang="en-US" sz="1800" dirty="0"/>
              <a:t xml:space="preserve"> [n] rows</a:t>
            </a:r>
          </a:p>
          <a:p>
            <a:pPr marL="342900" indent="-342900">
              <a:spcBef>
                <a:spcPts val="600"/>
              </a:spcBef>
              <a:buFont typeface="Arial"/>
              <a:buChar char="•"/>
            </a:pPr>
            <a:r>
              <a:rPr lang="en-US" sz="1800" dirty="0"/>
              <a:t>Rows used to choose variables and models are never used to test them</a:t>
            </a:r>
          </a:p>
          <a:p>
            <a:pPr marL="342900" indent="-342900">
              <a:spcBef>
                <a:spcPts val="600"/>
              </a:spcBef>
              <a:buFont typeface="Arial"/>
              <a:buChar char="•"/>
            </a:pPr>
            <a:r>
              <a:rPr lang="en-US" sz="1800" dirty="0"/>
              <a:t>The holdout is not used until the final test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Cross validation: K-fold (not time series)</a:t>
            </a:r>
            <a:endParaRPr lang="en-US" sz="3400" dirty="0"/>
          </a:p>
        </p:txBody>
      </p:sp>
      <p:sp>
        <p:nvSpPr>
          <p:cNvPr id="3" name="fold 1-1"/>
          <p:cNvSpPr txBox="1"/>
          <p:nvPr/>
        </p:nvSpPr>
        <p:spPr>
          <a:xfrm>
            <a:off x="2011680" y="1463040"/>
            <a:ext cx="1188720" cy="50292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test</a:t>
            </a:r>
            <a:endParaRPr lang="en-US" sz="1600" dirty="0"/>
          </a:p>
        </p:txBody>
      </p:sp>
      <p:sp>
        <p:nvSpPr>
          <p:cNvPr id="4" name="fold 1-2"/>
          <p:cNvSpPr txBox="1"/>
          <p:nvPr/>
        </p:nvSpPr>
        <p:spPr>
          <a:xfrm>
            <a:off x="3291840" y="1463040"/>
            <a:ext cx="1188720" cy="50292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tx1"/>
                </a:solidFill>
              </a:rPr>
              <a:t>train</a:t>
            </a:r>
            <a:endParaRPr lang="en-US" sz="1600" dirty="0"/>
          </a:p>
        </p:txBody>
      </p:sp>
      <p:sp>
        <p:nvSpPr>
          <p:cNvPr id="5" name="fold 1-3"/>
          <p:cNvSpPr txBox="1"/>
          <p:nvPr/>
        </p:nvSpPr>
        <p:spPr>
          <a:xfrm>
            <a:off x="4572000" y="1463040"/>
            <a:ext cx="1188720" cy="50292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tx1"/>
                </a:solidFill>
              </a:rPr>
              <a:t>train</a:t>
            </a:r>
            <a:endParaRPr lang="en-US" sz="1600" dirty="0"/>
          </a:p>
        </p:txBody>
      </p:sp>
      <p:sp>
        <p:nvSpPr>
          <p:cNvPr id="6" name="fold 1-4"/>
          <p:cNvSpPr txBox="1"/>
          <p:nvPr/>
        </p:nvSpPr>
        <p:spPr>
          <a:xfrm>
            <a:off x="5852160" y="1463040"/>
            <a:ext cx="1188720" cy="50292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tx1"/>
                </a:solidFill>
              </a:rPr>
              <a:t>train</a:t>
            </a:r>
            <a:endParaRPr lang="en-US" sz="1600" dirty="0"/>
          </a:p>
        </p:txBody>
      </p:sp>
      <p:sp>
        <p:nvSpPr>
          <p:cNvPr id="7" name="fold 1-5"/>
          <p:cNvSpPr txBox="1"/>
          <p:nvPr/>
        </p:nvSpPr>
        <p:spPr>
          <a:xfrm>
            <a:off x="7132320" y="1463040"/>
            <a:ext cx="1188720" cy="50292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tx1"/>
                </a:solidFill>
              </a:rPr>
              <a:t>train</a:t>
            </a:r>
            <a:endParaRPr lang="en-US" sz="1600" dirty="0"/>
          </a:p>
        </p:txBody>
      </p:sp>
      <p:sp>
        <p:nvSpPr>
          <p:cNvPr id="8" name="round label 1"/>
          <p:cNvSpPr txBox="1"/>
          <p:nvPr/>
        </p:nvSpPr>
        <p:spPr>
          <a:xfrm>
            <a:off x="8503920" y="146304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round 1</a:t>
            </a:r>
            <a:endParaRPr lang="en-US" sz="1600" dirty="0"/>
          </a:p>
        </p:txBody>
      </p:sp>
      <p:sp>
        <p:nvSpPr>
          <p:cNvPr id="9" name="fold 2-1"/>
          <p:cNvSpPr txBox="1"/>
          <p:nvPr/>
        </p:nvSpPr>
        <p:spPr>
          <a:xfrm>
            <a:off x="2011680" y="2148840"/>
            <a:ext cx="1188720" cy="50292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tx1"/>
                </a:solidFill>
              </a:rPr>
              <a:t>train</a:t>
            </a:r>
            <a:endParaRPr lang="en-US" sz="1600" dirty="0"/>
          </a:p>
        </p:txBody>
      </p:sp>
      <p:sp>
        <p:nvSpPr>
          <p:cNvPr id="10" name="fold 2-2"/>
          <p:cNvSpPr txBox="1"/>
          <p:nvPr/>
        </p:nvSpPr>
        <p:spPr>
          <a:xfrm>
            <a:off x="3291840" y="2148840"/>
            <a:ext cx="1188720" cy="50292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test</a:t>
            </a:r>
            <a:endParaRPr lang="en-US" sz="1600" dirty="0"/>
          </a:p>
        </p:txBody>
      </p:sp>
      <p:sp>
        <p:nvSpPr>
          <p:cNvPr id="11" name="fold 2-3"/>
          <p:cNvSpPr txBox="1"/>
          <p:nvPr/>
        </p:nvSpPr>
        <p:spPr>
          <a:xfrm>
            <a:off x="4572000" y="2148840"/>
            <a:ext cx="1188720" cy="50292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tx1"/>
                </a:solidFill>
              </a:rPr>
              <a:t>train</a:t>
            </a:r>
            <a:endParaRPr lang="en-US" sz="1600" dirty="0"/>
          </a:p>
        </p:txBody>
      </p:sp>
      <p:sp>
        <p:nvSpPr>
          <p:cNvPr id="12" name="fold 2-4"/>
          <p:cNvSpPr txBox="1"/>
          <p:nvPr/>
        </p:nvSpPr>
        <p:spPr>
          <a:xfrm>
            <a:off x="5852160" y="2148840"/>
            <a:ext cx="1188720" cy="50292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tx1"/>
                </a:solidFill>
              </a:rPr>
              <a:t>train</a:t>
            </a:r>
            <a:endParaRPr lang="en-US" sz="1600" dirty="0"/>
          </a:p>
        </p:txBody>
      </p:sp>
      <p:sp>
        <p:nvSpPr>
          <p:cNvPr id="13" name="fold 2-5"/>
          <p:cNvSpPr txBox="1"/>
          <p:nvPr/>
        </p:nvSpPr>
        <p:spPr>
          <a:xfrm>
            <a:off x="7132320" y="2148840"/>
            <a:ext cx="1188720" cy="50292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tx1"/>
                </a:solidFill>
              </a:rPr>
              <a:t>train</a:t>
            </a:r>
            <a:endParaRPr lang="en-US" sz="1600" dirty="0"/>
          </a:p>
        </p:txBody>
      </p:sp>
      <p:sp>
        <p:nvSpPr>
          <p:cNvPr id="14" name="round label 2"/>
          <p:cNvSpPr txBox="1"/>
          <p:nvPr/>
        </p:nvSpPr>
        <p:spPr>
          <a:xfrm>
            <a:off x="8503920" y="214884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round 2</a:t>
            </a:r>
            <a:endParaRPr lang="en-US" sz="1600" dirty="0"/>
          </a:p>
        </p:txBody>
      </p:sp>
      <p:sp>
        <p:nvSpPr>
          <p:cNvPr id="15" name="fold 3-1"/>
          <p:cNvSpPr txBox="1"/>
          <p:nvPr/>
        </p:nvSpPr>
        <p:spPr>
          <a:xfrm>
            <a:off x="2011680" y="2834640"/>
            <a:ext cx="1188720" cy="50292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tx1"/>
                </a:solidFill>
              </a:rPr>
              <a:t>train</a:t>
            </a:r>
            <a:endParaRPr lang="en-US" sz="1600" dirty="0"/>
          </a:p>
        </p:txBody>
      </p:sp>
      <p:sp>
        <p:nvSpPr>
          <p:cNvPr id="16" name="fold 3-2"/>
          <p:cNvSpPr txBox="1"/>
          <p:nvPr/>
        </p:nvSpPr>
        <p:spPr>
          <a:xfrm>
            <a:off x="3291840" y="2834640"/>
            <a:ext cx="1188720" cy="50292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tx1"/>
                </a:solidFill>
              </a:rPr>
              <a:t>train</a:t>
            </a:r>
            <a:endParaRPr lang="en-US" sz="1600" dirty="0"/>
          </a:p>
        </p:txBody>
      </p:sp>
      <p:sp>
        <p:nvSpPr>
          <p:cNvPr id="17" name="fold 3-3"/>
          <p:cNvSpPr txBox="1"/>
          <p:nvPr/>
        </p:nvSpPr>
        <p:spPr>
          <a:xfrm>
            <a:off x="4572000" y="2834640"/>
            <a:ext cx="1188720" cy="50292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test</a:t>
            </a:r>
            <a:endParaRPr lang="en-US" sz="1600" dirty="0"/>
          </a:p>
        </p:txBody>
      </p:sp>
      <p:sp>
        <p:nvSpPr>
          <p:cNvPr id="18" name="fold 3-4"/>
          <p:cNvSpPr txBox="1"/>
          <p:nvPr/>
        </p:nvSpPr>
        <p:spPr>
          <a:xfrm>
            <a:off x="5852160" y="2834640"/>
            <a:ext cx="1188720" cy="50292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tx1"/>
                </a:solidFill>
              </a:rPr>
              <a:t>train</a:t>
            </a:r>
            <a:endParaRPr lang="en-US" sz="1600" dirty="0"/>
          </a:p>
        </p:txBody>
      </p:sp>
      <p:sp>
        <p:nvSpPr>
          <p:cNvPr id="19" name="fold 3-5"/>
          <p:cNvSpPr txBox="1"/>
          <p:nvPr/>
        </p:nvSpPr>
        <p:spPr>
          <a:xfrm>
            <a:off x="7132320" y="2834640"/>
            <a:ext cx="1188720" cy="50292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tx1"/>
                </a:solidFill>
              </a:rPr>
              <a:t>train</a:t>
            </a:r>
            <a:endParaRPr lang="en-US" sz="1600" dirty="0"/>
          </a:p>
        </p:txBody>
      </p:sp>
      <p:sp>
        <p:nvSpPr>
          <p:cNvPr id="20" name="round label 3"/>
          <p:cNvSpPr txBox="1"/>
          <p:nvPr/>
        </p:nvSpPr>
        <p:spPr>
          <a:xfrm>
            <a:off x="8503920" y="283464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round 3</a:t>
            </a:r>
            <a:endParaRPr lang="en-US" sz="1600" dirty="0"/>
          </a:p>
        </p:txBody>
      </p:sp>
      <p:sp>
        <p:nvSpPr>
          <p:cNvPr id="21" name="More rounds"/>
          <p:cNvSpPr txBox="1"/>
          <p:nvPr/>
        </p:nvSpPr>
        <p:spPr>
          <a:xfrm>
            <a:off x="4572000" y="35204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chemeClr val="tx1"/>
                </a:solidFill>
              </a:rPr>
              <a:t>...</a:t>
            </a:r>
            <a:endParaRPr lang="en-US" sz="2400" dirty="0"/>
          </a:p>
        </p:txBody>
      </p:sp>
      <p:sp>
        <p:nvSpPr>
          <p:cNvPr id="22" name="Text"/>
          <p:cNvSpPr txBox="1"/>
          <p:nvPr/>
        </p:nvSpPr>
        <p:spPr>
          <a:xfrm>
            <a:off x="548640" y="4206240"/>
            <a:ext cx="11091672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The rows are split at random into [5] folds (fixed seed)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Every fold is predicted by a model trained on the other folds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All the test predictions are collected and scored together (RMSE)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Used when there is no time column: random rows can be exchanged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lain">
  <a:themeElements>
    <a:clrScheme name="Plain">
      <a:dk1>
        <a:srgbClr val="000000"/>
      </a:dk1>
      <a:lt1>
        <a:srgbClr val="FFFFFF"/>
      </a:lt1>
      <a:dk2>
        <a:srgbClr val="404040"/>
      </a:dk2>
      <a:lt2>
        <a:srgbClr val="F2F2F2"/>
      </a:lt2>
      <a:accent1>
        <a:srgbClr val="404040"/>
      </a:accent1>
      <a:accent2>
        <a:srgbClr val="7F7F7F"/>
      </a:accent2>
      <a:accent3>
        <a:srgbClr val="A6A6A6"/>
      </a:accent3>
      <a:accent4>
        <a:srgbClr val="595959"/>
      </a:accent4>
      <a:accent5>
        <a:srgbClr val="BFBFBF"/>
      </a:accent5>
      <a:accent6>
        <a:srgbClr val="262626"/>
      </a:accent6>
      <a:hlink>
        <a:srgbClr val="0563C1"/>
      </a:hlink>
      <a:folHlink>
        <a:srgbClr val="954F72"/>
      </a:folHlink>
    </a:clrScheme>
    <a:fontScheme name="Plain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368</TotalTime>
  <Words>2068</Words>
  <Application>Microsoft Office PowerPoint</Application>
  <PresentationFormat>Widescreen</PresentationFormat>
  <Paragraphs>322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0" baseType="lpstr">
      <vt:lpstr>Arial</vt:lpstr>
      <vt:lpstr>Calibri</vt:lpstr>
      <vt:lpstr>Segoe UI</vt:lpstr>
      <vt:lpstr>Plain</vt:lpstr>
      <vt:lpstr>Minjun Cho</vt:lpstr>
      <vt:lpstr>Analysis approach</vt:lpstr>
      <vt:lpstr>Data overview</vt:lpstr>
      <vt:lpstr>Holdout split: time series</vt:lpstr>
      <vt:lpstr>EDA: the target</vt:lpstr>
      <vt:lpstr>EDA: predictors vs target</vt:lpstr>
      <vt:lpstr>EDA: relationships between predictors</vt:lpstr>
      <vt:lpstr>EDA: relationships between predictors</vt:lpstr>
      <vt:lpstr>EDA: missing values</vt:lpstr>
      <vt:lpstr>EDA: what does the missingness mean?</vt:lpstr>
      <vt:lpstr>Variable selection: AIC and BIC</vt:lpstr>
      <vt:lpstr>Variable selection: result</vt:lpstr>
      <vt:lpstr>Assumptions check</vt:lpstr>
      <vt:lpstr>Box-Cox Transformations</vt:lpstr>
      <vt:lpstr>Outliers: how we handled them</vt:lpstr>
      <vt:lpstr>Interactions</vt:lpstr>
      <vt:lpstr>Candidate models</vt:lpstr>
      <vt:lpstr>Measures (1/2): RMSE and MAE</vt:lpstr>
      <vt:lpstr>Measures (2/2): MAPE, R² and Bias</vt:lpstr>
      <vt:lpstr>Cross validation: moving window (time series)</vt:lpstr>
      <vt:lpstr>Cross validation: K-fold (not time series)</vt:lpstr>
      <vt:lpstr>Model comparison</vt:lpstr>
      <vt:lpstr>Combinations of steps: ideal vs this analysis</vt:lpstr>
      <vt:lpstr>Final model</vt:lpstr>
      <vt:lpstr>Final test on the holdout</vt:lpstr>
      <vt:lpstr>Conclusion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Squarepoint Data Analysis (regression)</dc:title>
  <dc:subject>PptxGenJS Presentation</dc:subject>
  <dc:creator>Minjun Cho</dc:creator>
  <cp:lastModifiedBy>조민준</cp:lastModifiedBy>
  <cp:revision>5</cp:revision>
  <dcterms:created xsi:type="dcterms:W3CDTF">2026-10-25T18:05:31Z</dcterms:created>
  <dcterms:modified xsi:type="dcterms:W3CDTF">2026-10-26T05:47:01Z</dcterms:modified>
</cp:coreProperties>
</file>