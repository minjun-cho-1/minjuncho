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AA74789-9044-E33E-D8C4-D57CA0EF9B9D}">
          <p14:sldIdLst>
            <p14:sldId id="256"/>
            <p14:sldId id="257"/>
          </p14:sldIdLst>
        </p14:section>
        <p14:section name="Data" id="{D7C58A38-DC83-6B22-697F-4ED4C38F360A}">
          <p14:sldIdLst>
            <p14:sldId id="258"/>
            <p14:sldId id="259"/>
            <p14:sldId id="260"/>
          </p14:sldIdLst>
        </p14:section>
        <p14:section name="EDA" id="{EEDB0F81-9E46-B5FB-6597-16DE12B68BF8}">
          <p14:sldIdLst>
            <p14:sldId id="261"/>
            <p14:sldId id="262"/>
            <p14:sldId id="263"/>
            <p14:sldId id="264"/>
            <p14:sldId id="265"/>
          </p14:sldIdLst>
        </p14:section>
        <p14:section name="Modeling" id="{6015F70D-D848-EED2-5EBC-800D2247697A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valuation" id="{4512D86C-75AC-B5DA-3F86-9677BE33CD1E}">
          <p14:sldIdLst>
            <p14:sldId id="272"/>
            <p14:sldId id="273"/>
            <p14:sldId id="274"/>
            <p14:sldId id="275"/>
            <p14:sldId id="276"/>
          </p14:sldIdLst>
        </p14:section>
        <p14:section name="Results" id="{3ADF011B-7C3D-A4D3-280F-D6479BA537EF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5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holdout-split slides (time series / not time series) and delete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holdout-split slides (time series / not time series) and delete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cross-validation slides (moving window for time series, K-fold otherwise) and delete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Minjun Cho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Squarepoint Data Analysis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Analysis approach</a:t>
            </a:r>
            <a:endParaRPr lang="en-US" sz="3400" dirty="0"/>
          </a:p>
        </p:txBody>
      </p:sp>
      <p:sp>
        <p:nvSpPr>
          <p:cNvPr id="3" name="Step 1"/>
          <p:cNvSpPr txBox="1"/>
          <p:nvPr/>
        </p:nvSpPr>
        <p:spPr>
          <a:xfrm>
            <a:off x="52578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First look</a:t>
            </a:r>
            <a:endParaRPr lang="en-US" sz="1500" dirty="0"/>
          </a:p>
        </p:txBody>
      </p:sp>
      <p:sp>
        <p:nvSpPr>
          <p:cNvPr id="4" name="Step 1 note"/>
          <p:cNvSpPr txBox="1"/>
          <p:nvPr/>
        </p:nvSpPr>
        <p:spPr>
          <a:xfrm>
            <a:off x="48920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rows, columns, types</a:t>
            </a:r>
            <a:endParaRPr lang="en-US" sz="1300" dirty="0"/>
          </a:p>
        </p:txBody>
      </p:sp>
      <p:sp>
        <p:nvSpPr>
          <p:cNvPr id="5" name="Arrow 1"/>
          <p:cNvSpPr/>
          <p:nvPr/>
        </p:nvSpPr>
        <p:spPr>
          <a:xfrm>
            <a:off x="191566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tep 2"/>
          <p:cNvSpPr txBox="1"/>
          <p:nvPr/>
        </p:nvSpPr>
        <p:spPr>
          <a:xfrm>
            <a:off x="215341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split</a:t>
            </a:r>
            <a:endParaRPr lang="en-US" sz="1500" dirty="0"/>
          </a:p>
        </p:txBody>
      </p:sp>
      <p:sp>
        <p:nvSpPr>
          <p:cNvPr id="7" name="Step 2 note"/>
          <p:cNvSpPr txBox="1"/>
          <p:nvPr/>
        </p:nvSpPr>
        <p:spPr>
          <a:xfrm>
            <a:off x="211683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kept aside, opened once</a:t>
            </a:r>
            <a:endParaRPr lang="en-US" sz="1300" dirty="0"/>
          </a:p>
        </p:txBody>
      </p:sp>
      <p:sp>
        <p:nvSpPr>
          <p:cNvPr id="8" name="Arrow 2"/>
          <p:cNvSpPr/>
          <p:nvPr/>
        </p:nvSpPr>
        <p:spPr>
          <a:xfrm>
            <a:off x="3543300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tep 3"/>
          <p:cNvSpPr txBox="1"/>
          <p:nvPr/>
        </p:nvSpPr>
        <p:spPr>
          <a:xfrm>
            <a:off x="3781044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EDA</a:t>
            </a:r>
            <a:endParaRPr lang="en-US" sz="1500" dirty="0"/>
          </a:p>
        </p:txBody>
      </p:sp>
      <p:sp>
        <p:nvSpPr>
          <p:cNvPr id="10" name="Step 3 note"/>
          <p:cNvSpPr txBox="1"/>
          <p:nvPr/>
        </p:nvSpPr>
        <p:spPr>
          <a:xfrm>
            <a:off x="3744468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plots, missing values</a:t>
            </a:r>
            <a:endParaRPr lang="en-US" sz="1300" dirty="0"/>
          </a:p>
        </p:txBody>
      </p:sp>
      <p:sp>
        <p:nvSpPr>
          <p:cNvPr id="11" name="Arrow 3"/>
          <p:cNvSpPr/>
          <p:nvPr/>
        </p:nvSpPr>
        <p:spPr>
          <a:xfrm>
            <a:off x="5170932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tep 4"/>
          <p:cNvSpPr txBox="1"/>
          <p:nvPr/>
        </p:nvSpPr>
        <p:spPr>
          <a:xfrm>
            <a:off x="5408676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Variable selection</a:t>
            </a:r>
            <a:endParaRPr lang="en-US" sz="1500" dirty="0"/>
          </a:p>
        </p:txBody>
      </p:sp>
      <p:sp>
        <p:nvSpPr>
          <p:cNvPr id="13" name="Step 4 note"/>
          <p:cNvSpPr txBox="1"/>
          <p:nvPr/>
        </p:nvSpPr>
        <p:spPr>
          <a:xfrm>
            <a:off x="5372100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forward / backward, AIC / BIC</a:t>
            </a:r>
            <a:endParaRPr lang="en-US" sz="1300" dirty="0"/>
          </a:p>
        </p:txBody>
      </p:sp>
      <p:sp>
        <p:nvSpPr>
          <p:cNvPr id="14" name="Arrow 4"/>
          <p:cNvSpPr/>
          <p:nvPr/>
        </p:nvSpPr>
        <p:spPr>
          <a:xfrm>
            <a:off x="6798564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tep 5"/>
          <p:cNvSpPr txBox="1"/>
          <p:nvPr/>
        </p:nvSpPr>
        <p:spPr>
          <a:xfrm>
            <a:off x="7036308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Transform, outliers, interactions</a:t>
            </a:r>
            <a:endParaRPr lang="en-US" sz="1500" dirty="0"/>
          </a:p>
        </p:txBody>
      </p:sp>
      <p:sp>
        <p:nvSpPr>
          <p:cNvPr id="16" name="Step 5 note"/>
          <p:cNvSpPr txBox="1"/>
          <p:nvPr/>
        </p:nvSpPr>
        <p:spPr>
          <a:xfrm>
            <a:off x="6999732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y and x transforms, outlier rows, pairs</a:t>
            </a:r>
            <a:endParaRPr lang="en-US" sz="1300" dirty="0"/>
          </a:p>
        </p:txBody>
      </p:sp>
      <p:sp>
        <p:nvSpPr>
          <p:cNvPr id="17" name="Arrow 5"/>
          <p:cNvSpPr/>
          <p:nvPr/>
        </p:nvSpPr>
        <p:spPr>
          <a:xfrm>
            <a:off x="8426196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tep 6"/>
          <p:cNvSpPr txBox="1"/>
          <p:nvPr/>
        </p:nvSpPr>
        <p:spPr>
          <a:xfrm>
            <a:off x="866394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Models + comparison</a:t>
            </a:r>
            <a:endParaRPr lang="en-US" sz="1500" dirty="0"/>
          </a:p>
        </p:txBody>
      </p:sp>
      <p:sp>
        <p:nvSpPr>
          <p:cNvPr id="19" name="Step 6 note"/>
          <p:cNvSpPr txBox="1"/>
          <p:nvPr/>
        </p:nvSpPr>
        <p:spPr>
          <a:xfrm>
            <a:off x="862736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cross validation on unseen rows</a:t>
            </a:r>
            <a:endParaRPr lang="en-US" sz="1300" dirty="0"/>
          </a:p>
        </p:txBody>
      </p:sp>
      <p:sp>
        <p:nvSpPr>
          <p:cNvPr id="20" name="Arrow 6"/>
          <p:cNvSpPr/>
          <p:nvPr/>
        </p:nvSpPr>
        <p:spPr>
          <a:xfrm>
            <a:off x="1005382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tep 7"/>
          <p:cNvSpPr txBox="1"/>
          <p:nvPr/>
        </p:nvSpPr>
        <p:spPr>
          <a:xfrm>
            <a:off x="1029157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test</a:t>
            </a:r>
            <a:endParaRPr lang="en-US" sz="1500" dirty="0"/>
          </a:p>
        </p:txBody>
      </p:sp>
      <p:sp>
        <p:nvSpPr>
          <p:cNvPr id="22" name="Step 7 note"/>
          <p:cNvSpPr txBox="1"/>
          <p:nvPr/>
        </p:nvSpPr>
        <p:spPr>
          <a:xfrm>
            <a:off x="1025499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final check, once</a:t>
            </a:r>
            <a:endParaRPr lang="en-US" sz="1300" dirty="0"/>
          </a:p>
        </p:txBody>
      </p:sp>
      <p:sp>
        <p:nvSpPr>
          <p:cNvPr id="23" name="Summary line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Every choice is made on the development part only. The holdout is opened once, at the 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overview</a:t>
            </a:r>
            <a:endParaRPr lang="en-US" sz="3400" dirty="0"/>
          </a:p>
        </p:txBody>
      </p:sp>
      <p:sp>
        <p:nvSpPr>
          <p:cNvPr id="3" name="Data summary"/>
          <p:cNvSpPr txBox="1"/>
          <p:nvPr/>
        </p:nvSpPr>
        <p:spPr>
          <a:xfrm>
            <a:off x="548640" y="15544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Samples: </a:t>
            </a:r>
            <a:r>
              <a:rPr lang="en-US" sz="2400" dirty="0">
                <a:solidFill>
                  <a:schemeClr val="tx1"/>
                </a:solidFill>
              </a:rPr>
              <a:t>[N] rows   |   Columns: [M]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Target: </a:t>
            </a:r>
            <a:r>
              <a:rPr lang="en-US" sz="2400" dirty="0">
                <a:solidFill>
                  <a:schemeClr val="tx1"/>
                </a:solidFill>
              </a:rPr>
              <a:t>[name]  (numeric)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Numeric ([n]): </a:t>
            </a:r>
            <a:r>
              <a:rPr lang="en-US" sz="2400" dirty="0">
                <a:solidFill>
                  <a:schemeClr val="tx1"/>
                </a:solidFill>
              </a:rPr>
              <a:t>[main examples]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Categorical ([n]): </a:t>
            </a:r>
            <a:r>
              <a:rPr lang="en-US" sz="2400" dirty="0">
                <a:solidFill>
                  <a:schemeClr val="tx1"/>
                </a:solidFill>
              </a:rPr>
              <a:t>[main examples]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Date ([n]): </a:t>
            </a:r>
            <a:r>
              <a:rPr lang="en-US" sz="2400" dirty="0">
                <a:solidFill>
                  <a:schemeClr val="tx1"/>
                </a:solidFill>
              </a:rPr>
              <a:t>[all of them]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ID ([n]): </a:t>
            </a:r>
            <a:r>
              <a:rPr lang="en-US" sz="2400" dirty="0">
                <a:solidFill>
                  <a:schemeClr val="tx1"/>
                </a:solidFill>
              </a:rPr>
              <a:t>[all of them]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first 80% of the days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last 20%</a:t>
            </a:r>
            <a:endParaRPr lang="en-US" sz="2000" dirty="0"/>
          </a:p>
        </p:txBody>
      </p:sp>
      <p:sp>
        <p:nvSpPr>
          <p:cNvPr id="5" name="Time arrow"/>
          <p:cNvSpPr/>
          <p:nvPr/>
        </p:nvSpPr>
        <p:spPr>
          <a:xfrm>
            <a:off x="548640" y="283464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ime label"/>
          <p:cNvSpPr txBox="1"/>
          <p:nvPr/>
        </p:nvSpPr>
        <p:spPr>
          <a:xfrm>
            <a:off x="548640" y="2907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3566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Split by time: the last 20% of the days are the holdout (a day is never cut in two)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shuffling: the future must not leak into the past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development: </a:t>
            </a:r>
            <a:r>
              <a:rPr lang="en-US" sz="2000" dirty="0">
                <a:solidFill>
                  <a:schemeClr val="tx1"/>
                </a:solidFill>
              </a:rPr>
              <a:t>[start date] to [end date], 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holdout: </a:t>
            </a:r>
            <a:r>
              <a:rPr lang="en-US" sz="2000" dirty="0">
                <a:solidFill>
                  <a:schemeClr val="tx1"/>
                </a:solidFill>
              </a:rPr>
              <a:t>[start date] to [end date], 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holdout is not used until the final test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not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random 80% of the rows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20%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3017520"/>
            <a:ext cx="11091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Random split: 80% of the rows are development, 20% are the holdout (fixed seed, so it can be repeated)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development: </a:t>
            </a:r>
            <a:r>
              <a:rPr lang="en-US" sz="2000" dirty="0">
                <a:solidFill>
                  <a:schemeClr val="tx1"/>
                </a:solidFill>
              </a:rPr>
              <a:t>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holdout: </a:t>
            </a:r>
            <a:r>
              <a:rPr lang="en-US" sz="2000" dirty="0">
                <a:solidFill>
                  <a:schemeClr val="tx1"/>
                </a:solidFill>
              </a:rPr>
              <a:t>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Rows used to choose variables and models are never used to test them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holdout is not used until the final test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the target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(target distribution)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(target over time)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Distribution: </a:t>
            </a:r>
            <a:r>
              <a:rPr lang="en-US" sz="2000" dirty="0">
                <a:solidFill>
                  <a:schemeClr val="tx1"/>
                </a:solidFill>
              </a:rPr>
              <a:t>[skewed? zeros? range]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Over time: </a:t>
            </a:r>
            <a:r>
              <a:rPr lang="en-US" sz="2000" dirty="0">
                <a:solidFill>
                  <a:schemeClr val="tx1"/>
                </a:solidFill>
              </a:rPr>
              <a:t>[trend / seasonality / jumps]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  <a:r>
              <a:rPr lang="en-US" sz="2000" dirty="0">
                <a:solidFill>
                  <a:schemeClr val="tx1"/>
                </a:solidFill>
              </a:rPr>
              <a:t>[e.g. a log transform may help]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predictors vs target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(scatter plots, boxplots by category)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Numeric: </a:t>
            </a:r>
            <a:r>
              <a:rPr lang="en-US" sz="2000" dirty="0">
                <a:solidFill>
                  <a:schemeClr val="tx1"/>
                </a:solidFill>
              </a:rPr>
              <a:t>[which move with the target, and in which direction]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Categorical: </a:t>
            </a:r>
            <a:r>
              <a:rPr lang="en-US" sz="2000" dirty="0">
                <a:solidFill>
                  <a:schemeClr val="tx1"/>
                </a:solidFill>
              </a:rPr>
              <a:t>[which groups differ]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Time: </a:t>
            </a:r>
            <a:r>
              <a:rPr lang="en-US" sz="2000" dirty="0">
                <a:solidFill>
                  <a:schemeClr val="tx1"/>
                </a:solidFill>
              </a:rPr>
              <a:t>[month / weekday effects]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  <a:r>
              <a:rPr lang="en-US" sz="2000" dirty="0">
                <a:solidFill>
                  <a:schemeClr val="tx1"/>
                </a:solidFill>
              </a:rPr>
              <a:t>[candidate predictors]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relationships between predictors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(correlation heatmap, pairs plot)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Strongly correlated: </a:t>
            </a:r>
            <a:r>
              <a:rPr lang="en-US" sz="2000" dirty="0">
                <a:solidFill>
                  <a:schemeClr val="tx1"/>
                </a:solidFill>
              </a:rPr>
              <a:t>[x and y]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  <a:r>
              <a:rPr lang="en-US" sz="2000" dirty="0">
                <a:solidFill>
                  <a:schemeClr val="tx1"/>
                </a:solidFill>
              </a:rPr>
              <a:t>[keep one / combine / keep both]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missing values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(missing count per column)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(missing pattern)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Which columns: </a:t>
            </a:r>
            <a:r>
              <a:rPr lang="en-US" sz="2000" dirty="0">
                <a:solidFill>
                  <a:schemeClr val="tx1"/>
                </a:solidFill>
              </a:rPr>
              <a:t>[names]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How much: </a:t>
            </a:r>
            <a:r>
              <a:rPr lang="en-US" sz="2000" dirty="0">
                <a:solidFill>
                  <a:schemeClr val="tx1"/>
                </a:solidFill>
              </a:rPr>
              <a:t>[% per column]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Pattern: </a:t>
            </a:r>
            <a:r>
              <a:rPr lang="en-US" sz="2000" dirty="0">
                <a:solidFill>
                  <a:schemeClr val="tx1"/>
                </a:solidFill>
              </a:rPr>
              <a:t>[missing together? only in some periods?]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what does the missingness mean?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(mean difference table, missing rate by group)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Numeric columns: </a:t>
            </a:r>
            <a:r>
              <a:rPr lang="en-US" sz="2000" dirty="0">
                <a:solidFill>
                  <a:schemeClr val="tx1"/>
                </a:solidFill>
              </a:rPr>
              <a:t>[how rows with a missing value differ from the others]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By category: </a:t>
            </a:r>
            <a:r>
              <a:rPr lang="en-US" sz="2000" dirty="0">
                <a:solidFill>
                  <a:schemeClr val="tx1"/>
                </a:solidFill>
              </a:rPr>
              <a:t>[which groups miss more]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Over time: </a:t>
            </a:r>
            <a:r>
              <a:rPr lang="en-US" sz="2000" dirty="0">
                <a:solidFill>
                  <a:schemeClr val="tx1"/>
                </a:solidFill>
              </a:rPr>
              <a:t>[any change?]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Conclusion: </a:t>
            </a:r>
            <a:r>
              <a:rPr lang="en-US" sz="2000" dirty="0">
                <a:solidFill>
                  <a:schemeClr val="tx1"/>
                </a:solidFill>
              </a:rPr>
              <a:t>[random / depends on X] and how it is filled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AIC and BIC</a:t>
            </a:r>
            <a:endParaRPr lang="en-US" sz="3400" dirty="0"/>
          </a:p>
        </p:txBody>
      </p:sp>
      <p:sp>
        <p:nvSpPr>
          <p:cNvPr id="3" name="AIC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AIC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AIC = 2k − 2 ln(L)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Light penalty: keeps more variables, good for prediction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Can keep noise variables (overfit)</a:t>
            </a:r>
            <a:endParaRPr lang="en-US" sz="2800" dirty="0"/>
          </a:p>
        </p:txBody>
      </p:sp>
      <p:sp>
        <p:nvSpPr>
          <p:cNvPr id="4" name="BIC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BIC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BIC = k ln(n) − 2 ln(L)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Heavier penalty (grows with n): a simpler model that is easy to explain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May drop weak but useful variables (underfit)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k = number of parameters, n = number of rows, L = the maximized likelihood. Smaller is better. When n ≥ 8, BIC charges more for every variable than AIC.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Forward: start with no variable and add the one that helps most. Backward: start with all variables and drop the one that hurts least. Fitted on the lm of the target.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result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(selection table or residual plots)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Selected: </a:t>
            </a:r>
            <a:r>
              <a:rPr lang="en-US" sz="2000" dirty="0">
                <a:solidFill>
                  <a:schemeClr val="tx1"/>
                </a:solidFill>
              </a:rPr>
              <a:t>[variables] (forward / backward, AIC / BIC)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Check of the selected lm: </a:t>
            </a:r>
            <a:r>
              <a:rPr lang="en-US" sz="2000" dirty="0">
                <a:solidFill>
                  <a:schemeClr val="tx1"/>
                </a:solidFill>
              </a:rPr>
              <a:t>[residuals, Q-Q, VIF, Cook's distance]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Transformations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(Q-Q plot before)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(Q-Q plot after)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Target (Box-Cox): </a:t>
            </a:r>
            <a:r>
              <a:rPr lang="en-US" sz="2000" dirty="0">
                <a:solidFill>
                  <a:schemeClr val="tx1"/>
                </a:solidFill>
              </a:rPr>
              <a:t>lambda = [value], so [transform]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Predictors: </a:t>
            </a:r>
            <a:r>
              <a:rPr lang="en-US" sz="2000" dirty="0">
                <a:solidFill>
                  <a:schemeClr val="tx1"/>
                </a:solidFill>
              </a:rPr>
              <a:t>[transform] of [column] (AIC change [value])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Outliers: how we handled them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(standardized residuals, mean comparison table)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Candidates: </a:t>
            </a:r>
            <a:r>
              <a:rPr lang="en-US" sz="1800" dirty="0">
                <a:solidFill>
                  <a:schemeClr val="tx1"/>
                </a:solidFill>
              </a:rPr>
              <a:t>rows with |standardized residual| &gt; [3] in the selected lm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Looked at: </a:t>
            </a:r>
            <a:r>
              <a:rPr lang="en-US" sz="1800" dirty="0">
                <a:solidFill>
                  <a:schemeClr val="tx1"/>
                </a:solidFill>
              </a:rPr>
              <a:t>the candidate rows, and how their other columns differ from the normal rows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Example: </a:t>
            </a:r>
            <a:r>
              <a:rPr lang="en-US" sz="1800" dirty="0">
                <a:solidFill>
                  <a:schemeClr val="tx1"/>
                </a:solidFill>
              </a:rPr>
              <a:t>mean of [column]: normal [value], candidates [value]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Categories: </a:t>
            </a:r>
            <a:r>
              <a:rPr lang="en-US" sz="1800" dirty="0">
                <a:solidFill>
                  <a:schemeClr val="tx1"/>
                </a:solidFill>
              </a:rPr>
              <a:t>[which groups have more candidates]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Handling: </a:t>
            </a:r>
            <a:r>
              <a:rPr lang="en-US" sz="1800" dirty="0">
                <a:solidFill>
                  <a:schemeClr val="tx1"/>
                </a:solidFill>
              </a:rPr>
              <a:t>[kept / removed / explained by X] because [reason]. MAE is shown next to RMSE, since RMSE reacts strongly to outliers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Interactions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(interaction plot or test table)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Tested: </a:t>
            </a:r>
            <a:r>
              <a:rPr lang="en-US" sz="2000" dirty="0">
                <a:solidFill>
                  <a:schemeClr val="tx1"/>
                </a:solidFill>
              </a:rPr>
              <a:t>[pairs] (F-test in the lm)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Kept: </a:t>
            </a:r>
            <a:r>
              <a:rPr lang="en-US" sz="2000" dirty="0">
                <a:solidFill>
                  <a:schemeClr val="tx1"/>
                </a:solidFill>
              </a:rPr>
              <a:t>[a:b] (p-value [value])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Why it makes sense: </a:t>
            </a:r>
            <a:r>
              <a:rPr lang="en-US" sz="2000" dirty="0">
                <a:solidFill>
                  <a:schemeClr val="tx1"/>
                </a:solidFill>
              </a:rPr>
              <a:t>[reason]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Candidate models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46304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baseline: </a:t>
            </a:r>
            <a:r>
              <a:rPr lang="en-US" sz="2200" dirty="0">
                <a:solidFill>
                  <a:schemeClr val="tx1"/>
                </a:solidFill>
              </a:rPr>
              <a:t>the mean of the training y (the number to beat)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lm: </a:t>
            </a:r>
            <a:r>
              <a:rPr lang="en-US" sz="2200" dirty="0">
                <a:solidFill>
                  <a:schemeClr val="tx1"/>
                </a:solidFill>
              </a:rPr>
              <a:t>ordinary least squares, on the transformed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lasso, ridge: </a:t>
            </a:r>
            <a:r>
              <a:rPr lang="en-US" sz="2200" dirty="0">
                <a:solidFill>
                  <a:schemeClr val="tx1"/>
                </a:solidFill>
              </a:rPr>
              <a:t>lm with shrunk coefficients (lasso can drop variables)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glm: </a:t>
            </a:r>
            <a:r>
              <a:rPr lang="en-US" sz="2200" dirty="0">
                <a:solidFill>
                  <a:schemeClr val="tx1"/>
                </a:solidFill>
              </a:rPr>
              <a:t>Gamma family, log link, on the original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mixed, glmm: </a:t>
            </a:r>
            <a:r>
              <a:rPr lang="en-US" sz="2200" dirty="0">
                <a:solidFill>
                  <a:schemeClr val="tx1"/>
                </a:solidFill>
              </a:rPr>
              <a:t>lm / glm plus a random intercept per group</a:t>
            </a:r>
            <a:endParaRPr lang="en-US" sz="22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All candidates use the same variables, transformations and interactions.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(1/2): RMSE and MAE</a:t>
            </a:r>
            <a:endParaRPr lang="en-US" sz="3400" dirty="0"/>
          </a:p>
        </p:txBody>
      </p:sp>
      <p:sp>
        <p:nvSpPr>
          <p:cNvPr id="3" name="RMSE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RMSE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RMSE = √( (1/n) Σ e² 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punishes big errors; the standard score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Sensitive to outliers: a few big errors can dominate</a:t>
            </a:r>
            <a:endParaRPr lang="en-US" sz="2800" dirty="0"/>
          </a:p>
        </p:txBody>
      </p:sp>
      <p:sp>
        <p:nvSpPr>
          <p:cNvPr id="4" name="MAE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MAE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MAE = (1/n) Σ |e|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the average miss, easy to explain; robust to outliers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A big miss counts like several small ones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rows. All scores are computed on the validation rows, in the original units of y.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Main score for choosing the model: RMSE.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(2/2): MAPE, R² and Bias</a:t>
            </a:r>
            <a:endParaRPr lang="en-US" sz="3400" dirty="0"/>
          </a:p>
        </p:txBody>
      </p:sp>
      <p:sp>
        <p:nvSpPr>
          <p:cNvPr id="3" name="MAPE"/>
          <p:cNvSpPr txBox="1"/>
          <p:nvPr/>
        </p:nvSpPr>
        <p:spPr>
          <a:xfrm>
            <a:off x="548640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MAPE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MAPE = (100/n) Σ |e| / |y|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In percent: comparable across scales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Explodes when y is near 0 (rows with y = 0 are left out)</a:t>
            </a:r>
            <a:endParaRPr lang="en-US" sz="2600" dirty="0"/>
          </a:p>
        </p:txBody>
      </p:sp>
      <p:sp>
        <p:nvSpPr>
          <p:cNvPr id="4" name="R²"/>
          <p:cNvSpPr txBox="1"/>
          <p:nvPr/>
        </p:nvSpPr>
        <p:spPr>
          <a:xfrm>
            <a:off x="4337304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R²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R² = 1 − Σ e² / Σ (y − mean y)²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No unit: 1 is perfect, 0 is as good as the mean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Can be negative on new data; hides the size of the error</a:t>
            </a:r>
            <a:endParaRPr lang="en-US" sz="2600" dirty="0"/>
          </a:p>
        </p:txBody>
      </p:sp>
      <p:sp>
        <p:nvSpPr>
          <p:cNvPr id="5" name="Bias"/>
          <p:cNvSpPr txBox="1"/>
          <p:nvPr/>
        </p:nvSpPr>
        <p:spPr>
          <a:xfrm>
            <a:off x="8125968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Bias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Bias = (1/n) Σ 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Shows if the model predicts too high or too low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Errors cancel out: Bias near 0 can hide big errors</a:t>
            </a:r>
            <a:endParaRPr lang="en-US" sz="2600" dirty="0"/>
          </a:p>
        </p:txBody>
      </p:sp>
      <p:sp>
        <p:nvSpPr>
          <p:cNvPr id="6" name="Note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rows, y = actual.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moving window (time series)</a:t>
            </a:r>
            <a:endParaRPr lang="en-US" sz="3400" dirty="0"/>
          </a:p>
        </p:txBody>
      </p:sp>
      <p:sp>
        <p:nvSpPr>
          <p:cNvPr id="3" name="train 1"/>
          <p:cNvSpPr txBox="1"/>
          <p:nvPr/>
        </p:nvSpPr>
        <p:spPr>
          <a:xfrm>
            <a:off x="1645920" y="14630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4" name="test 1"/>
          <p:cNvSpPr txBox="1"/>
          <p:nvPr/>
        </p:nvSpPr>
        <p:spPr>
          <a:xfrm>
            <a:off x="7498080" y="14630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5" name="block label 1"/>
          <p:cNvSpPr txBox="1"/>
          <p:nvPr/>
        </p:nvSpPr>
        <p:spPr>
          <a:xfrm>
            <a:off x="836676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1</a:t>
            </a:r>
            <a:endParaRPr lang="en-US" sz="1600" dirty="0"/>
          </a:p>
        </p:txBody>
      </p:sp>
      <p:sp>
        <p:nvSpPr>
          <p:cNvPr id="6" name="train 2"/>
          <p:cNvSpPr txBox="1"/>
          <p:nvPr/>
        </p:nvSpPr>
        <p:spPr>
          <a:xfrm>
            <a:off x="2377440" y="21488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7" name="test 2"/>
          <p:cNvSpPr txBox="1"/>
          <p:nvPr/>
        </p:nvSpPr>
        <p:spPr>
          <a:xfrm>
            <a:off x="8229600" y="21488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8" name="block label 2"/>
          <p:cNvSpPr txBox="1"/>
          <p:nvPr/>
        </p:nvSpPr>
        <p:spPr>
          <a:xfrm>
            <a:off x="909828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2</a:t>
            </a:r>
            <a:endParaRPr lang="en-US" sz="1600" dirty="0"/>
          </a:p>
        </p:txBody>
      </p:sp>
      <p:sp>
        <p:nvSpPr>
          <p:cNvPr id="9" name="train 3"/>
          <p:cNvSpPr txBox="1"/>
          <p:nvPr/>
        </p:nvSpPr>
        <p:spPr>
          <a:xfrm>
            <a:off x="3108960" y="28346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10" name="test 3"/>
          <p:cNvSpPr txBox="1"/>
          <p:nvPr/>
        </p:nvSpPr>
        <p:spPr>
          <a:xfrm>
            <a:off x="8961120" y="28346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block label 3"/>
          <p:cNvSpPr txBox="1"/>
          <p:nvPr/>
        </p:nvSpPr>
        <p:spPr>
          <a:xfrm>
            <a:off x="98298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3</a:t>
            </a:r>
            <a:endParaRPr lang="en-US" sz="1600" dirty="0"/>
          </a:p>
        </p:txBody>
      </p:sp>
      <p:sp>
        <p:nvSpPr>
          <p:cNvPr id="12" name="More blocks"/>
          <p:cNvSpPr txBox="1"/>
          <p:nvPr/>
        </p:nvSpPr>
        <p:spPr>
          <a:xfrm>
            <a:off x="923544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13" name="Time arrow"/>
          <p:cNvSpPr/>
          <p:nvPr/>
        </p:nvSpPr>
        <p:spPr>
          <a:xfrm>
            <a:off x="548640" y="416052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ime label"/>
          <p:cNvSpPr txBox="1"/>
          <p:nvPr/>
        </p:nvSpPr>
        <p:spPr>
          <a:xfrm>
            <a:off x="54864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Train on the last [60] days, predict the next [7] days, then move the window forward by [7] days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model only sees days before the days it predicts: no leakage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All the test predictions are collected and scored together (RMSE)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candidate uses the same blocks, so the scores can be compared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K-fold (not time series)</a:t>
            </a:r>
            <a:endParaRPr lang="en-US" sz="3400" dirty="0"/>
          </a:p>
        </p:txBody>
      </p:sp>
      <p:sp>
        <p:nvSpPr>
          <p:cNvPr id="3" name="fold 1-1"/>
          <p:cNvSpPr txBox="1"/>
          <p:nvPr/>
        </p:nvSpPr>
        <p:spPr>
          <a:xfrm>
            <a:off x="2011680" y="14630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4" name="fold 1-2"/>
          <p:cNvSpPr txBox="1"/>
          <p:nvPr/>
        </p:nvSpPr>
        <p:spPr>
          <a:xfrm>
            <a:off x="329184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5" name="fold 1-3"/>
          <p:cNvSpPr txBox="1"/>
          <p:nvPr/>
        </p:nvSpPr>
        <p:spPr>
          <a:xfrm>
            <a:off x="457200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6" name="fold 1-4"/>
          <p:cNvSpPr txBox="1"/>
          <p:nvPr/>
        </p:nvSpPr>
        <p:spPr>
          <a:xfrm>
            <a:off x="585216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7" name="fold 1-5"/>
          <p:cNvSpPr txBox="1"/>
          <p:nvPr/>
        </p:nvSpPr>
        <p:spPr>
          <a:xfrm>
            <a:off x="713232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8" name="round label 1"/>
          <p:cNvSpPr txBox="1"/>
          <p:nvPr/>
        </p:nvSpPr>
        <p:spPr>
          <a:xfrm>
            <a:off x="850392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1</a:t>
            </a:r>
            <a:endParaRPr lang="en-US" sz="1600" dirty="0"/>
          </a:p>
        </p:txBody>
      </p:sp>
      <p:sp>
        <p:nvSpPr>
          <p:cNvPr id="9" name="fold 2-1"/>
          <p:cNvSpPr txBox="1"/>
          <p:nvPr/>
        </p:nvSpPr>
        <p:spPr>
          <a:xfrm>
            <a:off x="201168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0" name="fold 2-2"/>
          <p:cNvSpPr txBox="1"/>
          <p:nvPr/>
        </p:nvSpPr>
        <p:spPr>
          <a:xfrm>
            <a:off x="3291840" y="21488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fold 2-3"/>
          <p:cNvSpPr txBox="1"/>
          <p:nvPr/>
        </p:nvSpPr>
        <p:spPr>
          <a:xfrm>
            <a:off x="457200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2" name="fold 2-4"/>
          <p:cNvSpPr txBox="1"/>
          <p:nvPr/>
        </p:nvSpPr>
        <p:spPr>
          <a:xfrm>
            <a:off x="585216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3" name="fold 2-5"/>
          <p:cNvSpPr txBox="1"/>
          <p:nvPr/>
        </p:nvSpPr>
        <p:spPr>
          <a:xfrm>
            <a:off x="713232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4" name="round label 2"/>
          <p:cNvSpPr txBox="1"/>
          <p:nvPr/>
        </p:nvSpPr>
        <p:spPr>
          <a:xfrm>
            <a:off x="850392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2</a:t>
            </a:r>
            <a:endParaRPr lang="en-US" sz="1600" dirty="0"/>
          </a:p>
        </p:txBody>
      </p:sp>
      <p:sp>
        <p:nvSpPr>
          <p:cNvPr id="15" name="fold 3-1"/>
          <p:cNvSpPr txBox="1"/>
          <p:nvPr/>
        </p:nvSpPr>
        <p:spPr>
          <a:xfrm>
            <a:off x="201168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6" name="fold 3-2"/>
          <p:cNvSpPr txBox="1"/>
          <p:nvPr/>
        </p:nvSpPr>
        <p:spPr>
          <a:xfrm>
            <a:off x="329184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7" name="fold 3-3"/>
          <p:cNvSpPr txBox="1"/>
          <p:nvPr/>
        </p:nvSpPr>
        <p:spPr>
          <a:xfrm>
            <a:off x="4572000" y="28346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8" name="fold 3-4"/>
          <p:cNvSpPr txBox="1"/>
          <p:nvPr/>
        </p:nvSpPr>
        <p:spPr>
          <a:xfrm>
            <a:off x="585216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9" name="fold 3-5"/>
          <p:cNvSpPr txBox="1"/>
          <p:nvPr/>
        </p:nvSpPr>
        <p:spPr>
          <a:xfrm>
            <a:off x="713232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20" name="round label 3"/>
          <p:cNvSpPr txBox="1"/>
          <p:nvPr/>
        </p:nvSpPr>
        <p:spPr>
          <a:xfrm>
            <a:off x="850392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3</a:t>
            </a:r>
            <a:endParaRPr lang="en-US" sz="1600" dirty="0"/>
          </a:p>
        </p:txBody>
      </p:sp>
      <p:sp>
        <p:nvSpPr>
          <p:cNvPr id="21" name="More rounds"/>
          <p:cNvSpPr txBox="1"/>
          <p:nvPr/>
        </p:nvSpPr>
        <p:spPr>
          <a:xfrm>
            <a:off x="45720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22" name="Text"/>
          <p:cNvSpPr txBox="1"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rows are split at random into [5] folds (fixed seed)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fold is predicted by a model trained on the other folds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 the test predictions are collected and scored together (RMSE)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when there is no time column: random rows can be exchanged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comparison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(score table, RMSE bar chart)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Score: </a:t>
            </a:r>
            <a:r>
              <a:rPr lang="en-US" sz="1800" dirty="0">
                <a:solidFill>
                  <a:schemeClr val="tx1"/>
                </a:solidFill>
              </a:rPr>
              <a:t>RMSE (main); MAE, MAPE, R² and Bias are also shown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Best candidate: </a:t>
            </a:r>
            <a:r>
              <a:rPr lang="en-US" sz="1800" dirty="0">
                <a:solidFill>
                  <a:schemeClr val="tx1"/>
                </a:solidFill>
              </a:rPr>
              <a:t>[model], RMSE [value]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Baseline: </a:t>
            </a:r>
            <a:r>
              <a:rPr lang="en-US" sz="1800" dirty="0">
                <a:solidFill>
                  <a:schemeClr val="tx1"/>
                </a:solidFill>
              </a:rPr>
              <a:t>RMSE [value]: the number to beat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Others: </a:t>
            </a:r>
            <a:r>
              <a:rPr lang="en-US" sz="1800" dirty="0">
                <a:solidFill>
                  <a:schemeClr val="tx1"/>
                </a:solidFill>
              </a:rPr>
              <a:t>[what we see, e.g. lasso is close to lm]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Combinations of steps: ideal vs this analysis</a:t>
            </a:r>
            <a:endParaRPr lang="en-US" sz="3400" dirty="0"/>
          </a:p>
        </p:txBody>
      </p:sp>
      <p:sp>
        <p:nvSpPr>
          <p:cNvPr id="3" name="Ideal header"/>
          <p:cNvSpPr txBox="1"/>
          <p:nvPr/>
        </p:nvSpPr>
        <p:spPr>
          <a:xfrm>
            <a:off x="548640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Ideal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Try many combinations of the steps: variable selection (forward / backward, AIC / BIC), transformations, outlier handling, interactions, models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Compare all the combinations with cross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the best combination</a:t>
            </a:r>
            <a:endParaRPr lang="en-US" sz="2000" dirty="0"/>
          </a:p>
        </p:txBody>
      </p:sp>
      <p:sp>
        <p:nvSpPr>
          <p:cNvPr id="5" name="This analysis header"/>
          <p:cNvSpPr txBox="1"/>
          <p:nvPr/>
        </p:nvSpPr>
        <p:spPr>
          <a:xfrm>
            <a:off x="6323076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This analysis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6323076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Limited time: every step was run once, in the order of the previous slides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candidate models share the same variables, transformations and interactions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Only the candidates are compared, with cross validation; the best one is the final model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(coefficient table or actual vs predicted)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Model: </a:t>
            </a:r>
            <a:r>
              <a:rPr lang="en-US" sz="1800" dirty="0">
                <a:solidFill>
                  <a:schemeClr val="tx1"/>
                </a:solidFill>
              </a:rPr>
              <a:t>[name]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Variables: </a:t>
            </a:r>
            <a:r>
              <a:rPr lang="en-US" sz="1800" dirty="0">
                <a:solidFill>
                  <a:schemeClr val="tx1"/>
                </a:solidFill>
              </a:rPr>
              <a:t>[selected] + [transformations] + [interactions]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Why: </a:t>
            </a:r>
            <a:r>
              <a:rPr lang="en-US" sz="1800" dirty="0">
                <a:solidFill>
                  <a:schemeClr val="tx1"/>
                </a:solidFill>
              </a:rPr>
              <a:t>smallest cross-validated RMSE among the candidates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Cross validation: </a:t>
            </a:r>
            <a:r>
              <a:rPr lang="en-US" sz="1800" dirty="0">
                <a:solidFill>
                  <a:schemeClr val="tx1"/>
                </a:solidFill>
              </a:rPr>
              <a:t>RMSE [value] vs baseline [value]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test on the holdout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(holdout score table)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(actual vs predicted)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Result: </a:t>
            </a:r>
            <a:r>
              <a:rPr lang="en-US" sz="2000" dirty="0">
                <a:solidFill>
                  <a:schemeClr val="tx1"/>
                </a:solidFill>
              </a:rPr>
              <a:t>[model] RMSE [value] on the holdout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Compared with cross validation: </a:t>
            </a:r>
            <a:r>
              <a:rPr lang="en-US" sz="2000" dirty="0">
                <a:solidFill>
                  <a:schemeClr val="tx1"/>
                </a:solidFill>
              </a:rPr>
              <a:t>[similar / worse] because [reason]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Findings header"/>
          <p:cNvSpPr txBox="1"/>
          <p:nvPr/>
        </p:nvSpPr>
        <p:spPr>
          <a:xfrm>
            <a:off x="548640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Findings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[main finding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[main finding 2]</a:t>
            </a:r>
            <a:endParaRPr lang="en-US" sz="2200" dirty="0"/>
          </a:p>
        </p:txBody>
      </p:sp>
      <p:sp>
        <p:nvSpPr>
          <p:cNvPr id="5" name="Limitations header"/>
          <p:cNvSpPr txBox="1"/>
          <p:nvPr/>
        </p:nvSpPr>
        <p:spPr>
          <a:xfrm>
            <a:off x="4337304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4337304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[limitation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[limitation 2]</a:t>
            </a:r>
            <a:endParaRPr lang="en-US" sz="2200" dirty="0"/>
          </a:p>
        </p:txBody>
      </p:sp>
      <p:sp>
        <p:nvSpPr>
          <p:cNvPr id="7" name="Next steps header"/>
          <p:cNvSpPr txBox="1"/>
          <p:nvPr/>
        </p:nvSpPr>
        <p:spPr>
          <a:xfrm>
            <a:off x="8125968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8" name="Text"/>
          <p:cNvSpPr txBox="1"/>
          <p:nvPr/>
        </p:nvSpPr>
        <p:spPr>
          <a:xfrm>
            <a:off x="8125968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[next step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[next step 2]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1882</Words>
  <Application>Microsoft Office PowerPoint</Application>
  <PresentationFormat>와이드스크린</PresentationFormat>
  <Paragraphs>278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Arial</vt:lpstr>
      <vt:lpstr>Calibri</vt:lpstr>
      <vt:lpstr>Plain</vt:lpstr>
      <vt:lpstr>Minjun Cho</vt:lpstr>
      <vt:lpstr>Analysis approach</vt:lpstr>
      <vt:lpstr>Data overview</vt:lpstr>
      <vt:lpstr>Holdout split: time series</vt:lpstr>
      <vt:lpstr>Holdout split: not time series</vt:lpstr>
      <vt:lpstr>EDA: the target</vt:lpstr>
      <vt:lpstr>EDA: predictors vs target</vt:lpstr>
      <vt:lpstr>EDA: relationships between predictors</vt:lpstr>
      <vt:lpstr>EDA: missing values</vt:lpstr>
      <vt:lpstr>EDA: what does the missingness mean?</vt:lpstr>
      <vt:lpstr>Variable selection: AIC and BIC</vt:lpstr>
      <vt:lpstr>Variable selection: result</vt:lpstr>
      <vt:lpstr>Transformations</vt:lpstr>
      <vt:lpstr>Outliers: how we handled them</vt:lpstr>
      <vt:lpstr>Interactions</vt:lpstr>
      <vt:lpstr>Candidate models</vt:lpstr>
      <vt:lpstr>Measures (1/2): RMSE and MAE</vt:lpstr>
      <vt:lpstr>Measures (2/2): MAPE, R² and Bias</vt:lpstr>
      <vt:lpstr>Cross validation: moving window (time series)</vt:lpstr>
      <vt:lpstr>Cross validation: K-fold (not time series)</vt:lpstr>
      <vt:lpstr>Model comparison</vt:lpstr>
      <vt:lpstr>Combinations of steps: ideal vs this analysis</vt:lpstr>
      <vt:lpstr>Final model</vt:lpstr>
      <vt:lpstr>Final test on the holdout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Squarepoint Data Analysis (regression)</dc:title>
  <dc:subject>PptxGenJS Presentation</dc:subject>
  <dc:creator>Minjun Cho</dc:creator>
  <cp:lastModifiedBy>조민준</cp:lastModifiedBy>
  <cp:revision>1</cp:revision>
  <dcterms:created xsi:type="dcterms:W3CDTF">2026-10-25T18:05:31Z</dcterms:created>
  <dcterms:modified xsi:type="dcterms:W3CDTF">2026-10-25T18:53:09Z</dcterms:modified>
</cp:coreProperties>
</file>