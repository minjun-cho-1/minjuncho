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BB3A2A56-A2A6-3136-898E-9BB52A73F256}">
          <p14:sldIdLst>
            <p14:sldId id="256"/>
            <p14:sldId id="257"/>
          </p14:sldIdLst>
        </p14:section>
        <p14:section name="Data" id="{8A6DE45B-0E6C-385D-B35A-136F58B7E9B0}">
          <p14:sldIdLst>
            <p14:sldId id="258"/>
            <p14:sldId id="259"/>
            <p14:sldId id="260"/>
          </p14:sldIdLst>
        </p14:section>
        <p14:section name="EDA" id="{E71A88EC-3BC8-932D-FB81-767C7B047A19}">
          <p14:sldIdLst>
            <p14:sldId id="261"/>
            <p14:sldId id="262"/>
            <p14:sldId id="263"/>
            <p14:sldId id="264"/>
            <p14:sldId id="265"/>
          </p14:sldIdLst>
        </p14:section>
        <p14:section name="Modeling" id="{FC4B2C2F-9C08-FB80-27A1-4398C649BC04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Evaluation" id="{F628F391-6FBC-B00D-B6EC-CE4DEE12AAED}">
          <p14:sldIdLst>
            <p14:sldId id="272"/>
            <p14:sldId id="273"/>
            <p14:sldId id="274"/>
            <p14:sldId id="275"/>
            <p14:sldId id="276"/>
          </p14:sldIdLst>
        </p14:section>
        <p14:section name="Results" id="{CA2E6013-7A86-30A8-D769-834DEAF61355}">
          <p14:sldIdLst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16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22556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only ONE of the two holdout-split slides (time series / not time series) and delete the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only ONE of the two holdout-split slides (time series / not time series) and delete the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only ONE of the two cross-validation slides (moving window for time series, K-fold otherwise) and delete the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011680"/>
            <a:ext cx="1109167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800" b="1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endParaRPr lang="en-US" sz="4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20040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3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01168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chemeClr val="tx1"/>
                </a:solidFill>
              </a:rPr>
              <a:t>Minjun Cho</a:t>
            </a:r>
            <a:endParaRPr lang="en-US" sz="48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3B99B6-C278-9E12-D776-8475374FA7FF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Analysis approach</a:t>
            </a:r>
            <a:endParaRPr lang="en-US" sz="3400" dirty="0"/>
          </a:p>
        </p:txBody>
      </p:sp>
      <p:sp>
        <p:nvSpPr>
          <p:cNvPr id="3" name="Step 1"/>
          <p:cNvSpPr txBox="1"/>
          <p:nvPr/>
        </p:nvSpPr>
        <p:spPr>
          <a:xfrm>
            <a:off x="525780" y="2194560"/>
            <a:ext cx="1371600" cy="11887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First look</a:t>
            </a:r>
            <a:endParaRPr lang="en-US" sz="1500" dirty="0"/>
          </a:p>
        </p:txBody>
      </p:sp>
      <p:sp>
        <p:nvSpPr>
          <p:cNvPr id="4" name="Step 1 note"/>
          <p:cNvSpPr txBox="1"/>
          <p:nvPr/>
        </p:nvSpPr>
        <p:spPr>
          <a:xfrm>
            <a:off x="489204" y="352044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4"/>
                </a:solidFill>
              </a:rPr>
              <a:t>rows, columns, types</a:t>
            </a:r>
            <a:endParaRPr lang="en-US" sz="1300" dirty="0"/>
          </a:p>
        </p:txBody>
      </p:sp>
      <p:sp>
        <p:nvSpPr>
          <p:cNvPr id="5" name="Arrow 1"/>
          <p:cNvSpPr/>
          <p:nvPr/>
        </p:nvSpPr>
        <p:spPr>
          <a:xfrm>
            <a:off x="1915668" y="2788920"/>
            <a:ext cx="219456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tep 2"/>
          <p:cNvSpPr txBox="1"/>
          <p:nvPr/>
        </p:nvSpPr>
        <p:spPr>
          <a:xfrm>
            <a:off x="2153412" y="2194560"/>
            <a:ext cx="1371600" cy="11887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Holdout split</a:t>
            </a:r>
            <a:endParaRPr lang="en-US" sz="1500" dirty="0"/>
          </a:p>
        </p:txBody>
      </p:sp>
      <p:sp>
        <p:nvSpPr>
          <p:cNvPr id="7" name="Step 2 note"/>
          <p:cNvSpPr txBox="1"/>
          <p:nvPr/>
        </p:nvSpPr>
        <p:spPr>
          <a:xfrm>
            <a:off x="2116836" y="352044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4"/>
                </a:solidFill>
              </a:rPr>
              <a:t>kept aside, opened once</a:t>
            </a:r>
            <a:endParaRPr lang="en-US" sz="1300" dirty="0"/>
          </a:p>
        </p:txBody>
      </p:sp>
      <p:sp>
        <p:nvSpPr>
          <p:cNvPr id="8" name="Arrow 2"/>
          <p:cNvSpPr/>
          <p:nvPr/>
        </p:nvSpPr>
        <p:spPr>
          <a:xfrm>
            <a:off x="3543300" y="2788920"/>
            <a:ext cx="219456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tep 3"/>
          <p:cNvSpPr txBox="1"/>
          <p:nvPr/>
        </p:nvSpPr>
        <p:spPr>
          <a:xfrm>
            <a:off x="3781044" y="2194560"/>
            <a:ext cx="1371600" cy="11887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EDA</a:t>
            </a:r>
            <a:endParaRPr lang="en-US" sz="1500" dirty="0"/>
          </a:p>
        </p:txBody>
      </p:sp>
      <p:sp>
        <p:nvSpPr>
          <p:cNvPr id="10" name="Step 3 note"/>
          <p:cNvSpPr txBox="1"/>
          <p:nvPr/>
        </p:nvSpPr>
        <p:spPr>
          <a:xfrm>
            <a:off x="3744468" y="352044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4"/>
                </a:solidFill>
              </a:rPr>
              <a:t>plots, missing values</a:t>
            </a:r>
            <a:endParaRPr lang="en-US" sz="1300" dirty="0"/>
          </a:p>
        </p:txBody>
      </p:sp>
      <p:sp>
        <p:nvSpPr>
          <p:cNvPr id="11" name="Arrow 3"/>
          <p:cNvSpPr/>
          <p:nvPr/>
        </p:nvSpPr>
        <p:spPr>
          <a:xfrm>
            <a:off x="5170932" y="2788920"/>
            <a:ext cx="219456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tep 4"/>
          <p:cNvSpPr txBox="1"/>
          <p:nvPr/>
        </p:nvSpPr>
        <p:spPr>
          <a:xfrm>
            <a:off x="5408676" y="2194560"/>
            <a:ext cx="1371600" cy="11887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Variable selection</a:t>
            </a:r>
            <a:endParaRPr lang="en-US" sz="1500" dirty="0"/>
          </a:p>
        </p:txBody>
      </p:sp>
      <p:sp>
        <p:nvSpPr>
          <p:cNvPr id="13" name="Step 4 note"/>
          <p:cNvSpPr txBox="1"/>
          <p:nvPr/>
        </p:nvSpPr>
        <p:spPr>
          <a:xfrm>
            <a:off x="5372100" y="352044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4"/>
                </a:solidFill>
              </a:rPr>
              <a:t>forward / backward, AIC / BIC</a:t>
            </a:r>
            <a:endParaRPr lang="en-US" sz="1300" dirty="0"/>
          </a:p>
        </p:txBody>
      </p:sp>
      <p:sp>
        <p:nvSpPr>
          <p:cNvPr id="14" name="Arrow 4"/>
          <p:cNvSpPr/>
          <p:nvPr/>
        </p:nvSpPr>
        <p:spPr>
          <a:xfrm>
            <a:off x="6798564" y="2788920"/>
            <a:ext cx="219456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tep 5"/>
          <p:cNvSpPr txBox="1"/>
          <p:nvPr/>
        </p:nvSpPr>
        <p:spPr>
          <a:xfrm>
            <a:off x="7036308" y="2194560"/>
            <a:ext cx="1371600" cy="11887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Transform, outliers, interactions</a:t>
            </a:r>
            <a:endParaRPr lang="en-US" sz="1500" dirty="0"/>
          </a:p>
        </p:txBody>
      </p:sp>
      <p:sp>
        <p:nvSpPr>
          <p:cNvPr id="16" name="Step 5 note"/>
          <p:cNvSpPr txBox="1"/>
          <p:nvPr/>
        </p:nvSpPr>
        <p:spPr>
          <a:xfrm>
            <a:off x="6999732" y="352044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4"/>
                </a:solidFill>
              </a:rPr>
              <a:t>y and x transforms, outlier rows, pairs</a:t>
            </a:r>
            <a:endParaRPr lang="en-US" sz="1300" dirty="0"/>
          </a:p>
        </p:txBody>
      </p:sp>
      <p:sp>
        <p:nvSpPr>
          <p:cNvPr id="17" name="Arrow 5"/>
          <p:cNvSpPr/>
          <p:nvPr/>
        </p:nvSpPr>
        <p:spPr>
          <a:xfrm>
            <a:off x="8426196" y="2788920"/>
            <a:ext cx="219456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tep 6"/>
          <p:cNvSpPr txBox="1"/>
          <p:nvPr/>
        </p:nvSpPr>
        <p:spPr>
          <a:xfrm>
            <a:off x="8663940" y="2194560"/>
            <a:ext cx="1371600" cy="11887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Models + comparison</a:t>
            </a:r>
            <a:endParaRPr lang="en-US" sz="1500" dirty="0"/>
          </a:p>
        </p:txBody>
      </p:sp>
      <p:sp>
        <p:nvSpPr>
          <p:cNvPr id="19" name="Step 6 note"/>
          <p:cNvSpPr txBox="1"/>
          <p:nvPr/>
        </p:nvSpPr>
        <p:spPr>
          <a:xfrm>
            <a:off x="8627364" y="352044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4"/>
                </a:solidFill>
              </a:rPr>
              <a:t>cross validation on unseen rows</a:t>
            </a:r>
            <a:endParaRPr lang="en-US" sz="1300" dirty="0"/>
          </a:p>
        </p:txBody>
      </p:sp>
      <p:sp>
        <p:nvSpPr>
          <p:cNvPr id="20" name="Arrow 6"/>
          <p:cNvSpPr/>
          <p:nvPr/>
        </p:nvSpPr>
        <p:spPr>
          <a:xfrm>
            <a:off x="10053828" y="2788920"/>
            <a:ext cx="219456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tep 7"/>
          <p:cNvSpPr txBox="1"/>
          <p:nvPr/>
        </p:nvSpPr>
        <p:spPr>
          <a:xfrm>
            <a:off x="10291572" y="2194560"/>
            <a:ext cx="1371600" cy="11887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Holdout test</a:t>
            </a:r>
            <a:endParaRPr lang="en-US" sz="1500" dirty="0"/>
          </a:p>
        </p:txBody>
      </p:sp>
      <p:sp>
        <p:nvSpPr>
          <p:cNvPr id="22" name="Step 7 note"/>
          <p:cNvSpPr txBox="1"/>
          <p:nvPr/>
        </p:nvSpPr>
        <p:spPr>
          <a:xfrm>
            <a:off x="10254996" y="352044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4"/>
                </a:solidFill>
              </a:rPr>
              <a:t>final check, once</a:t>
            </a:r>
            <a:endParaRPr lang="en-US" sz="1300" dirty="0"/>
          </a:p>
        </p:txBody>
      </p:sp>
      <p:sp>
        <p:nvSpPr>
          <p:cNvPr id="23" name="Summary line"/>
          <p:cNvSpPr txBox="1"/>
          <p:nvPr/>
        </p:nvSpPr>
        <p:spPr>
          <a:xfrm>
            <a:off x="548640" y="48463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chemeClr val="tx1"/>
                </a:solidFill>
              </a:rPr>
              <a:t>Every choice is made on the development part only. The holdout is opened once, at the end.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Data overview</a:t>
            </a:r>
            <a:endParaRPr lang="en-US" sz="3400" dirty="0"/>
          </a:p>
        </p:txBody>
      </p:sp>
      <p:sp>
        <p:nvSpPr>
          <p:cNvPr id="3" name="Data summary"/>
          <p:cNvSpPr txBox="1"/>
          <p:nvPr/>
        </p:nvSpPr>
        <p:spPr>
          <a:xfrm>
            <a:off x="548640" y="155448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Samples: </a:t>
            </a:r>
            <a:r>
              <a:rPr lang="en-US" sz="2400" dirty="0">
                <a:solidFill>
                  <a:schemeClr val="tx1"/>
                </a:solidFill>
              </a:rPr>
              <a:t>[N] rows   |   Columns: [M]</a:t>
            </a:r>
            <a:endParaRPr lang="en-US" sz="24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Target: </a:t>
            </a:r>
            <a:r>
              <a:rPr lang="en-US" sz="2400" dirty="0">
                <a:solidFill>
                  <a:schemeClr val="tx1"/>
                </a:solidFill>
              </a:rPr>
              <a:t>[name]  (category)</a:t>
            </a:r>
            <a:endParaRPr lang="en-US" sz="24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Classes: </a:t>
            </a:r>
            <a:r>
              <a:rPr lang="en-US" sz="2400" dirty="0">
                <a:solidFill>
                  <a:schemeClr val="tx1"/>
                </a:solidFill>
              </a:rPr>
              <a:t>[k] classes, shares [%]</a:t>
            </a:r>
            <a:endParaRPr lang="en-US" sz="24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Numeric ([n]): </a:t>
            </a:r>
            <a:r>
              <a:rPr lang="en-US" sz="2400" dirty="0">
                <a:solidFill>
                  <a:schemeClr val="tx1"/>
                </a:solidFill>
              </a:rPr>
              <a:t>[main examples]</a:t>
            </a:r>
            <a:endParaRPr lang="en-US" sz="24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Categorical ([n]): </a:t>
            </a:r>
            <a:r>
              <a:rPr lang="en-US" sz="2400" dirty="0">
                <a:solidFill>
                  <a:schemeClr val="tx1"/>
                </a:solidFill>
              </a:rPr>
              <a:t>[main examples]</a:t>
            </a:r>
            <a:endParaRPr lang="en-US" sz="24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Date ([n]): </a:t>
            </a:r>
            <a:r>
              <a:rPr lang="en-US" sz="2400" dirty="0">
                <a:solidFill>
                  <a:schemeClr val="tx1"/>
                </a:solidFill>
              </a:rPr>
              <a:t>[all of them]</a:t>
            </a:r>
            <a:endParaRPr lang="en-US" sz="24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ID ([n]): </a:t>
            </a:r>
            <a:r>
              <a:rPr lang="en-US" sz="2400" dirty="0">
                <a:solidFill>
                  <a:schemeClr val="tx1"/>
                </a:solidFill>
              </a:rPr>
              <a:t>[all of them]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Holdout split: time series</a:t>
            </a:r>
            <a:endParaRPr lang="en-US" sz="3400" dirty="0"/>
          </a:p>
        </p:txBody>
      </p:sp>
      <p:sp>
        <p:nvSpPr>
          <p:cNvPr id="3" name="development box"/>
          <p:cNvSpPr txBox="1"/>
          <p:nvPr/>
        </p:nvSpPr>
        <p:spPr>
          <a:xfrm>
            <a:off x="548640" y="1554480"/>
            <a:ext cx="8873338" cy="9144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development: first 80% of the days</a:t>
            </a:r>
            <a:endParaRPr lang="en-US" sz="2000" dirty="0"/>
          </a:p>
        </p:txBody>
      </p:sp>
      <p:sp>
        <p:nvSpPr>
          <p:cNvPr id="4" name="holdout box"/>
          <p:cNvSpPr txBox="1"/>
          <p:nvPr/>
        </p:nvSpPr>
        <p:spPr>
          <a:xfrm>
            <a:off x="9421978" y="1554480"/>
            <a:ext cx="2218334" cy="9144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holdout: last 20%</a:t>
            </a:r>
            <a:endParaRPr lang="en-US" sz="2000" dirty="0"/>
          </a:p>
        </p:txBody>
      </p:sp>
      <p:sp>
        <p:nvSpPr>
          <p:cNvPr id="5" name="Time arrow"/>
          <p:cNvSpPr/>
          <p:nvPr/>
        </p:nvSpPr>
        <p:spPr>
          <a:xfrm>
            <a:off x="548640" y="2834640"/>
            <a:ext cx="1109167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ime label"/>
          <p:cNvSpPr txBox="1"/>
          <p:nvPr/>
        </p:nvSpPr>
        <p:spPr>
          <a:xfrm>
            <a:off x="548640" y="290779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time</a:t>
            </a:r>
            <a:endParaRPr lang="en-US" sz="1400" dirty="0"/>
          </a:p>
        </p:txBody>
      </p:sp>
      <p:sp>
        <p:nvSpPr>
          <p:cNvPr id="7" name="Text"/>
          <p:cNvSpPr txBox="1"/>
          <p:nvPr/>
        </p:nvSpPr>
        <p:spPr>
          <a:xfrm>
            <a:off x="548640" y="356616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Split by time: the last 20% of the days are the holdout (a day is never cut in two)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No shuffling: the future must not leak into the past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development: </a:t>
            </a:r>
            <a:r>
              <a:rPr lang="en-US" sz="2000" dirty="0">
                <a:solidFill>
                  <a:schemeClr val="tx1"/>
                </a:solidFill>
              </a:rPr>
              <a:t>[start date] to [end date], [n] rows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holdout: </a:t>
            </a:r>
            <a:r>
              <a:rPr lang="en-US" sz="2000" dirty="0">
                <a:solidFill>
                  <a:schemeClr val="tx1"/>
                </a:solidFill>
              </a:rPr>
              <a:t>[start date] to [end date], [n] rows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holdout is not used until the final test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Holdout split: not time series</a:t>
            </a:r>
            <a:endParaRPr lang="en-US" sz="3400" dirty="0"/>
          </a:p>
        </p:txBody>
      </p:sp>
      <p:sp>
        <p:nvSpPr>
          <p:cNvPr id="3" name="development box"/>
          <p:cNvSpPr txBox="1"/>
          <p:nvPr/>
        </p:nvSpPr>
        <p:spPr>
          <a:xfrm>
            <a:off x="548640" y="1554480"/>
            <a:ext cx="8873338" cy="9144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development: random 80% of the rows</a:t>
            </a:r>
            <a:endParaRPr lang="en-US" sz="2000" dirty="0"/>
          </a:p>
        </p:txBody>
      </p:sp>
      <p:sp>
        <p:nvSpPr>
          <p:cNvPr id="4" name="holdout box"/>
          <p:cNvSpPr txBox="1"/>
          <p:nvPr/>
        </p:nvSpPr>
        <p:spPr>
          <a:xfrm>
            <a:off x="9421978" y="1554480"/>
            <a:ext cx="2218334" cy="9144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holdout: 20%</a:t>
            </a:r>
            <a:endParaRPr lang="en-US" sz="2000" dirty="0"/>
          </a:p>
        </p:txBody>
      </p:sp>
      <p:sp>
        <p:nvSpPr>
          <p:cNvPr id="5" name="Text"/>
          <p:cNvSpPr txBox="1"/>
          <p:nvPr/>
        </p:nvSpPr>
        <p:spPr>
          <a:xfrm>
            <a:off x="548640" y="30175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Random split: 80% of the rows are development, 20% are the holdout (fixed seed, so it can be repeated)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development: </a:t>
            </a:r>
            <a:r>
              <a:rPr lang="en-US" sz="2000" dirty="0">
                <a:solidFill>
                  <a:schemeClr val="tx1"/>
                </a:solidFill>
              </a:rPr>
              <a:t>[n] rows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holdout: </a:t>
            </a:r>
            <a:r>
              <a:rPr lang="en-US" sz="2000" dirty="0">
                <a:solidFill>
                  <a:schemeClr val="tx1"/>
                </a:solidFill>
              </a:rPr>
              <a:t>[n] rows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Rows used to choose variables and models are never used to test them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holdout is not used until the final test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EDA: the target classes</a:t>
            </a:r>
            <a:endParaRPr lang="en-US" sz="3400" dirty="0"/>
          </a:p>
        </p:txBody>
      </p:sp>
      <p:sp>
        <p:nvSpPr>
          <p:cNvPr id="3" name="Plot placeholder 1"/>
          <p:cNvSpPr txBox="1"/>
          <p:nvPr/>
        </p:nvSpPr>
        <p:spPr>
          <a:xfrm>
            <a:off x="548640" y="1371600"/>
            <a:ext cx="5408676" cy="30175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4"/>
                </a:solidFill>
              </a:rPr>
              <a:t>Insert plot here</a:t>
            </a:r>
            <a:endParaRPr lang="en-US" sz="22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accent4"/>
                </a:solidFill>
              </a:rPr>
              <a:t>(class shares)</a:t>
            </a:r>
            <a:endParaRPr lang="en-US" sz="2200" dirty="0"/>
          </a:p>
        </p:txBody>
      </p:sp>
      <p:sp>
        <p:nvSpPr>
          <p:cNvPr id="4" name="Plot placeholder 2"/>
          <p:cNvSpPr txBox="1"/>
          <p:nvPr/>
        </p:nvSpPr>
        <p:spPr>
          <a:xfrm>
            <a:off x="6231636" y="1371600"/>
            <a:ext cx="5408676" cy="30175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4"/>
                </a:solidFill>
              </a:rPr>
              <a:t>Insert plot here</a:t>
            </a:r>
            <a:endParaRPr lang="en-US" sz="22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accent4"/>
                </a:solidFill>
              </a:rPr>
              <a:t>(class shares over time)</a:t>
            </a:r>
            <a:endParaRPr lang="en-US" sz="2200" dirty="0"/>
          </a:p>
        </p:txBody>
      </p:sp>
      <p:sp>
        <p:nvSpPr>
          <p:cNvPr id="5" name="Text"/>
          <p:cNvSpPr txBox="1"/>
          <p:nvPr/>
        </p:nvSpPr>
        <p:spPr>
          <a:xfrm>
            <a:off x="548640" y="466344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Class balance: </a:t>
            </a:r>
            <a:r>
              <a:rPr lang="en-US" sz="2000" dirty="0">
                <a:solidFill>
                  <a:schemeClr val="tx1"/>
                </a:solidFill>
              </a:rPr>
              <a:t>[shares; is one class rare?]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Over time: </a:t>
            </a:r>
            <a:r>
              <a:rPr lang="en-US" sz="2000" dirty="0">
                <a:solidFill>
                  <a:schemeClr val="tx1"/>
                </a:solidFill>
              </a:rPr>
              <a:t>[do the shares change?]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So what: </a:t>
            </a:r>
            <a:r>
              <a:rPr lang="en-US" sz="2000" dirty="0">
                <a:solidFill>
                  <a:schemeClr val="tx1"/>
                </a:solidFill>
              </a:rPr>
              <a:t>[accuracy alone can mislead: use balanced accuracy, AUC]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EDA: predictors vs target</a:t>
            </a:r>
            <a:endParaRPr lang="en-US" sz="3400" dirty="0"/>
          </a:p>
        </p:txBody>
      </p:sp>
      <p:sp>
        <p:nvSpPr>
          <p:cNvPr id="3" name="Plot placeholder"/>
          <p:cNvSpPr txBox="1"/>
          <p:nvPr/>
        </p:nvSpPr>
        <p:spPr>
          <a:xfrm>
            <a:off x="548640" y="1371600"/>
            <a:ext cx="6583680" cy="4754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4"/>
                </a:solidFill>
              </a:rPr>
              <a:t>Insert plot here</a:t>
            </a:r>
            <a:endParaRPr lang="en-US" sz="22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accent4"/>
                </a:solidFill>
              </a:rPr>
              <a:t>(boxplots by class, bar charts by category)</a:t>
            </a:r>
            <a:endParaRPr lang="en-US" sz="2200" dirty="0"/>
          </a:p>
        </p:txBody>
      </p:sp>
      <p:sp>
        <p:nvSpPr>
          <p:cNvPr id="4" name="Text"/>
          <p:cNvSpPr txBox="1"/>
          <p:nvPr/>
        </p:nvSpPr>
        <p:spPr>
          <a:xfrm>
            <a:off x="7406640" y="1371600"/>
            <a:ext cx="42336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Numeric: </a:t>
            </a:r>
            <a:r>
              <a:rPr lang="en-US" sz="2000" dirty="0">
                <a:solidFill>
                  <a:schemeClr val="tx1"/>
                </a:solidFill>
              </a:rPr>
              <a:t>[which differ between the classes]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Categorical: </a:t>
            </a:r>
            <a:r>
              <a:rPr lang="en-US" sz="2000" dirty="0">
                <a:solidFill>
                  <a:schemeClr val="tx1"/>
                </a:solidFill>
              </a:rPr>
              <a:t>[which categories have different class shares]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Time: </a:t>
            </a:r>
            <a:r>
              <a:rPr lang="en-US" sz="2000" dirty="0">
                <a:solidFill>
                  <a:schemeClr val="tx1"/>
                </a:solidFill>
              </a:rPr>
              <a:t>[month / weekday effects]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So what: </a:t>
            </a:r>
            <a:r>
              <a:rPr lang="en-US" sz="2000" dirty="0">
                <a:solidFill>
                  <a:schemeClr val="tx1"/>
                </a:solidFill>
              </a:rPr>
              <a:t>[candidate predictors]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EDA: relationships between predictors</a:t>
            </a:r>
            <a:endParaRPr lang="en-US" sz="3400" dirty="0"/>
          </a:p>
        </p:txBody>
      </p:sp>
      <p:sp>
        <p:nvSpPr>
          <p:cNvPr id="3" name="Plot placeholder"/>
          <p:cNvSpPr txBox="1"/>
          <p:nvPr/>
        </p:nvSpPr>
        <p:spPr>
          <a:xfrm>
            <a:off x="548640" y="1371600"/>
            <a:ext cx="6583680" cy="4754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4"/>
                </a:solidFill>
              </a:rPr>
              <a:t>Insert plot here</a:t>
            </a:r>
            <a:endParaRPr lang="en-US" sz="22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accent4"/>
                </a:solidFill>
              </a:rPr>
              <a:t>(correlation heatmap, pairs plot)</a:t>
            </a:r>
            <a:endParaRPr lang="en-US" sz="2200" dirty="0"/>
          </a:p>
        </p:txBody>
      </p:sp>
      <p:sp>
        <p:nvSpPr>
          <p:cNvPr id="4" name="Text"/>
          <p:cNvSpPr txBox="1"/>
          <p:nvPr/>
        </p:nvSpPr>
        <p:spPr>
          <a:xfrm>
            <a:off x="7406640" y="1371600"/>
            <a:ext cx="42336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Strongly correlated: </a:t>
            </a:r>
            <a:r>
              <a:rPr lang="en-US" sz="2000" dirty="0">
                <a:solidFill>
                  <a:schemeClr val="tx1"/>
                </a:solidFill>
              </a:rPr>
              <a:t>[x and y]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So what: </a:t>
            </a:r>
            <a:r>
              <a:rPr lang="en-US" sz="2000" dirty="0">
                <a:solidFill>
                  <a:schemeClr val="tx1"/>
                </a:solidFill>
              </a:rPr>
              <a:t>[keep one / combine / keep both]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EDA: missing values</a:t>
            </a:r>
            <a:endParaRPr lang="en-US" sz="3400" dirty="0"/>
          </a:p>
        </p:txBody>
      </p:sp>
      <p:sp>
        <p:nvSpPr>
          <p:cNvPr id="3" name="Plot placeholder 1"/>
          <p:cNvSpPr txBox="1"/>
          <p:nvPr/>
        </p:nvSpPr>
        <p:spPr>
          <a:xfrm>
            <a:off x="548640" y="1371600"/>
            <a:ext cx="5408676" cy="30175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4"/>
                </a:solidFill>
              </a:rPr>
              <a:t>Insert plot here</a:t>
            </a:r>
            <a:endParaRPr lang="en-US" sz="22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accent4"/>
                </a:solidFill>
              </a:rPr>
              <a:t>(missing count per column)</a:t>
            </a:r>
            <a:endParaRPr lang="en-US" sz="2200" dirty="0"/>
          </a:p>
        </p:txBody>
      </p:sp>
      <p:sp>
        <p:nvSpPr>
          <p:cNvPr id="4" name="Plot placeholder 2"/>
          <p:cNvSpPr txBox="1"/>
          <p:nvPr/>
        </p:nvSpPr>
        <p:spPr>
          <a:xfrm>
            <a:off x="6231636" y="1371600"/>
            <a:ext cx="5408676" cy="30175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4"/>
                </a:solidFill>
              </a:rPr>
              <a:t>Insert plot here</a:t>
            </a:r>
            <a:endParaRPr lang="en-US" sz="22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accent4"/>
                </a:solidFill>
              </a:rPr>
              <a:t>(missing pattern)</a:t>
            </a:r>
            <a:endParaRPr lang="en-US" sz="2200" dirty="0"/>
          </a:p>
        </p:txBody>
      </p:sp>
      <p:sp>
        <p:nvSpPr>
          <p:cNvPr id="5" name="Text"/>
          <p:cNvSpPr txBox="1"/>
          <p:nvPr/>
        </p:nvSpPr>
        <p:spPr>
          <a:xfrm>
            <a:off x="548640" y="466344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Which columns: </a:t>
            </a:r>
            <a:r>
              <a:rPr lang="en-US" sz="2000" dirty="0">
                <a:solidFill>
                  <a:schemeClr val="tx1"/>
                </a:solidFill>
              </a:rPr>
              <a:t>[names]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How much: </a:t>
            </a:r>
            <a:r>
              <a:rPr lang="en-US" sz="2000" dirty="0">
                <a:solidFill>
                  <a:schemeClr val="tx1"/>
                </a:solidFill>
              </a:rPr>
              <a:t>[% per column]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Pattern: </a:t>
            </a:r>
            <a:r>
              <a:rPr lang="en-US" sz="2000" dirty="0">
                <a:solidFill>
                  <a:schemeClr val="tx1"/>
                </a:solidFill>
              </a:rPr>
              <a:t>[missing together? only in some periods?]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EDA: what does the missingness mean?</a:t>
            </a:r>
            <a:endParaRPr lang="en-US" sz="3400" dirty="0"/>
          </a:p>
        </p:txBody>
      </p:sp>
      <p:sp>
        <p:nvSpPr>
          <p:cNvPr id="3" name="Plot placeholder"/>
          <p:cNvSpPr txBox="1"/>
          <p:nvPr/>
        </p:nvSpPr>
        <p:spPr>
          <a:xfrm>
            <a:off x="548640" y="1371600"/>
            <a:ext cx="6583680" cy="4754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4"/>
                </a:solidFill>
              </a:rPr>
              <a:t>Insert plot here</a:t>
            </a:r>
            <a:endParaRPr lang="en-US" sz="22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accent4"/>
                </a:solidFill>
              </a:rPr>
              <a:t>(mean difference table, missing rate by group)</a:t>
            </a:r>
            <a:endParaRPr lang="en-US" sz="2200" dirty="0"/>
          </a:p>
        </p:txBody>
      </p:sp>
      <p:sp>
        <p:nvSpPr>
          <p:cNvPr id="4" name="Text"/>
          <p:cNvSpPr txBox="1"/>
          <p:nvPr/>
        </p:nvSpPr>
        <p:spPr>
          <a:xfrm>
            <a:off x="7406640" y="1371600"/>
            <a:ext cx="42336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Numeric columns: </a:t>
            </a:r>
            <a:r>
              <a:rPr lang="en-US" sz="2000" dirty="0">
                <a:solidFill>
                  <a:schemeClr val="tx1"/>
                </a:solidFill>
              </a:rPr>
              <a:t>[how rows with a missing value differ from the others]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By category: </a:t>
            </a:r>
            <a:r>
              <a:rPr lang="en-US" sz="2000" dirty="0">
                <a:solidFill>
                  <a:schemeClr val="tx1"/>
                </a:solidFill>
              </a:rPr>
              <a:t>[which groups miss more]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Over time: </a:t>
            </a:r>
            <a:r>
              <a:rPr lang="en-US" sz="2000" dirty="0">
                <a:solidFill>
                  <a:schemeClr val="tx1"/>
                </a:solidFill>
              </a:rPr>
              <a:t>[any change?]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Conclusion: </a:t>
            </a:r>
            <a:r>
              <a:rPr lang="en-US" sz="2000" dirty="0">
                <a:solidFill>
                  <a:schemeClr val="tx1"/>
                </a:solidFill>
              </a:rPr>
              <a:t>[random / depends on X] and how it is filled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Variable selection: AIC and BIC</a:t>
            </a:r>
            <a:endParaRPr lang="en-US" sz="3400" dirty="0"/>
          </a:p>
        </p:txBody>
      </p:sp>
      <p:sp>
        <p:nvSpPr>
          <p:cNvPr id="3" name="AIC"/>
          <p:cNvSpPr txBox="1"/>
          <p:nvPr/>
        </p:nvSpPr>
        <p:spPr>
          <a:xfrm>
            <a:off x="548640" y="1371600"/>
            <a:ext cx="540867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600"/>
              </a:spcAft>
              <a:buNone/>
            </a:pPr>
            <a:r>
              <a:rPr lang="en-US" sz="2800" b="1" dirty="0">
                <a:solidFill>
                  <a:schemeClr val="tx1"/>
                </a:solidFill>
              </a:rPr>
              <a:t>AIC</a:t>
            </a:r>
            <a:endParaRPr lang="en-US" sz="28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AIC = 2k − 2 ln(L)</a:t>
            </a:r>
            <a:endParaRPr lang="en-US" sz="28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Pros: </a:t>
            </a:r>
            <a:r>
              <a:rPr lang="en-US" sz="2000" dirty="0">
                <a:solidFill>
                  <a:schemeClr val="tx1"/>
                </a:solidFill>
              </a:rPr>
              <a:t>Light penalty: keeps more variables, good for prediction</a:t>
            </a:r>
            <a:endParaRPr lang="en-US" sz="28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Cons: </a:t>
            </a:r>
            <a:r>
              <a:rPr lang="en-US" sz="2000" dirty="0">
                <a:solidFill>
                  <a:schemeClr val="tx1"/>
                </a:solidFill>
              </a:rPr>
              <a:t>Can keep noise variables (overfit)</a:t>
            </a:r>
            <a:endParaRPr lang="en-US" sz="2800" dirty="0"/>
          </a:p>
        </p:txBody>
      </p:sp>
      <p:sp>
        <p:nvSpPr>
          <p:cNvPr id="4" name="BIC"/>
          <p:cNvSpPr txBox="1"/>
          <p:nvPr/>
        </p:nvSpPr>
        <p:spPr>
          <a:xfrm>
            <a:off x="6231636" y="1371600"/>
            <a:ext cx="540867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600"/>
              </a:spcAft>
              <a:buNone/>
            </a:pPr>
            <a:r>
              <a:rPr lang="en-US" sz="2800" b="1" dirty="0">
                <a:solidFill>
                  <a:schemeClr val="tx1"/>
                </a:solidFill>
              </a:rPr>
              <a:t>BIC</a:t>
            </a:r>
            <a:endParaRPr lang="en-US" sz="28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BIC = k ln(n) − 2 ln(L)</a:t>
            </a:r>
            <a:endParaRPr lang="en-US" sz="28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Pros: </a:t>
            </a:r>
            <a:r>
              <a:rPr lang="en-US" sz="2000" dirty="0">
                <a:solidFill>
                  <a:schemeClr val="tx1"/>
                </a:solidFill>
              </a:rPr>
              <a:t>Heavier penalty (grows with n): a simpler model that is easy to explain</a:t>
            </a:r>
            <a:endParaRPr lang="en-US" sz="28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Cons: </a:t>
            </a:r>
            <a:r>
              <a:rPr lang="en-US" sz="2000" dirty="0">
                <a:solidFill>
                  <a:schemeClr val="tx1"/>
                </a:solidFill>
              </a:rPr>
              <a:t>May drop weak but useful variables (underfit)</a:t>
            </a:r>
            <a:endParaRPr lang="en-US" sz="2800" dirty="0"/>
          </a:p>
        </p:txBody>
      </p:sp>
      <p:sp>
        <p:nvSpPr>
          <p:cNvPr id="5" name="Note"/>
          <p:cNvSpPr txBox="1"/>
          <p:nvPr/>
        </p:nvSpPr>
        <p:spPr>
          <a:xfrm>
            <a:off x="548640" y="493776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k = number of parameters, n = number of rows, L = the maximized likelihood. Smaller is better. When n ≥ 8, BIC charges more for every variable than AIC.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Forward: start with no variable and add the one that helps most. Backward: start with all variables and drop the one that hurts least. Fitted on the logistic regression.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Variable selection: result</a:t>
            </a:r>
            <a:endParaRPr lang="en-US" sz="3400" dirty="0"/>
          </a:p>
        </p:txBody>
      </p:sp>
      <p:sp>
        <p:nvSpPr>
          <p:cNvPr id="3" name="Plot placeholder"/>
          <p:cNvSpPr txBox="1"/>
          <p:nvPr/>
        </p:nvSpPr>
        <p:spPr>
          <a:xfrm>
            <a:off x="548640" y="1371600"/>
            <a:ext cx="6583680" cy="4754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4"/>
                </a:solidFill>
              </a:rPr>
              <a:t>Insert plot here</a:t>
            </a:r>
            <a:endParaRPr lang="en-US" sz="22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accent4"/>
                </a:solidFill>
              </a:rPr>
              <a:t>(selection table or check plots)</a:t>
            </a:r>
            <a:endParaRPr lang="en-US" sz="2200" dirty="0"/>
          </a:p>
        </p:txBody>
      </p:sp>
      <p:sp>
        <p:nvSpPr>
          <p:cNvPr id="4" name="Text"/>
          <p:cNvSpPr txBox="1"/>
          <p:nvPr/>
        </p:nvSpPr>
        <p:spPr>
          <a:xfrm>
            <a:off x="7406640" y="1371600"/>
            <a:ext cx="42336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Selected: </a:t>
            </a:r>
            <a:r>
              <a:rPr lang="en-US" sz="2000" dirty="0">
                <a:solidFill>
                  <a:schemeClr val="tx1"/>
                </a:solidFill>
              </a:rPr>
              <a:t>[variables] (forward / backward, AIC / BIC)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Check of the selected model: </a:t>
            </a:r>
            <a:r>
              <a:rPr lang="en-US" sz="2000" dirty="0">
                <a:solidFill>
                  <a:schemeClr val="tx1"/>
                </a:solidFill>
              </a:rPr>
              <a:t>[class counts, VIF, log-odds vs x, Cook's distance]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Transformations</a:t>
            </a:r>
            <a:endParaRPr lang="en-US" sz="3400" dirty="0"/>
          </a:p>
        </p:txBody>
      </p:sp>
      <p:sp>
        <p:nvSpPr>
          <p:cNvPr id="3" name="Plot placeholder"/>
          <p:cNvSpPr txBox="1"/>
          <p:nvPr/>
        </p:nvSpPr>
        <p:spPr>
          <a:xfrm>
            <a:off x="548640" y="1371600"/>
            <a:ext cx="6583680" cy="4754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4"/>
                </a:solidFill>
              </a:rPr>
              <a:t>Insert plot here</a:t>
            </a:r>
            <a:endParaRPr lang="en-US" sz="22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accent4"/>
                </a:solidFill>
              </a:rPr>
              <a:t>(x-transform test table)</a:t>
            </a:r>
            <a:endParaRPr lang="en-US" sz="2200" dirty="0"/>
          </a:p>
        </p:txBody>
      </p:sp>
      <p:sp>
        <p:nvSpPr>
          <p:cNvPr id="4" name="Text"/>
          <p:cNvSpPr txBox="1"/>
          <p:nvPr/>
        </p:nvSpPr>
        <p:spPr>
          <a:xfrm>
            <a:off x="7406640" y="1371600"/>
            <a:ext cx="42336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Target: </a:t>
            </a:r>
            <a:r>
              <a:rPr lang="en-US" sz="2000" dirty="0">
                <a:solidFill>
                  <a:schemeClr val="tx1"/>
                </a:solidFill>
              </a:rPr>
              <a:t>no transformation (it is a category)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Predictors: </a:t>
            </a:r>
            <a:r>
              <a:rPr lang="en-US" sz="2000" dirty="0">
                <a:solidFill>
                  <a:schemeClr val="tx1"/>
                </a:solidFill>
              </a:rPr>
              <a:t>[transform] of [column] (AIC change [value])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Outliers: how we handled them</a:t>
            </a:r>
            <a:endParaRPr lang="en-US" sz="3400" dirty="0"/>
          </a:p>
        </p:txBody>
      </p:sp>
      <p:sp>
        <p:nvSpPr>
          <p:cNvPr id="3" name="Plot placeholder"/>
          <p:cNvSpPr txBox="1"/>
          <p:nvPr/>
        </p:nvSpPr>
        <p:spPr>
          <a:xfrm>
            <a:off x="548640" y="1371600"/>
            <a:ext cx="6583680" cy="4754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4"/>
                </a:solidFill>
              </a:rPr>
              <a:t>Insert plot here</a:t>
            </a:r>
            <a:endParaRPr lang="en-US" sz="22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accent4"/>
                </a:solidFill>
              </a:rPr>
              <a:t>(probability of the true class, mean comparison table)</a:t>
            </a:r>
            <a:endParaRPr lang="en-US" sz="2200" dirty="0"/>
          </a:p>
        </p:txBody>
      </p:sp>
      <p:sp>
        <p:nvSpPr>
          <p:cNvPr id="4" name="Text"/>
          <p:cNvSpPr txBox="1"/>
          <p:nvPr/>
        </p:nvSpPr>
        <p:spPr>
          <a:xfrm>
            <a:off x="7406640" y="1371600"/>
            <a:ext cx="42336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Candidates: </a:t>
            </a:r>
            <a:r>
              <a:rPr lang="en-US" sz="1800" dirty="0">
                <a:solidFill>
                  <a:schemeClr val="tx1"/>
                </a:solidFill>
              </a:rPr>
              <a:t>rows where the model gives the true class a probability below [0.10]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Looked at: </a:t>
            </a:r>
            <a:r>
              <a:rPr lang="en-US" sz="1800" dirty="0">
                <a:solidFill>
                  <a:schemeClr val="tx1"/>
                </a:solidFill>
              </a:rPr>
              <a:t>the candidate rows, and how their other columns and classes differ from the normal rows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Example: </a:t>
            </a:r>
            <a:r>
              <a:rPr lang="en-US" sz="1800" dirty="0">
                <a:solidFill>
                  <a:schemeClr val="tx1"/>
                </a:solidFill>
              </a:rPr>
              <a:t>mean of [column]: normal [value], candidates [value]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Categories: </a:t>
            </a:r>
            <a:r>
              <a:rPr lang="en-US" sz="1800" dirty="0">
                <a:solidFill>
                  <a:schemeClr val="tx1"/>
                </a:solidFill>
              </a:rPr>
              <a:t>[which groups / classes have more candidates]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Handling: </a:t>
            </a:r>
            <a:r>
              <a:rPr lang="en-US" sz="1800" dirty="0">
                <a:solidFill>
                  <a:schemeClr val="tx1"/>
                </a:solidFill>
              </a:rPr>
              <a:t>[kept / removed / explained by X] because [reason]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Interactions</a:t>
            </a:r>
            <a:endParaRPr lang="en-US" sz="3400" dirty="0"/>
          </a:p>
        </p:txBody>
      </p:sp>
      <p:sp>
        <p:nvSpPr>
          <p:cNvPr id="3" name="Plot placeholder"/>
          <p:cNvSpPr txBox="1"/>
          <p:nvPr/>
        </p:nvSpPr>
        <p:spPr>
          <a:xfrm>
            <a:off x="548640" y="1371600"/>
            <a:ext cx="6583680" cy="4754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4"/>
                </a:solidFill>
              </a:rPr>
              <a:t>Insert plot here</a:t>
            </a:r>
            <a:endParaRPr lang="en-US" sz="22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accent4"/>
                </a:solidFill>
              </a:rPr>
              <a:t>(interaction plot or test table)</a:t>
            </a:r>
            <a:endParaRPr lang="en-US" sz="2200" dirty="0"/>
          </a:p>
        </p:txBody>
      </p:sp>
      <p:sp>
        <p:nvSpPr>
          <p:cNvPr id="4" name="Text"/>
          <p:cNvSpPr txBox="1"/>
          <p:nvPr/>
        </p:nvSpPr>
        <p:spPr>
          <a:xfrm>
            <a:off x="7406640" y="1371600"/>
            <a:ext cx="42336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Tested: </a:t>
            </a:r>
            <a:r>
              <a:rPr lang="en-US" sz="2000" dirty="0">
                <a:solidFill>
                  <a:schemeClr val="tx1"/>
                </a:solidFill>
              </a:rPr>
              <a:t>[pairs] (likelihood-ratio test)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Kept: </a:t>
            </a:r>
            <a:r>
              <a:rPr lang="en-US" sz="2000" dirty="0">
                <a:solidFill>
                  <a:schemeClr val="tx1"/>
                </a:solidFill>
              </a:rPr>
              <a:t>[a:b] (p-value [value])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Why it makes sense: </a:t>
            </a:r>
            <a:r>
              <a:rPr lang="en-US" sz="2000" dirty="0">
                <a:solidFill>
                  <a:schemeClr val="tx1"/>
                </a:solidFill>
              </a:rPr>
              <a:t>[reason]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Candidate models</a:t>
            </a:r>
            <a:endParaRPr lang="en-US" sz="34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463040"/>
            <a:ext cx="11091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chemeClr val="tx1"/>
                </a:solidFill>
              </a:rPr>
              <a:t>baseline: </a:t>
            </a:r>
            <a:r>
              <a:rPr lang="en-US" sz="2200" dirty="0">
                <a:solidFill>
                  <a:schemeClr val="tx1"/>
                </a:solidFill>
              </a:rPr>
              <a:t>the share of every class (the number to beat)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chemeClr val="tx1"/>
                </a:solidFill>
              </a:rPr>
              <a:t>logit: </a:t>
            </a:r>
            <a:r>
              <a:rPr lang="en-US" sz="2200" dirty="0">
                <a:solidFill>
                  <a:schemeClr val="tx1"/>
                </a:solidFill>
              </a:rPr>
              <a:t>logistic regression (several classes: multinomial)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chemeClr val="tx1"/>
                </a:solidFill>
              </a:rPr>
              <a:t>lasso, ridge: </a:t>
            </a:r>
            <a:r>
              <a:rPr lang="en-US" sz="2200" dirty="0">
                <a:solidFill>
                  <a:schemeClr val="tx1"/>
                </a:solidFill>
              </a:rPr>
              <a:t>logistic regression with shrunk coefficients (lasso can drop variables)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chemeClr val="tx1"/>
                </a:solidFill>
              </a:rPr>
              <a:t>tree: </a:t>
            </a:r>
            <a:r>
              <a:rPr lang="en-US" sz="2200" dirty="0">
                <a:solidFill>
                  <a:schemeClr val="tx1"/>
                </a:solidFill>
              </a:rPr>
              <a:t>decision tree (easy to read)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chemeClr val="tx1"/>
                </a:solidFill>
              </a:rPr>
              <a:t>glmm: </a:t>
            </a:r>
            <a:r>
              <a:rPr lang="en-US" sz="2200" dirty="0">
                <a:solidFill>
                  <a:schemeClr val="tx1"/>
                </a:solidFill>
              </a:rPr>
              <a:t>logistic regression plus a random intercept per group (two classes only)</a:t>
            </a:r>
            <a:endParaRPr lang="en-US" sz="2200" dirty="0"/>
          </a:p>
        </p:txBody>
      </p:sp>
      <p:sp>
        <p:nvSpPr>
          <p:cNvPr id="4" name="Note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accent4"/>
                </a:solidFill>
              </a:rPr>
              <a:t>All candidates use the same variables, transformations and interactions.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Measures (1/2): LogLoss and AUC</a:t>
            </a:r>
            <a:endParaRPr lang="en-US" sz="3400" dirty="0"/>
          </a:p>
        </p:txBody>
      </p:sp>
      <p:sp>
        <p:nvSpPr>
          <p:cNvPr id="3" name="LogLoss"/>
          <p:cNvSpPr txBox="1"/>
          <p:nvPr/>
        </p:nvSpPr>
        <p:spPr>
          <a:xfrm>
            <a:off x="548640" y="1371600"/>
            <a:ext cx="540867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600"/>
              </a:spcAft>
              <a:buNone/>
            </a:pPr>
            <a:r>
              <a:rPr lang="en-US" sz="2800" b="1" dirty="0">
                <a:solidFill>
                  <a:schemeClr val="tx1"/>
                </a:solidFill>
              </a:rPr>
              <a:t>LogLoss</a:t>
            </a:r>
            <a:endParaRPr lang="en-US" sz="28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LogLoss = −(1/n) Σ ln(p)</a:t>
            </a:r>
            <a:endParaRPr lang="en-US" sz="28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Pros: </a:t>
            </a:r>
            <a:r>
              <a:rPr lang="en-US" sz="2000" dirty="0">
                <a:solidFill>
                  <a:schemeClr val="tx1"/>
                </a:solidFill>
              </a:rPr>
              <a:t>Uses the whole probability; rewards honest probabilities</a:t>
            </a:r>
            <a:endParaRPr lang="en-US" sz="28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Cons: </a:t>
            </a:r>
            <a:r>
              <a:rPr lang="en-US" sz="2000" dirty="0">
                <a:solidFill>
                  <a:schemeClr val="tx1"/>
                </a:solidFill>
              </a:rPr>
              <a:t>A few confident mistakes dominate; hard to read alone</a:t>
            </a:r>
            <a:endParaRPr lang="en-US" sz="2800" dirty="0"/>
          </a:p>
        </p:txBody>
      </p:sp>
      <p:sp>
        <p:nvSpPr>
          <p:cNvPr id="4" name="AUC"/>
          <p:cNvSpPr txBox="1"/>
          <p:nvPr/>
        </p:nvSpPr>
        <p:spPr>
          <a:xfrm>
            <a:off x="6231636" y="1371600"/>
            <a:ext cx="540867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600"/>
              </a:spcAft>
              <a:buNone/>
            </a:pPr>
            <a:r>
              <a:rPr lang="en-US" sz="2800" b="1" dirty="0">
                <a:solidFill>
                  <a:schemeClr val="tx1"/>
                </a:solidFill>
              </a:rPr>
              <a:t>AUC</a:t>
            </a:r>
            <a:endParaRPr lang="en-US" sz="28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2400" b="1" dirty="0">
                <a:solidFill>
                  <a:schemeClr val="tx1"/>
                </a:solidFill>
              </a:rPr>
              <a:t>AUC = P( score of a positive row &gt; score of a negative row )</a:t>
            </a:r>
            <a:endParaRPr lang="en-US" sz="28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Pros: </a:t>
            </a:r>
            <a:r>
              <a:rPr lang="en-US" sz="2000" dirty="0">
                <a:solidFill>
                  <a:schemeClr val="tx1"/>
                </a:solidFill>
              </a:rPr>
              <a:t>Needs no threshold: 0.5 is guessing, 1 is perfect</a:t>
            </a:r>
            <a:endParaRPr lang="en-US" sz="28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Cons: </a:t>
            </a:r>
            <a:r>
              <a:rPr lang="en-US" sz="2000" dirty="0">
                <a:solidFill>
                  <a:schemeClr val="tx1"/>
                </a:solidFill>
              </a:rPr>
              <a:t>Ignores the size of the probabilities; does not give the best threshold</a:t>
            </a:r>
            <a:endParaRPr lang="en-US" sz="2800" dirty="0"/>
          </a:p>
        </p:txBody>
      </p:sp>
      <p:sp>
        <p:nvSpPr>
          <p:cNvPr id="5" name="Note"/>
          <p:cNvSpPr txBox="1"/>
          <p:nvPr/>
        </p:nvSpPr>
        <p:spPr>
          <a:xfrm>
            <a:off x="548640" y="493776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p = the probability given to the true class, n = number of rows. Several classes: AUC is the average of one class against the rest.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accent4"/>
                </a:solidFill>
              </a:rPr>
              <a:t>Main score for choosing the model: LogLoss.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Measures (2/2): Accuracy, balanced accuracy and F1</a:t>
            </a:r>
            <a:endParaRPr lang="en-US" sz="3400" dirty="0"/>
          </a:p>
        </p:txBody>
      </p:sp>
      <p:sp>
        <p:nvSpPr>
          <p:cNvPr id="3" name="Accuracy"/>
          <p:cNvSpPr txBox="1"/>
          <p:nvPr/>
        </p:nvSpPr>
        <p:spPr>
          <a:xfrm>
            <a:off x="548640" y="1371600"/>
            <a:ext cx="3514344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Accuracy</a:t>
            </a:r>
            <a:endParaRPr lang="en-US" sz="2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Accuracy = (TP + TN) / n</a:t>
            </a:r>
            <a:endParaRPr lang="en-US" sz="2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Pros: </a:t>
            </a:r>
            <a:r>
              <a:rPr lang="en-US" sz="1800" dirty="0">
                <a:solidFill>
                  <a:schemeClr val="tx1"/>
                </a:solidFill>
              </a:rPr>
              <a:t>Simple: the share of correct rows</a:t>
            </a:r>
            <a:endParaRPr lang="en-US" sz="2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Cons: </a:t>
            </a:r>
            <a:r>
              <a:rPr lang="en-US" sz="1800" dirty="0">
                <a:solidFill>
                  <a:schemeClr val="tx1"/>
                </a:solidFill>
              </a:rPr>
              <a:t>Fooled by a big class: always saying that class scores high</a:t>
            </a:r>
            <a:endParaRPr lang="en-US" sz="2600" dirty="0"/>
          </a:p>
        </p:txBody>
      </p:sp>
      <p:sp>
        <p:nvSpPr>
          <p:cNvPr id="4" name="Balanced accuracy"/>
          <p:cNvSpPr txBox="1"/>
          <p:nvPr/>
        </p:nvSpPr>
        <p:spPr>
          <a:xfrm>
            <a:off x="4337304" y="1371600"/>
            <a:ext cx="3514344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Balanced accuracy</a:t>
            </a:r>
            <a:endParaRPr lang="en-US" sz="2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(TPR + TNR) / 2  (several classes: the mean recall)</a:t>
            </a:r>
            <a:endParaRPr lang="en-US" sz="2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Pros: </a:t>
            </a:r>
            <a:r>
              <a:rPr lang="en-US" sz="1800" dirty="0">
                <a:solidFill>
                  <a:schemeClr val="tx1"/>
                </a:solidFill>
              </a:rPr>
              <a:t>Not fooled by a big class</a:t>
            </a:r>
            <a:endParaRPr lang="en-US" sz="2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Cons: </a:t>
            </a:r>
            <a:r>
              <a:rPr lang="en-US" sz="1800" dirty="0">
                <a:solidFill>
                  <a:schemeClr val="tx1"/>
                </a:solidFill>
              </a:rPr>
              <a:t>Every class counts the same, even if one mistake costs more</a:t>
            </a:r>
            <a:endParaRPr lang="en-US" sz="2600" dirty="0"/>
          </a:p>
        </p:txBody>
      </p:sp>
      <p:sp>
        <p:nvSpPr>
          <p:cNvPr id="5" name="F1"/>
          <p:cNvSpPr txBox="1"/>
          <p:nvPr/>
        </p:nvSpPr>
        <p:spPr>
          <a:xfrm>
            <a:off x="8125968" y="1371600"/>
            <a:ext cx="3514344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F1</a:t>
            </a:r>
            <a:endParaRPr lang="en-US" sz="2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F1 = 2 · precision · recall / (precision + recall)</a:t>
            </a:r>
            <a:endParaRPr lang="en-US" sz="2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Pros: </a:t>
            </a:r>
            <a:r>
              <a:rPr lang="en-US" sz="1800" dirty="0">
                <a:solidFill>
                  <a:schemeClr val="tx1"/>
                </a:solidFill>
              </a:rPr>
              <a:t>Balances false alarms and misses; good for a rare class</a:t>
            </a:r>
            <a:endParaRPr lang="en-US" sz="2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Cons: </a:t>
            </a:r>
            <a:r>
              <a:rPr lang="en-US" sz="1800" dirty="0">
                <a:solidFill>
                  <a:schemeClr val="tx1"/>
                </a:solidFill>
              </a:rPr>
              <a:t>Ignores the true negatives</a:t>
            </a:r>
            <a:endParaRPr lang="en-US" sz="2600" dirty="0"/>
          </a:p>
        </p:txBody>
      </p:sp>
      <p:sp>
        <p:nvSpPr>
          <p:cNvPr id="6" name="Note"/>
          <p:cNvSpPr txBox="1"/>
          <p:nvPr/>
        </p:nvSpPr>
        <p:spPr>
          <a:xfrm>
            <a:off x="548640" y="54864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TP, TN, FP, FN = true / false positives / negatives; TPR = TP / (TP + FN); TNR = TN / (TN + FP); precision = TP / (TP + FP). A row is predicted positive if its probability is above the threshold [0.5].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Cross validation: moving window (time series)</a:t>
            </a:r>
            <a:endParaRPr lang="en-US" sz="3400" dirty="0"/>
          </a:p>
        </p:txBody>
      </p:sp>
      <p:sp>
        <p:nvSpPr>
          <p:cNvPr id="3" name="train 1"/>
          <p:cNvSpPr txBox="1"/>
          <p:nvPr/>
        </p:nvSpPr>
        <p:spPr>
          <a:xfrm>
            <a:off x="1645920" y="1463040"/>
            <a:ext cx="5852160" cy="5029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train: last [60] days</a:t>
            </a:r>
            <a:endParaRPr lang="en-US" sz="1600" dirty="0"/>
          </a:p>
        </p:txBody>
      </p:sp>
      <p:sp>
        <p:nvSpPr>
          <p:cNvPr id="4" name="test 1"/>
          <p:cNvSpPr txBox="1"/>
          <p:nvPr/>
        </p:nvSpPr>
        <p:spPr>
          <a:xfrm>
            <a:off x="7498080" y="1463040"/>
            <a:ext cx="731520" cy="50292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test</a:t>
            </a:r>
            <a:endParaRPr lang="en-US" sz="1600" dirty="0"/>
          </a:p>
        </p:txBody>
      </p:sp>
      <p:sp>
        <p:nvSpPr>
          <p:cNvPr id="5" name="block label 1"/>
          <p:cNvSpPr txBox="1"/>
          <p:nvPr/>
        </p:nvSpPr>
        <p:spPr>
          <a:xfrm>
            <a:off x="8366760" y="1463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block 1</a:t>
            </a:r>
            <a:endParaRPr lang="en-US" sz="1600" dirty="0"/>
          </a:p>
        </p:txBody>
      </p:sp>
      <p:sp>
        <p:nvSpPr>
          <p:cNvPr id="6" name="train 2"/>
          <p:cNvSpPr txBox="1"/>
          <p:nvPr/>
        </p:nvSpPr>
        <p:spPr>
          <a:xfrm>
            <a:off x="2377440" y="2148840"/>
            <a:ext cx="5852160" cy="5029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train: last [60] days</a:t>
            </a:r>
            <a:endParaRPr lang="en-US" sz="1600" dirty="0"/>
          </a:p>
        </p:txBody>
      </p:sp>
      <p:sp>
        <p:nvSpPr>
          <p:cNvPr id="7" name="test 2"/>
          <p:cNvSpPr txBox="1"/>
          <p:nvPr/>
        </p:nvSpPr>
        <p:spPr>
          <a:xfrm>
            <a:off x="8229600" y="2148840"/>
            <a:ext cx="731520" cy="50292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test</a:t>
            </a:r>
            <a:endParaRPr lang="en-US" sz="1600" dirty="0"/>
          </a:p>
        </p:txBody>
      </p:sp>
      <p:sp>
        <p:nvSpPr>
          <p:cNvPr id="8" name="block label 2"/>
          <p:cNvSpPr txBox="1"/>
          <p:nvPr/>
        </p:nvSpPr>
        <p:spPr>
          <a:xfrm>
            <a:off x="9098280" y="21488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block 2</a:t>
            </a:r>
            <a:endParaRPr lang="en-US" sz="1600" dirty="0"/>
          </a:p>
        </p:txBody>
      </p:sp>
      <p:sp>
        <p:nvSpPr>
          <p:cNvPr id="9" name="train 3"/>
          <p:cNvSpPr txBox="1"/>
          <p:nvPr/>
        </p:nvSpPr>
        <p:spPr>
          <a:xfrm>
            <a:off x="3108960" y="2834640"/>
            <a:ext cx="5852160" cy="5029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train: last [60] days</a:t>
            </a:r>
            <a:endParaRPr lang="en-US" sz="1600" dirty="0"/>
          </a:p>
        </p:txBody>
      </p:sp>
      <p:sp>
        <p:nvSpPr>
          <p:cNvPr id="10" name="test 3"/>
          <p:cNvSpPr txBox="1"/>
          <p:nvPr/>
        </p:nvSpPr>
        <p:spPr>
          <a:xfrm>
            <a:off x="8961120" y="2834640"/>
            <a:ext cx="731520" cy="50292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test</a:t>
            </a:r>
            <a:endParaRPr lang="en-US" sz="1600" dirty="0"/>
          </a:p>
        </p:txBody>
      </p:sp>
      <p:sp>
        <p:nvSpPr>
          <p:cNvPr id="11" name="block label 3"/>
          <p:cNvSpPr txBox="1"/>
          <p:nvPr/>
        </p:nvSpPr>
        <p:spPr>
          <a:xfrm>
            <a:off x="9829800" y="28346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block 3</a:t>
            </a:r>
            <a:endParaRPr lang="en-US" sz="1600" dirty="0"/>
          </a:p>
        </p:txBody>
      </p:sp>
      <p:sp>
        <p:nvSpPr>
          <p:cNvPr id="12" name="More blocks"/>
          <p:cNvSpPr txBox="1"/>
          <p:nvPr/>
        </p:nvSpPr>
        <p:spPr>
          <a:xfrm>
            <a:off x="9235440" y="3520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...</a:t>
            </a:r>
            <a:endParaRPr lang="en-US" sz="2400" dirty="0"/>
          </a:p>
        </p:txBody>
      </p:sp>
      <p:sp>
        <p:nvSpPr>
          <p:cNvPr id="13" name="Time arrow"/>
          <p:cNvSpPr/>
          <p:nvPr/>
        </p:nvSpPr>
        <p:spPr>
          <a:xfrm>
            <a:off x="548640" y="4160520"/>
            <a:ext cx="1109167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ime label"/>
          <p:cNvSpPr txBox="1"/>
          <p:nvPr/>
        </p:nvSpPr>
        <p:spPr>
          <a:xfrm>
            <a:off x="548640" y="4224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time</a:t>
            </a:r>
            <a:endParaRPr lang="en-US" sz="1400" dirty="0"/>
          </a:p>
        </p:txBody>
      </p:sp>
      <p:sp>
        <p:nvSpPr>
          <p:cNvPr id="15" name="Text"/>
          <p:cNvSpPr txBox="1"/>
          <p:nvPr/>
        </p:nvSpPr>
        <p:spPr>
          <a:xfrm>
            <a:off x="548640" y="466344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Train on the last [60] days, predict the next [7] days, then move the window forward by [7] days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model only sees days before the days it predicts: no leakage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All the test predictions are collected and scored together (LogLoss)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Every candidate uses the same blocks, so the scores can be compared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Cross validation: K-fold (not time series)</a:t>
            </a:r>
            <a:endParaRPr lang="en-US" sz="3400" dirty="0"/>
          </a:p>
        </p:txBody>
      </p:sp>
      <p:sp>
        <p:nvSpPr>
          <p:cNvPr id="3" name="fold 1-1"/>
          <p:cNvSpPr txBox="1"/>
          <p:nvPr/>
        </p:nvSpPr>
        <p:spPr>
          <a:xfrm>
            <a:off x="2011680" y="1463040"/>
            <a:ext cx="1188720" cy="50292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test</a:t>
            </a:r>
            <a:endParaRPr lang="en-US" sz="1600" dirty="0"/>
          </a:p>
        </p:txBody>
      </p:sp>
      <p:sp>
        <p:nvSpPr>
          <p:cNvPr id="4" name="fold 1-2"/>
          <p:cNvSpPr txBox="1"/>
          <p:nvPr/>
        </p:nvSpPr>
        <p:spPr>
          <a:xfrm>
            <a:off x="3291840" y="1463040"/>
            <a:ext cx="1188720" cy="502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train</a:t>
            </a:r>
            <a:endParaRPr lang="en-US" sz="1600" dirty="0"/>
          </a:p>
        </p:txBody>
      </p:sp>
      <p:sp>
        <p:nvSpPr>
          <p:cNvPr id="5" name="fold 1-3"/>
          <p:cNvSpPr txBox="1"/>
          <p:nvPr/>
        </p:nvSpPr>
        <p:spPr>
          <a:xfrm>
            <a:off x="4572000" y="1463040"/>
            <a:ext cx="1188720" cy="502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train</a:t>
            </a:r>
            <a:endParaRPr lang="en-US" sz="1600" dirty="0"/>
          </a:p>
        </p:txBody>
      </p:sp>
      <p:sp>
        <p:nvSpPr>
          <p:cNvPr id="6" name="fold 1-4"/>
          <p:cNvSpPr txBox="1"/>
          <p:nvPr/>
        </p:nvSpPr>
        <p:spPr>
          <a:xfrm>
            <a:off x="5852160" y="1463040"/>
            <a:ext cx="1188720" cy="502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train</a:t>
            </a:r>
            <a:endParaRPr lang="en-US" sz="1600" dirty="0"/>
          </a:p>
        </p:txBody>
      </p:sp>
      <p:sp>
        <p:nvSpPr>
          <p:cNvPr id="7" name="fold 1-5"/>
          <p:cNvSpPr txBox="1"/>
          <p:nvPr/>
        </p:nvSpPr>
        <p:spPr>
          <a:xfrm>
            <a:off x="7132320" y="1463040"/>
            <a:ext cx="1188720" cy="502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train</a:t>
            </a:r>
            <a:endParaRPr lang="en-US" sz="1600" dirty="0"/>
          </a:p>
        </p:txBody>
      </p:sp>
      <p:sp>
        <p:nvSpPr>
          <p:cNvPr id="8" name="round label 1"/>
          <p:cNvSpPr txBox="1"/>
          <p:nvPr/>
        </p:nvSpPr>
        <p:spPr>
          <a:xfrm>
            <a:off x="8503920" y="1463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round 1</a:t>
            </a:r>
            <a:endParaRPr lang="en-US" sz="1600" dirty="0"/>
          </a:p>
        </p:txBody>
      </p:sp>
      <p:sp>
        <p:nvSpPr>
          <p:cNvPr id="9" name="fold 2-1"/>
          <p:cNvSpPr txBox="1"/>
          <p:nvPr/>
        </p:nvSpPr>
        <p:spPr>
          <a:xfrm>
            <a:off x="2011680" y="2148840"/>
            <a:ext cx="1188720" cy="502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train</a:t>
            </a:r>
            <a:endParaRPr lang="en-US" sz="1600" dirty="0"/>
          </a:p>
        </p:txBody>
      </p:sp>
      <p:sp>
        <p:nvSpPr>
          <p:cNvPr id="10" name="fold 2-2"/>
          <p:cNvSpPr txBox="1"/>
          <p:nvPr/>
        </p:nvSpPr>
        <p:spPr>
          <a:xfrm>
            <a:off x="3291840" y="2148840"/>
            <a:ext cx="1188720" cy="50292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test</a:t>
            </a:r>
            <a:endParaRPr lang="en-US" sz="1600" dirty="0"/>
          </a:p>
        </p:txBody>
      </p:sp>
      <p:sp>
        <p:nvSpPr>
          <p:cNvPr id="11" name="fold 2-3"/>
          <p:cNvSpPr txBox="1"/>
          <p:nvPr/>
        </p:nvSpPr>
        <p:spPr>
          <a:xfrm>
            <a:off x="4572000" y="2148840"/>
            <a:ext cx="1188720" cy="502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train</a:t>
            </a:r>
            <a:endParaRPr lang="en-US" sz="1600" dirty="0"/>
          </a:p>
        </p:txBody>
      </p:sp>
      <p:sp>
        <p:nvSpPr>
          <p:cNvPr id="12" name="fold 2-4"/>
          <p:cNvSpPr txBox="1"/>
          <p:nvPr/>
        </p:nvSpPr>
        <p:spPr>
          <a:xfrm>
            <a:off x="5852160" y="2148840"/>
            <a:ext cx="1188720" cy="502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train</a:t>
            </a:r>
            <a:endParaRPr lang="en-US" sz="1600" dirty="0"/>
          </a:p>
        </p:txBody>
      </p:sp>
      <p:sp>
        <p:nvSpPr>
          <p:cNvPr id="13" name="fold 2-5"/>
          <p:cNvSpPr txBox="1"/>
          <p:nvPr/>
        </p:nvSpPr>
        <p:spPr>
          <a:xfrm>
            <a:off x="7132320" y="2148840"/>
            <a:ext cx="1188720" cy="502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train</a:t>
            </a:r>
            <a:endParaRPr lang="en-US" sz="1600" dirty="0"/>
          </a:p>
        </p:txBody>
      </p:sp>
      <p:sp>
        <p:nvSpPr>
          <p:cNvPr id="14" name="round label 2"/>
          <p:cNvSpPr txBox="1"/>
          <p:nvPr/>
        </p:nvSpPr>
        <p:spPr>
          <a:xfrm>
            <a:off x="8503920" y="21488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round 2</a:t>
            </a:r>
            <a:endParaRPr lang="en-US" sz="1600" dirty="0"/>
          </a:p>
        </p:txBody>
      </p:sp>
      <p:sp>
        <p:nvSpPr>
          <p:cNvPr id="15" name="fold 3-1"/>
          <p:cNvSpPr txBox="1"/>
          <p:nvPr/>
        </p:nvSpPr>
        <p:spPr>
          <a:xfrm>
            <a:off x="2011680" y="2834640"/>
            <a:ext cx="1188720" cy="502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train</a:t>
            </a:r>
            <a:endParaRPr lang="en-US" sz="1600" dirty="0"/>
          </a:p>
        </p:txBody>
      </p:sp>
      <p:sp>
        <p:nvSpPr>
          <p:cNvPr id="16" name="fold 3-2"/>
          <p:cNvSpPr txBox="1"/>
          <p:nvPr/>
        </p:nvSpPr>
        <p:spPr>
          <a:xfrm>
            <a:off x="3291840" y="2834640"/>
            <a:ext cx="1188720" cy="502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train</a:t>
            </a:r>
            <a:endParaRPr lang="en-US" sz="1600" dirty="0"/>
          </a:p>
        </p:txBody>
      </p:sp>
      <p:sp>
        <p:nvSpPr>
          <p:cNvPr id="17" name="fold 3-3"/>
          <p:cNvSpPr txBox="1"/>
          <p:nvPr/>
        </p:nvSpPr>
        <p:spPr>
          <a:xfrm>
            <a:off x="4572000" y="2834640"/>
            <a:ext cx="1188720" cy="50292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test</a:t>
            </a:r>
            <a:endParaRPr lang="en-US" sz="1600" dirty="0"/>
          </a:p>
        </p:txBody>
      </p:sp>
      <p:sp>
        <p:nvSpPr>
          <p:cNvPr id="18" name="fold 3-4"/>
          <p:cNvSpPr txBox="1"/>
          <p:nvPr/>
        </p:nvSpPr>
        <p:spPr>
          <a:xfrm>
            <a:off x="5852160" y="2834640"/>
            <a:ext cx="1188720" cy="502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train</a:t>
            </a:r>
            <a:endParaRPr lang="en-US" sz="1600" dirty="0"/>
          </a:p>
        </p:txBody>
      </p:sp>
      <p:sp>
        <p:nvSpPr>
          <p:cNvPr id="19" name="fold 3-5"/>
          <p:cNvSpPr txBox="1"/>
          <p:nvPr/>
        </p:nvSpPr>
        <p:spPr>
          <a:xfrm>
            <a:off x="7132320" y="2834640"/>
            <a:ext cx="1188720" cy="5029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tx1"/>
                </a:solidFill>
              </a:rPr>
              <a:t>train</a:t>
            </a:r>
            <a:endParaRPr lang="en-US" sz="1600" dirty="0"/>
          </a:p>
        </p:txBody>
      </p:sp>
      <p:sp>
        <p:nvSpPr>
          <p:cNvPr id="20" name="round label 3"/>
          <p:cNvSpPr txBox="1"/>
          <p:nvPr/>
        </p:nvSpPr>
        <p:spPr>
          <a:xfrm>
            <a:off x="8503920" y="28346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round 3</a:t>
            </a:r>
            <a:endParaRPr lang="en-US" sz="1600" dirty="0"/>
          </a:p>
        </p:txBody>
      </p:sp>
      <p:sp>
        <p:nvSpPr>
          <p:cNvPr id="21" name="More rounds"/>
          <p:cNvSpPr txBox="1"/>
          <p:nvPr/>
        </p:nvSpPr>
        <p:spPr>
          <a:xfrm>
            <a:off x="4572000" y="3520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...</a:t>
            </a:r>
            <a:endParaRPr lang="en-US" sz="2400" dirty="0"/>
          </a:p>
        </p:txBody>
      </p:sp>
      <p:sp>
        <p:nvSpPr>
          <p:cNvPr id="22" name="Text"/>
          <p:cNvSpPr txBox="1"/>
          <p:nvPr/>
        </p:nvSpPr>
        <p:spPr>
          <a:xfrm>
            <a:off x="548640" y="4206240"/>
            <a:ext cx="11091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rows are split at random into [5] folds (fixed seed)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Every fold is predicted by a model trained on the other folds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All the test predictions are collected and scored together (LogLoss)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Used when there is no time column: random rows can be exchanged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Model comparison</a:t>
            </a:r>
            <a:endParaRPr lang="en-US" sz="3400" dirty="0"/>
          </a:p>
        </p:txBody>
      </p:sp>
      <p:sp>
        <p:nvSpPr>
          <p:cNvPr id="3" name="Plot placeholder"/>
          <p:cNvSpPr txBox="1"/>
          <p:nvPr/>
        </p:nvSpPr>
        <p:spPr>
          <a:xfrm>
            <a:off x="548640" y="1371600"/>
            <a:ext cx="6583680" cy="4754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4"/>
                </a:solidFill>
              </a:rPr>
              <a:t>Insert plot here</a:t>
            </a:r>
            <a:endParaRPr lang="en-US" sz="22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accent4"/>
                </a:solidFill>
              </a:rPr>
              <a:t>(score table, LogLoss bar chart)</a:t>
            </a:r>
            <a:endParaRPr lang="en-US" sz="2200" dirty="0"/>
          </a:p>
        </p:txBody>
      </p:sp>
      <p:sp>
        <p:nvSpPr>
          <p:cNvPr id="4" name="Text"/>
          <p:cNvSpPr txBox="1"/>
          <p:nvPr/>
        </p:nvSpPr>
        <p:spPr>
          <a:xfrm>
            <a:off x="7406640" y="1371600"/>
            <a:ext cx="42336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Score: </a:t>
            </a:r>
            <a:r>
              <a:rPr lang="en-US" sz="1800" dirty="0">
                <a:solidFill>
                  <a:schemeClr val="tx1"/>
                </a:solidFill>
              </a:rPr>
              <a:t>LogLoss (main); Accuracy, balanced accuracy, F1 and AUC are also shown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Best candidate: </a:t>
            </a:r>
            <a:r>
              <a:rPr lang="en-US" sz="1800" dirty="0">
                <a:solidFill>
                  <a:schemeClr val="tx1"/>
                </a:solidFill>
              </a:rPr>
              <a:t>[model], LogLoss [value]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Baseline: </a:t>
            </a:r>
            <a:r>
              <a:rPr lang="en-US" sz="1800" dirty="0">
                <a:solidFill>
                  <a:schemeClr val="tx1"/>
                </a:solidFill>
              </a:rPr>
              <a:t>LogLoss [value]: the number to beat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Others: </a:t>
            </a:r>
            <a:r>
              <a:rPr lang="en-US" sz="1800" dirty="0">
                <a:solidFill>
                  <a:schemeClr val="tx1"/>
                </a:solidFill>
              </a:rPr>
              <a:t>[what we see, e.g. lasso is close to logit]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Combinations of steps: ideal vs this analysis</a:t>
            </a:r>
            <a:endParaRPr lang="en-US" sz="3400" dirty="0"/>
          </a:p>
        </p:txBody>
      </p:sp>
      <p:sp>
        <p:nvSpPr>
          <p:cNvPr id="3" name="Ideal header"/>
          <p:cNvSpPr txBox="1"/>
          <p:nvPr/>
        </p:nvSpPr>
        <p:spPr>
          <a:xfrm>
            <a:off x="548640" y="1371600"/>
            <a:ext cx="53172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Ideal</a:t>
            </a:r>
            <a:endParaRPr lang="en-US" sz="2400" dirty="0"/>
          </a:p>
        </p:txBody>
      </p:sp>
      <p:sp>
        <p:nvSpPr>
          <p:cNvPr id="4" name="Text"/>
          <p:cNvSpPr txBox="1"/>
          <p:nvPr/>
        </p:nvSpPr>
        <p:spPr>
          <a:xfrm>
            <a:off x="548640" y="1965960"/>
            <a:ext cx="531723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Try many combinations of the steps: variable selection (forward / backward, AIC / BIC), transformations, outlier handling, interactions, models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Compare all the combinations with cross validation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Keep the best combination</a:t>
            </a:r>
            <a:endParaRPr lang="en-US" sz="2000" dirty="0"/>
          </a:p>
        </p:txBody>
      </p:sp>
      <p:sp>
        <p:nvSpPr>
          <p:cNvPr id="5" name="This analysis header"/>
          <p:cNvSpPr txBox="1"/>
          <p:nvPr/>
        </p:nvSpPr>
        <p:spPr>
          <a:xfrm>
            <a:off x="6323076" y="1371600"/>
            <a:ext cx="53172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This analysis</a:t>
            </a:r>
            <a:endParaRPr lang="en-US" sz="2400" dirty="0"/>
          </a:p>
        </p:txBody>
      </p:sp>
      <p:sp>
        <p:nvSpPr>
          <p:cNvPr id="6" name="Text"/>
          <p:cNvSpPr txBox="1"/>
          <p:nvPr/>
        </p:nvSpPr>
        <p:spPr>
          <a:xfrm>
            <a:off x="6323076" y="1965960"/>
            <a:ext cx="531723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Limited time: every step was run once, in the order of the previous slides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candidate models share the same variables, transformations and interactions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Only the candidates are compared, with cross validation; the best one is the final model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Final model</a:t>
            </a:r>
            <a:endParaRPr lang="en-US" sz="3400" dirty="0"/>
          </a:p>
        </p:txBody>
      </p:sp>
      <p:sp>
        <p:nvSpPr>
          <p:cNvPr id="3" name="Plot placeholder"/>
          <p:cNvSpPr txBox="1"/>
          <p:nvPr/>
        </p:nvSpPr>
        <p:spPr>
          <a:xfrm>
            <a:off x="548640" y="1371600"/>
            <a:ext cx="6583680" cy="4754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4"/>
                </a:solidFill>
              </a:rPr>
              <a:t>Insert plot here</a:t>
            </a:r>
            <a:endParaRPr lang="en-US" sz="22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accent4"/>
                </a:solidFill>
              </a:rPr>
              <a:t>(coefficient table or actual vs predicted)</a:t>
            </a:r>
            <a:endParaRPr lang="en-US" sz="2200" dirty="0"/>
          </a:p>
        </p:txBody>
      </p:sp>
      <p:sp>
        <p:nvSpPr>
          <p:cNvPr id="4" name="Text"/>
          <p:cNvSpPr txBox="1"/>
          <p:nvPr/>
        </p:nvSpPr>
        <p:spPr>
          <a:xfrm>
            <a:off x="7406640" y="1371600"/>
            <a:ext cx="4233672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Model: </a:t>
            </a:r>
            <a:r>
              <a:rPr lang="en-US" sz="1800" dirty="0">
                <a:solidFill>
                  <a:schemeClr val="tx1"/>
                </a:solidFill>
              </a:rPr>
              <a:t>[name]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Variables: </a:t>
            </a:r>
            <a:r>
              <a:rPr lang="en-US" sz="1800" dirty="0">
                <a:solidFill>
                  <a:schemeClr val="tx1"/>
                </a:solidFill>
              </a:rPr>
              <a:t>[selected] + [transformations] + [interactions]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Why: </a:t>
            </a:r>
            <a:r>
              <a:rPr lang="en-US" sz="1800" dirty="0">
                <a:solidFill>
                  <a:schemeClr val="tx1"/>
                </a:solidFill>
              </a:rPr>
              <a:t>smallest cross-validated LogLoss among the candidates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Cross validation: </a:t>
            </a:r>
            <a:r>
              <a:rPr lang="en-US" sz="1800" dirty="0">
                <a:solidFill>
                  <a:schemeClr val="tx1"/>
                </a:solidFill>
              </a:rPr>
              <a:t>LogLoss [value] vs baseline [value]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Final test on the holdout</a:t>
            </a:r>
            <a:endParaRPr lang="en-US" sz="3400" dirty="0"/>
          </a:p>
        </p:txBody>
      </p:sp>
      <p:sp>
        <p:nvSpPr>
          <p:cNvPr id="3" name="Plot placeholder 1"/>
          <p:cNvSpPr txBox="1"/>
          <p:nvPr/>
        </p:nvSpPr>
        <p:spPr>
          <a:xfrm>
            <a:off x="548640" y="1371600"/>
            <a:ext cx="5408676" cy="30175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4"/>
                </a:solidFill>
              </a:rPr>
              <a:t>Insert plot here</a:t>
            </a:r>
            <a:endParaRPr lang="en-US" sz="22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accent4"/>
                </a:solidFill>
              </a:rPr>
              <a:t>(holdout score table, confusion matrix)</a:t>
            </a:r>
            <a:endParaRPr lang="en-US" sz="2200" dirty="0"/>
          </a:p>
        </p:txBody>
      </p:sp>
      <p:sp>
        <p:nvSpPr>
          <p:cNvPr id="4" name="Plot placeholder 2"/>
          <p:cNvSpPr txBox="1"/>
          <p:nvPr/>
        </p:nvSpPr>
        <p:spPr>
          <a:xfrm>
            <a:off x="6231636" y="1371600"/>
            <a:ext cx="5408676" cy="30175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accent4"/>
                </a:solidFill>
              </a:rPr>
              <a:t>Insert plot here</a:t>
            </a:r>
            <a:endParaRPr lang="en-US" sz="22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accent4"/>
                </a:solidFill>
              </a:rPr>
              <a:t>(ROC curve)</a:t>
            </a:r>
            <a:endParaRPr lang="en-US" sz="2200" dirty="0"/>
          </a:p>
        </p:txBody>
      </p:sp>
      <p:sp>
        <p:nvSpPr>
          <p:cNvPr id="5" name="Text"/>
          <p:cNvSpPr txBox="1"/>
          <p:nvPr/>
        </p:nvSpPr>
        <p:spPr>
          <a:xfrm>
            <a:off x="548640" y="466344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Result: </a:t>
            </a:r>
            <a:r>
              <a:rPr lang="en-US" sz="2000" dirty="0">
                <a:solidFill>
                  <a:schemeClr val="tx1"/>
                </a:solidFill>
              </a:rPr>
              <a:t>[model] LogLoss [value], AUC [value] on the holdout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Compared with cross validation: </a:t>
            </a:r>
            <a:r>
              <a:rPr lang="en-US" sz="2000" dirty="0">
                <a:solidFill>
                  <a:schemeClr val="tx1"/>
                </a:solidFill>
              </a:rPr>
              <a:t>[similar / worse] because [reason]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Conclusion</a:t>
            </a:r>
            <a:endParaRPr lang="en-US" sz="3400" dirty="0"/>
          </a:p>
        </p:txBody>
      </p:sp>
      <p:sp>
        <p:nvSpPr>
          <p:cNvPr id="3" name="Findings header"/>
          <p:cNvSpPr txBox="1"/>
          <p:nvPr/>
        </p:nvSpPr>
        <p:spPr>
          <a:xfrm>
            <a:off x="548640" y="1463040"/>
            <a:ext cx="3514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Findings</a:t>
            </a:r>
            <a:endParaRPr lang="en-US" sz="2400" dirty="0"/>
          </a:p>
        </p:txBody>
      </p:sp>
      <p:sp>
        <p:nvSpPr>
          <p:cNvPr id="4" name="Text"/>
          <p:cNvSpPr txBox="1"/>
          <p:nvPr/>
        </p:nvSpPr>
        <p:spPr>
          <a:xfrm>
            <a:off x="548640" y="2103120"/>
            <a:ext cx="3514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[main finding 1]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[main finding 2]</a:t>
            </a:r>
            <a:endParaRPr lang="en-US" sz="2200" dirty="0"/>
          </a:p>
        </p:txBody>
      </p:sp>
      <p:sp>
        <p:nvSpPr>
          <p:cNvPr id="5" name="Limitations header"/>
          <p:cNvSpPr txBox="1"/>
          <p:nvPr/>
        </p:nvSpPr>
        <p:spPr>
          <a:xfrm>
            <a:off x="4337304" y="1463040"/>
            <a:ext cx="3514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Limitations</a:t>
            </a:r>
            <a:endParaRPr lang="en-US" sz="2400" dirty="0"/>
          </a:p>
        </p:txBody>
      </p:sp>
      <p:sp>
        <p:nvSpPr>
          <p:cNvPr id="6" name="Text"/>
          <p:cNvSpPr txBox="1"/>
          <p:nvPr/>
        </p:nvSpPr>
        <p:spPr>
          <a:xfrm>
            <a:off x="4337304" y="2103120"/>
            <a:ext cx="3514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[limitation 1]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[limitation 2]</a:t>
            </a:r>
            <a:endParaRPr lang="en-US" sz="2200" dirty="0"/>
          </a:p>
        </p:txBody>
      </p:sp>
      <p:sp>
        <p:nvSpPr>
          <p:cNvPr id="7" name="Next steps header"/>
          <p:cNvSpPr txBox="1"/>
          <p:nvPr/>
        </p:nvSpPr>
        <p:spPr>
          <a:xfrm>
            <a:off x="8125968" y="1463040"/>
            <a:ext cx="3514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Next steps</a:t>
            </a:r>
            <a:endParaRPr lang="en-US" sz="2400" dirty="0"/>
          </a:p>
        </p:txBody>
      </p:sp>
      <p:sp>
        <p:nvSpPr>
          <p:cNvPr id="8" name="Text"/>
          <p:cNvSpPr txBox="1"/>
          <p:nvPr/>
        </p:nvSpPr>
        <p:spPr>
          <a:xfrm>
            <a:off x="8125968" y="2103120"/>
            <a:ext cx="35143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[next step 1]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[next step 2]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ain">
  <a:themeElements>
    <a:clrScheme name="Plain">
      <a:dk1>
        <a:srgbClr val="000000"/>
      </a:dk1>
      <a:lt1>
        <a:srgbClr val="FFFFFF"/>
      </a:lt1>
      <a:dk2>
        <a:srgbClr val="404040"/>
      </a:dk2>
      <a:lt2>
        <a:srgbClr val="F2F2F2"/>
      </a:lt2>
      <a:accent1>
        <a:srgbClr val="404040"/>
      </a:accent1>
      <a:accent2>
        <a:srgbClr val="7F7F7F"/>
      </a:accent2>
      <a:accent3>
        <a:srgbClr val="A6A6A6"/>
      </a:accent3>
      <a:accent4>
        <a:srgbClr val="595959"/>
      </a:accent4>
      <a:accent5>
        <a:srgbClr val="BFBFBF"/>
      </a:accent5>
      <a:accent6>
        <a:srgbClr val="262626"/>
      </a:accent6>
      <a:hlink>
        <a:srgbClr val="0563C1"/>
      </a:hlink>
      <a:folHlink>
        <a:srgbClr val="954F72"/>
      </a:folHlink>
    </a:clrScheme>
    <a:fontScheme name="Plai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1907</Words>
  <Application>Microsoft Office PowerPoint</Application>
  <PresentationFormat>Widescreen</PresentationFormat>
  <Paragraphs>276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Plain</vt:lpstr>
      <vt:lpstr>Minjun Cho</vt:lpstr>
      <vt:lpstr>Analysis approach</vt:lpstr>
      <vt:lpstr>Data overview</vt:lpstr>
      <vt:lpstr>Holdout split: time series</vt:lpstr>
      <vt:lpstr>Holdout split: not time series</vt:lpstr>
      <vt:lpstr>EDA: the target classes</vt:lpstr>
      <vt:lpstr>EDA: predictors vs target</vt:lpstr>
      <vt:lpstr>EDA: relationships between predictors</vt:lpstr>
      <vt:lpstr>EDA: missing values</vt:lpstr>
      <vt:lpstr>EDA: what does the missingness mean?</vt:lpstr>
      <vt:lpstr>Variable selection: AIC and BIC</vt:lpstr>
      <vt:lpstr>Variable selection: result</vt:lpstr>
      <vt:lpstr>Transformations</vt:lpstr>
      <vt:lpstr>Outliers: how we handled them</vt:lpstr>
      <vt:lpstr>Interactions</vt:lpstr>
      <vt:lpstr>Candidate models</vt:lpstr>
      <vt:lpstr>Measures (1/2): LogLoss and AUC</vt:lpstr>
      <vt:lpstr>Measures (2/2): Accuracy, balanced accuracy and F1</vt:lpstr>
      <vt:lpstr>Cross validation: moving window (time series)</vt:lpstr>
      <vt:lpstr>Cross validation: K-fold (not time series)</vt:lpstr>
      <vt:lpstr>Model comparison</vt:lpstr>
      <vt:lpstr>Combinations of steps: ideal vs this analysis</vt:lpstr>
      <vt:lpstr>Final model</vt:lpstr>
      <vt:lpstr>Final test on the holdout</vt:lpstr>
      <vt:lpstr>Conclusion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Squarepoint Data Analysis (classification)</dc:title>
  <dc:subject>PptxGenJS Presentation</dc:subject>
  <dc:creator>Minjun Cho</dc:creator>
  <cp:lastModifiedBy>조민준</cp:lastModifiedBy>
  <cp:revision>2</cp:revision>
  <dcterms:created xsi:type="dcterms:W3CDTF">2026-10-25T18:05:31Z</dcterms:created>
  <dcterms:modified xsi:type="dcterms:W3CDTF">2026-10-29T04:23:16Z</dcterms:modified>
</cp:coreProperties>
</file>