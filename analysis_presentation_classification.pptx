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b3a2a56-a2a6-3136-898e-9bb52a73f256}">
          <p14:sldIdLst>
            <p14:sldId id="256"/>
            <p14:sldId id="257"/>
          </p14:sldIdLst>
        </p14:section>
        <p14:section name="Data" id="{8a6de45b-0e6c-385d-b35a-136f58b7e9b0}">
          <p14:sldIdLst>
            <p14:sldId id="258"/>
            <p14:sldId id="259"/>
            <p14:sldId id="260"/>
          </p14:sldIdLst>
        </p14:section>
        <p14:section name="EDA" id="{e71a88ec-3bc8-932d-fb81-767c7b047a19}">
          <p14:sldIdLst>
            <p14:sldId id="261"/>
            <p14:sldId id="262"/>
            <p14:sldId id="263"/>
            <p14:sldId id="264"/>
            <p14:sldId id="265"/>
          </p14:sldIdLst>
        </p14:section>
        <p14:section name="Modeling" id="{fc4b2c2f-9c08-fb80-27a1-4398c649bc04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Evaluation" id="{f628f391-6fbc-b00d-b6ec-ce4dee12aaed}">
          <p14:sldIdLst>
            <p14:sldId id="272"/>
            <p14:sldId id="273"/>
            <p14:sldId id="274"/>
            <p14:sldId id="275"/>
            <p14:sldId id="276"/>
          </p14:sldIdLst>
        </p14:section>
        <p14:section name="Results" id="{ca2e6013-7a86-30a8-d769-834deaf61355}">
          <p14:sldIdLst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only ONE of the two holdout-split slides (time series / not time series) and delete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only ONE of the two holdout-split slides (time series / not time series) and delete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only ONE of the two cross-validation slides (moving window for time series, K-fold otherwise) and delete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004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Minjun Cho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004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Squarepoint Data Analysis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Analysis approach</a:t>
            </a:r>
            <a:endParaRPr lang="en-US" sz="3400" dirty="0"/>
          </a:p>
        </p:txBody>
      </p:sp>
      <p:sp>
        <p:nvSpPr>
          <p:cNvPr id="3" name="Step 1"/>
          <p:cNvSpPr txBox="1"/>
          <p:nvPr/>
        </p:nvSpPr>
        <p:spPr>
          <a:xfrm>
            <a:off x="525780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First look</a:t>
            </a:r>
            <a:endParaRPr lang="en-US" sz="1500" dirty="0"/>
          </a:p>
        </p:txBody>
      </p:sp>
      <p:sp>
        <p:nvSpPr>
          <p:cNvPr id="4" name="Step 1 note"/>
          <p:cNvSpPr txBox="1"/>
          <p:nvPr/>
        </p:nvSpPr>
        <p:spPr>
          <a:xfrm>
            <a:off x="489204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rows, columns, types</a:t>
            </a:r>
            <a:endParaRPr lang="en-US" sz="1300" dirty="0"/>
          </a:p>
        </p:txBody>
      </p:sp>
      <p:sp>
        <p:nvSpPr>
          <p:cNvPr id="5" name="Arrow 1"/>
          <p:cNvSpPr/>
          <p:nvPr/>
        </p:nvSpPr>
        <p:spPr>
          <a:xfrm>
            <a:off x="1915668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Step 2"/>
          <p:cNvSpPr txBox="1"/>
          <p:nvPr/>
        </p:nvSpPr>
        <p:spPr>
          <a:xfrm>
            <a:off x="2153412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Holdout split</a:t>
            </a:r>
            <a:endParaRPr lang="en-US" sz="1500" dirty="0"/>
          </a:p>
        </p:txBody>
      </p:sp>
      <p:sp>
        <p:nvSpPr>
          <p:cNvPr id="7" name="Step 2 note"/>
          <p:cNvSpPr txBox="1"/>
          <p:nvPr/>
        </p:nvSpPr>
        <p:spPr>
          <a:xfrm>
            <a:off x="2116836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kept aside, opened once</a:t>
            </a:r>
            <a:endParaRPr lang="en-US" sz="1300" dirty="0"/>
          </a:p>
        </p:txBody>
      </p:sp>
      <p:sp>
        <p:nvSpPr>
          <p:cNvPr id="8" name="Arrow 2"/>
          <p:cNvSpPr/>
          <p:nvPr/>
        </p:nvSpPr>
        <p:spPr>
          <a:xfrm>
            <a:off x="3543300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Step 3"/>
          <p:cNvSpPr txBox="1"/>
          <p:nvPr/>
        </p:nvSpPr>
        <p:spPr>
          <a:xfrm>
            <a:off x="3781044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EDA</a:t>
            </a:r>
            <a:endParaRPr lang="en-US" sz="1500" dirty="0"/>
          </a:p>
        </p:txBody>
      </p:sp>
      <p:sp>
        <p:nvSpPr>
          <p:cNvPr id="10" name="Step 3 note"/>
          <p:cNvSpPr txBox="1"/>
          <p:nvPr/>
        </p:nvSpPr>
        <p:spPr>
          <a:xfrm>
            <a:off x="3744468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plots, missing values</a:t>
            </a:r>
            <a:endParaRPr lang="en-US" sz="1300" dirty="0"/>
          </a:p>
        </p:txBody>
      </p:sp>
      <p:sp>
        <p:nvSpPr>
          <p:cNvPr id="11" name="Arrow 3"/>
          <p:cNvSpPr/>
          <p:nvPr/>
        </p:nvSpPr>
        <p:spPr>
          <a:xfrm>
            <a:off x="5170932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Step 4"/>
          <p:cNvSpPr txBox="1"/>
          <p:nvPr/>
        </p:nvSpPr>
        <p:spPr>
          <a:xfrm>
            <a:off x="5408676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Variable selection</a:t>
            </a:r>
            <a:endParaRPr lang="en-US" sz="1500" dirty="0"/>
          </a:p>
        </p:txBody>
      </p:sp>
      <p:sp>
        <p:nvSpPr>
          <p:cNvPr id="13" name="Step 4 note"/>
          <p:cNvSpPr txBox="1"/>
          <p:nvPr/>
        </p:nvSpPr>
        <p:spPr>
          <a:xfrm>
            <a:off x="5372100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forward / backward, AIC / BIC</a:t>
            </a:r>
            <a:endParaRPr lang="en-US" sz="1300" dirty="0"/>
          </a:p>
        </p:txBody>
      </p:sp>
      <p:sp>
        <p:nvSpPr>
          <p:cNvPr id="14" name="Arrow 4"/>
          <p:cNvSpPr/>
          <p:nvPr/>
        </p:nvSpPr>
        <p:spPr>
          <a:xfrm>
            <a:off x="6798564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Step 5"/>
          <p:cNvSpPr txBox="1"/>
          <p:nvPr/>
        </p:nvSpPr>
        <p:spPr>
          <a:xfrm>
            <a:off x="7036308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Transform, outliers, interactions</a:t>
            </a:r>
            <a:endParaRPr lang="en-US" sz="1500" dirty="0"/>
          </a:p>
        </p:txBody>
      </p:sp>
      <p:sp>
        <p:nvSpPr>
          <p:cNvPr id="16" name="Step 5 note"/>
          <p:cNvSpPr txBox="1"/>
          <p:nvPr/>
        </p:nvSpPr>
        <p:spPr>
          <a:xfrm>
            <a:off x="6999732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y and x transforms, outlier rows, pairs</a:t>
            </a:r>
            <a:endParaRPr lang="en-US" sz="1300" dirty="0"/>
          </a:p>
        </p:txBody>
      </p:sp>
      <p:sp>
        <p:nvSpPr>
          <p:cNvPr id="17" name="Arrow 5"/>
          <p:cNvSpPr/>
          <p:nvPr/>
        </p:nvSpPr>
        <p:spPr>
          <a:xfrm>
            <a:off x="8426196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Step 6"/>
          <p:cNvSpPr txBox="1"/>
          <p:nvPr/>
        </p:nvSpPr>
        <p:spPr>
          <a:xfrm>
            <a:off x="8663940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Models + comparison</a:t>
            </a:r>
            <a:endParaRPr lang="en-US" sz="1500" dirty="0"/>
          </a:p>
        </p:txBody>
      </p:sp>
      <p:sp>
        <p:nvSpPr>
          <p:cNvPr id="19" name="Step 6 note"/>
          <p:cNvSpPr txBox="1"/>
          <p:nvPr/>
        </p:nvSpPr>
        <p:spPr>
          <a:xfrm>
            <a:off x="8627364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cross validation on unseen rows</a:t>
            </a:r>
            <a:endParaRPr lang="en-US" sz="1300" dirty="0"/>
          </a:p>
        </p:txBody>
      </p:sp>
      <p:sp>
        <p:nvSpPr>
          <p:cNvPr id="20" name="Arrow 6"/>
          <p:cNvSpPr/>
          <p:nvPr/>
        </p:nvSpPr>
        <p:spPr>
          <a:xfrm>
            <a:off x="10053828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Step 7"/>
          <p:cNvSpPr txBox="1"/>
          <p:nvPr/>
        </p:nvSpPr>
        <p:spPr>
          <a:xfrm>
            <a:off x="10291572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Holdout test</a:t>
            </a:r>
            <a:endParaRPr lang="en-US" sz="1500" dirty="0"/>
          </a:p>
        </p:txBody>
      </p:sp>
      <p:sp>
        <p:nvSpPr>
          <p:cNvPr id="22" name="Step 7 note"/>
          <p:cNvSpPr txBox="1"/>
          <p:nvPr/>
        </p:nvSpPr>
        <p:spPr>
          <a:xfrm>
            <a:off x="10254996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final check, once</a:t>
            </a:r>
            <a:endParaRPr lang="en-US" sz="1300" dirty="0"/>
          </a:p>
        </p:txBody>
      </p:sp>
      <p:sp>
        <p:nvSpPr>
          <p:cNvPr id="23" name="Summary line"/>
          <p:cNvSpPr txBox="1"/>
          <p:nvPr/>
        </p:nvSpPr>
        <p:spPr>
          <a:xfrm>
            <a:off x="548640" y="4846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Every choice is made on the development part only. The holdout is opened once, at the end.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overview</a:t>
            </a:r>
            <a:endParaRPr lang="en-US" sz="3400" dirty="0"/>
          </a:p>
        </p:txBody>
      </p:sp>
      <p:sp>
        <p:nvSpPr>
          <p:cNvPr id="3" name="Data summary"/>
          <p:cNvSpPr txBox="1"/>
          <p:nvPr/>
        </p:nvSpPr>
        <p:spPr>
          <a:xfrm>
            <a:off x="548640" y="155448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Samples: </a:t>
            </a:r>
            <a:r>
              <a:rPr lang="en-US" sz="2400" dirty="0">
                <a:solidFill>
                  <a:schemeClr val="tx1"/>
                </a:solidFill>
              </a:rPr>
              <a:t>[N] rows   |   Columns: [M]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Target: </a:t>
            </a:r>
            <a:r>
              <a:rPr lang="en-US" sz="2400" dirty="0">
                <a:solidFill>
                  <a:schemeClr val="tx1"/>
                </a:solidFill>
              </a:rPr>
              <a:t>[name]  (category)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Classes: </a:t>
            </a:r>
            <a:r>
              <a:rPr lang="en-US" sz="2400" dirty="0">
                <a:solidFill>
                  <a:schemeClr val="tx1"/>
                </a:solidFill>
              </a:rPr>
              <a:t>[k] classes, shares [%]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Numeric ([n]): </a:t>
            </a:r>
            <a:r>
              <a:rPr lang="en-US" sz="2400" dirty="0">
                <a:solidFill>
                  <a:schemeClr val="tx1"/>
                </a:solidFill>
              </a:rPr>
              <a:t>[main examples]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Categorical ([n]): </a:t>
            </a:r>
            <a:r>
              <a:rPr lang="en-US" sz="2400" dirty="0">
                <a:solidFill>
                  <a:schemeClr val="tx1"/>
                </a:solidFill>
              </a:rPr>
              <a:t>[main examples]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Date ([n]): </a:t>
            </a:r>
            <a:r>
              <a:rPr lang="en-US" sz="2400" dirty="0">
                <a:solidFill>
                  <a:schemeClr val="tx1"/>
                </a:solidFill>
              </a:rPr>
              <a:t>[all of them]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ID ([n]): </a:t>
            </a:r>
            <a:r>
              <a:rPr lang="en-US" sz="2400" dirty="0">
                <a:solidFill>
                  <a:schemeClr val="tx1"/>
                </a:solidFill>
              </a:rPr>
              <a:t>[all of them]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Holdout split: time series</a:t>
            </a:r>
            <a:endParaRPr lang="en-US" sz="3400" dirty="0"/>
          </a:p>
        </p:txBody>
      </p:sp>
      <p:sp>
        <p:nvSpPr>
          <p:cNvPr id="3" name="development box"/>
          <p:cNvSpPr txBox="1"/>
          <p:nvPr/>
        </p:nvSpPr>
        <p:spPr>
          <a:xfrm>
            <a:off x="548640" y="1554480"/>
            <a:ext cx="8873338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development: first 80% of the days</a:t>
            </a:r>
            <a:endParaRPr lang="en-US" sz="2000" dirty="0"/>
          </a:p>
        </p:txBody>
      </p:sp>
      <p:sp>
        <p:nvSpPr>
          <p:cNvPr id="4" name="holdout box"/>
          <p:cNvSpPr txBox="1"/>
          <p:nvPr/>
        </p:nvSpPr>
        <p:spPr>
          <a:xfrm>
            <a:off x="9421978" y="1554480"/>
            <a:ext cx="2218334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holdout: last 20%</a:t>
            </a:r>
            <a:endParaRPr lang="en-US" sz="2000" dirty="0"/>
          </a:p>
        </p:txBody>
      </p:sp>
      <p:sp>
        <p:nvSpPr>
          <p:cNvPr id="5" name="Time arrow"/>
          <p:cNvSpPr/>
          <p:nvPr/>
        </p:nvSpPr>
        <p:spPr>
          <a:xfrm>
            <a:off x="548640" y="2834640"/>
            <a:ext cx="1109167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Time label"/>
          <p:cNvSpPr txBox="1"/>
          <p:nvPr/>
        </p:nvSpPr>
        <p:spPr>
          <a:xfrm>
            <a:off x="548640" y="2907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time</a:t>
            </a:r>
            <a:endParaRPr lang="en-US" sz="1400" dirty="0"/>
          </a:p>
        </p:txBody>
      </p:sp>
      <p:sp>
        <p:nvSpPr>
          <p:cNvPr id="7" name="Text"/>
          <p:cNvSpPr txBox="1"/>
          <p:nvPr/>
        </p:nvSpPr>
        <p:spPr>
          <a:xfrm>
            <a:off x="548640" y="3566160"/>
            <a:ext cx="11091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Split by time: the last 20% of the days are the holdout (a day is never cut in two)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shuffling: the future must not leak into the past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development: </a:t>
            </a:r>
            <a:r>
              <a:rPr lang="en-US" sz="2000" dirty="0">
                <a:solidFill>
                  <a:schemeClr val="tx1"/>
                </a:solidFill>
              </a:rPr>
              <a:t>[start date] to [end date], [n] rows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holdout: </a:t>
            </a:r>
            <a:r>
              <a:rPr lang="en-US" sz="2000" dirty="0">
                <a:solidFill>
                  <a:schemeClr val="tx1"/>
                </a:solidFill>
              </a:rPr>
              <a:t>[start date] to [end date], [n] rows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holdout is not used until the final test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Holdout split: not time series</a:t>
            </a:r>
            <a:endParaRPr lang="en-US" sz="3400" dirty="0"/>
          </a:p>
        </p:txBody>
      </p:sp>
      <p:sp>
        <p:nvSpPr>
          <p:cNvPr id="3" name="development box"/>
          <p:cNvSpPr txBox="1"/>
          <p:nvPr/>
        </p:nvSpPr>
        <p:spPr>
          <a:xfrm>
            <a:off x="548640" y="1554480"/>
            <a:ext cx="8873338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development: random 80% of the rows</a:t>
            </a:r>
            <a:endParaRPr lang="en-US" sz="2000" dirty="0"/>
          </a:p>
        </p:txBody>
      </p:sp>
      <p:sp>
        <p:nvSpPr>
          <p:cNvPr id="4" name="holdout box"/>
          <p:cNvSpPr txBox="1"/>
          <p:nvPr/>
        </p:nvSpPr>
        <p:spPr>
          <a:xfrm>
            <a:off x="9421978" y="1554480"/>
            <a:ext cx="2218334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holdout: 20%</a:t>
            </a:r>
            <a:endParaRPr lang="en-US" sz="20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3017520"/>
            <a:ext cx="110916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Random split: 80% of the rows are development, 20% are the holdout (fixed seed, so it can be repeated)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development: </a:t>
            </a:r>
            <a:r>
              <a:rPr lang="en-US" sz="2000" dirty="0">
                <a:solidFill>
                  <a:schemeClr val="tx1"/>
                </a:solidFill>
              </a:rPr>
              <a:t>[n] rows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holdout: </a:t>
            </a:r>
            <a:r>
              <a:rPr lang="en-US" sz="2000" dirty="0">
                <a:solidFill>
                  <a:schemeClr val="tx1"/>
                </a:solidFill>
              </a:rPr>
              <a:t>[n] rows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Rows used to choose variables and models are never used to test them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holdout is not used until the final test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the target classes</a:t>
            </a:r>
            <a:endParaRPr lang="en-US" sz="3400" dirty="0"/>
          </a:p>
        </p:txBody>
      </p:sp>
      <p:sp>
        <p:nvSpPr>
          <p:cNvPr id="3" name="Plot placeholder 1"/>
          <p:cNvSpPr txBox="1"/>
          <p:nvPr/>
        </p:nvSpPr>
        <p:spPr>
          <a:xfrm>
            <a:off x="548640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(class shares)</a:t>
            </a:r>
            <a:endParaRPr lang="en-US" sz="2200" dirty="0"/>
          </a:p>
        </p:txBody>
      </p:sp>
      <p:sp>
        <p:nvSpPr>
          <p:cNvPr id="4" name="Plot placeholder 2"/>
          <p:cNvSpPr txBox="1"/>
          <p:nvPr/>
        </p:nvSpPr>
        <p:spPr>
          <a:xfrm>
            <a:off x="6231636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(class shares over time)</a:t>
            </a:r>
            <a:endParaRPr lang="en-US" sz="2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Class balance: </a:t>
            </a:r>
            <a:r>
              <a:rPr lang="en-US" sz="2000" dirty="0">
                <a:solidFill>
                  <a:schemeClr val="tx1"/>
                </a:solidFill>
              </a:rPr>
              <a:t>[shares; is one class rare?]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Over time: </a:t>
            </a:r>
            <a:r>
              <a:rPr lang="en-US" sz="2000" dirty="0">
                <a:solidFill>
                  <a:schemeClr val="tx1"/>
                </a:solidFill>
              </a:rPr>
              <a:t>[do the shares change?]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So what: </a:t>
            </a:r>
            <a:r>
              <a:rPr lang="en-US" sz="2000" dirty="0">
                <a:solidFill>
                  <a:schemeClr val="tx1"/>
                </a:solidFill>
              </a:rPr>
              <a:t>[accuracy alone can mislead: use balanced accuracy, AUC]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predictors vs target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(boxplots by class, bar charts by category)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Numeric: </a:t>
            </a:r>
            <a:r>
              <a:rPr lang="en-US" sz="2000" dirty="0">
                <a:solidFill>
                  <a:schemeClr val="tx1"/>
                </a:solidFill>
              </a:rPr>
              <a:t>[which differ between the classes]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Categorical: </a:t>
            </a:r>
            <a:r>
              <a:rPr lang="en-US" sz="2000" dirty="0">
                <a:solidFill>
                  <a:schemeClr val="tx1"/>
                </a:solidFill>
              </a:rPr>
              <a:t>[which categories have different class shares]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Time: </a:t>
            </a:r>
            <a:r>
              <a:rPr lang="en-US" sz="2000" dirty="0">
                <a:solidFill>
                  <a:schemeClr val="tx1"/>
                </a:solidFill>
              </a:rPr>
              <a:t>[month / weekday effects]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So what: </a:t>
            </a:r>
            <a:r>
              <a:rPr lang="en-US" sz="2000" dirty="0">
                <a:solidFill>
                  <a:schemeClr val="tx1"/>
                </a:solidFill>
              </a:rPr>
              <a:t>[candidate predictors]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relationships between predictors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(correlation heatmap, pairs plot)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Strongly correlated: </a:t>
            </a:r>
            <a:r>
              <a:rPr lang="en-US" sz="2000" dirty="0">
                <a:solidFill>
                  <a:schemeClr val="tx1"/>
                </a:solidFill>
              </a:rPr>
              <a:t>[x and y]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So what: </a:t>
            </a:r>
            <a:r>
              <a:rPr lang="en-US" sz="2000" dirty="0">
                <a:solidFill>
                  <a:schemeClr val="tx1"/>
                </a:solidFill>
              </a:rPr>
              <a:t>[keep one / combine / keep both]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missing values</a:t>
            </a:r>
            <a:endParaRPr lang="en-US" sz="3400" dirty="0"/>
          </a:p>
        </p:txBody>
      </p:sp>
      <p:sp>
        <p:nvSpPr>
          <p:cNvPr id="3" name="Plot placeholder 1"/>
          <p:cNvSpPr txBox="1"/>
          <p:nvPr/>
        </p:nvSpPr>
        <p:spPr>
          <a:xfrm>
            <a:off x="548640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(missing count per column)</a:t>
            </a:r>
            <a:endParaRPr lang="en-US" sz="2200" dirty="0"/>
          </a:p>
        </p:txBody>
      </p:sp>
      <p:sp>
        <p:nvSpPr>
          <p:cNvPr id="4" name="Plot placeholder 2"/>
          <p:cNvSpPr txBox="1"/>
          <p:nvPr/>
        </p:nvSpPr>
        <p:spPr>
          <a:xfrm>
            <a:off x="6231636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(missing pattern)</a:t>
            </a:r>
            <a:endParaRPr lang="en-US" sz="2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Which columns: </a:t>
            </a:r>
            <a:r>
              <a:rPr lang="en-US" sz="2000" dirty="0">
                <a:solidFill>
                  <a:schemeClr val="tx1"/>
                </a:solidFill>
              </a:rPr>
              <a:t>[names]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How much: </a:t>
            </a:r>
            <a:r>
              <a:rPr lang="en-US" sz="2000" dirty="0">
                <a:solidFill>
                  <a:schemeClr val="tx1"/>
                </a:solidFill>
              </a:rPr>
              <a:t>[% per column]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Pattern: </a:t>
            </a:r>
            <a:r>
              <a:rPr lang="en-US" sz="2000" dirty="0">
                <a:solidFill>
                  <a:schemeClr val="tx1"/>
                </a:solidFill>
              </a:rPr>
              <a:t>[missing together? only in some periods?]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what does the missingness mean?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(mean difference table, missing rate by group)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Numeric columns: </a:t>
            </a:r>
            <a:r>
              <a:rPr lang="en-US" sz="2000" dirty="0">
                <a:solidFill>
                  <a:schemeClr val="tx1"/>
                </a:solidFill>
              </a:rPr>
              <a:t>[how rows with a missing value differ from the others]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By category: </a:t>
            </a:r>
            <a:r>
              <a:rPr lang="en-US" sz="2000" dirty="0">
                <a:solidFill>
                  <a:schemeClr val="tx1"/>
                </a:solidFill>
              </a:rPr>
              <a:t>[which groups miss more]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Over time: </a:t>
            </a:r>
            <a:r>
              <a:rPr lang="en-US" sz="2000" dirty="0">
                <a:solidFill>
                  <a:schemeClr val="tx1"/>
                </a:solidFill>
              </a:rPr>
              <a:t>[any change?]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Conclusion: </a:t>
            </a:r>
            <a:r>
              <a:rPr lang="en-US" sz="2000" dirty="0">
                <a:solidFill>
                  <a:schemeClr val="tx1"/>
                </a:solidFill>
              </a:rPr>
              <a:t>[random / depends on X] and how it is filled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Variable selection: AIC and BIC</a:t>
            </a:r>
            <a:endParaRPr lang="en-US" sz="3400" dirty="0"/>
          </a:p>
        </p:txBody>
      </p:sp>
      <p:sp>
        <p:nvSpPr>
          <p:cNvPr id="3" name="AIC"/>
          <p:cNvSpPr txBox="1"/>
          <p:nvPr/>
        </p:nvSpPr>
        <p:spPr>
          <a:xfrm>
            <a:off x="548640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AIC</a:t>
            </a:r>
            <a:endParaRPr lang="en-US" sz="2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AIC = 2k − 2 ln(L)</a:t>
            </a:r>
            <a:endParaRPr lang="en-US" sz="2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Light penalty: keeps more variables, good for prediction</a:t>
            </a:r>
            <a:endParaRPr lang="en-US" sz="2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Can keep noise variables (overfit)</a:t>
            </a:r>
            <a:endParaRPr lang="en-US" sz="2800" dirty="0"/>
          </a:p>
        </p:txBody>
      </p:sp>
      <p:sp>
        <p:nvSpPr>
          <p:cNvPr id="4" name="BIC"/>
          <p:cNvSpPr txBox="1"/>
          <p:nvPr/>
        </p:nvSpPr>
        <p:spPr>
          <a:xfrm>
            <a:off x="6231636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BIC</a:t>
            </a:r>
            <a:endParaRPr lang="en-US" sz="2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BIC = k ln(n) − 2 ln(L)</a:t>
            </a:r>
            <a:endParaRPr lang="en-US" sz="2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Heavier penalty (grows with n): a simpler model that is easy to explain</a:t>
            </a:r>
            <a:endParaRPr lang="en-US" sz="2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May drop weak but useful variables (underfit)</a:t>
            </a:r>
            <a:endParaRPr lang="en-US" sz="2800" dirty="0"/>
          </a:p>
        </p:txBody>
      </p:sp>
      <p:sp>
        <p:nvSpPr>
          <p:cNvPr id="5" name="Note"/>
          <p:cNvSpPr txBox="1"/>
          <p:nvPr/>
        </p:nvSpPr>
        <p:spPr>
          <a:xfrm>
            <a:off x="548640" y="493776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k = number of parameters, n = number of rows, L = the maximized likelihood. Smaller is better. When n ≥ 8, BIC charges more for every variable than AIC.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Forward: start with no variable and add the one that helps most. Backward: start with all variables and drop the one that hurts least. Fitted on the logistic regression.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Variable selection: result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(selection table or check plots)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Selected: </a:t>
            </a:r>
            <a:r>
              <a:rPr lang="en-US" sz="2000" dirty="0">
                <a:solidFill>
                  <a:schemeClr val="tx1"/>
                </a:solidFill>
              </a:rPr>
              <a:t>[variables] (forward / backward, AIC / BIC)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Check of the selected model: </a:t>
            </a:r>
            <a:r>
              <a:rPr lang="en-US" sz="2000" dirty="0">
                <a:solidFill>
                  <a:schemeClr val="tx1"/>
                </a:solidFill>
              </a:rPr>
              <a:t>[class counts, VIF, log-odds vs x, Cook's distance]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Transformations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(x-transform test table)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Target: </a:t>
            </a:r>
            <a:r>
              <a:rPr lang="en-US" sz="2000" dirty="0">
                <a:solidFill>
                  <a:schemeClr val="tx1"/>
                </a:solidFill>
              </a:rPr>
              <a:t>no transformation (it is a category)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Predictors: </a:t>
            </a:r>
            <a:r>
              <a:rPr lang="en-US" sz="2000" dirty="0">
                <a:solidFill>
                  <a:schemeClr val="tx1"/>
                </a:solidFill>
              </a:rPr>
              <a:t>[transform] of [column] (AIC change [value])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Outliers: how we handled them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(probability of the true class, mean comparison table)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Candidates: </a:t>
            </a:r>
            <a:r>
              <a:rPr lang="en-US" sz="1800" dirty="0">
                <a:solidFill>
                  <a:schemeClr val="tx1"/>
                </a:solidFill>
              </a:rPr>
              <a:t>rows where the model gives the true class a probability below [0.10]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Looked at: </a:t>
            </a:r>
            <a:r>
              <a:rPr lang="en-US" sz="1800" dirty="0">
                <a:solidFill>
                  <a:schemeClr val="tx1"/>
                </a:solidFill>
              </a:rPr>
              <a:t>the candidate rows, and how their other columns and classes differ from the normal rows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Example: </a:t>
            </a:r>
            <a:r>
              <a:rPr lang="en-US" sz="1800" dirty="0">
                <a:solidFill>
                  <a:schemeClr val="tx1"/>
                </a:solidFill>
              </a:rPr>
              <a:t>mean of [column]: normal [value], candidates [value]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Categories: </a:t>
            </a:r>
            <a:r>
              <a:rPr lang="en-US" sz="1800" dirty="0">
                <a:solidFill>
                  <a:schemeClr val="tx1"/>
                </a:solidFill>
              </a:rPr>
              <a:t>[which groups / classes have more candidates]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Handling: </a:t>
            </a:r>
            <a:r>
              <a:rPr lang="en-US" sz="1800" dirty="0">
                <a:solidFill>
                  <a:schemeClr val="tx1"/>
                </a:solidFill>
              </a:rPr>
              <a:t>[kept / removed / explained by X] because [reason]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Interactions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(interaction plot or test table)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Tested: </a:t>
            </a:r>
            <a:r>
              <a:rPr lang="en-US" sz="2000" dirty="0">
                <a:solidFill>
                  <a:schemeClr val="tx1"/>
                </a:solidFill>
              </a:rPr>
              <a:t>[pairs] (likelihood-ratio test)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Kept: </a:t>
            </a:r>
            <a:r>
              <a:rPr lang="en-US" sz="2000" dirty="0">
                <a:solidFill>
                  <a:schemeClr val="tx1"/>
                </a:solidFill>
              </a:rPr>
              <a:t>[a:b] (p-value [value])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Why it makes sense: </a:t>
            </a:r>
            <a:r>
              <a:rPr lang="en-US" sz="2000" dirty="0">
                <a:solidFill>
                  <a:schemeClr val="tx1"/>
                </a:solidFill>
              </a:rPr>
              <a:t>[reason]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Candidate models</a:t>
            </a:r>
            <a:endParaRPr lang="en-US" sz="34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46304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baseline: </a:t>
            </a:r>
            <a:r>
              <a:rPr lang="en-US" sz="2200" dirty="0">
                <a:solidFill>
                  <a:schemeClr val="tx1"/>
                </a:solidFill>
              </a:rPr>
              <a:t>the share of every class (the number to beat)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logit: </a:t>
            </a:r>
            <a:r>
              <a:rPr lang="en-US" sz="2200" dirty="0">
                <a:solidFill>
                  <a:schemeClr val="tx1"/>
                </a:solidFill>
              </a:rPr>
              <a:t>logistic regression (several classes: multinomial)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lasso, ridge: </a:t>
            </a:r>
            <a:r>
              <a:rPr lang="en-US" sz="2200" dirty="0">
                <a:solidFill>
                  <a:schemeClr val="tx1"/>
                </a:solidFill>
              </a:rPr>
              <a:t>logistic regression with shrunk coefficients (lasso can drop variables)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tree: </a:t>
            </a:r>
            <a:r>
              <a:rPr lang="en-US" sz="2200" dirty="0">
                <a:solidFill>
                  <a:schemeClr val="tx1"/>
                </a:solidFill>
              </a:rPr>
              <a:t>decision tree (easy to read)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glmm: </a:t>
            </a:r>
            <a:r>
              <a:rPr lang="en-US" sz="2200" dirty="0">
                <a:solidFill>
                  <a:schemeClr val="tx1"/>
                </a:solidFill>
              </a:rPr>
              <a:t>logistic regression plus a random intercept per group (two classes only)</a:t>
            </a:r>
            <a:endParaRPr lang="en-US" sz="2200" dirty="0"/>
          </a:p>
        </p:txBody>
      </p:sp>
      <p:sp>
        <p:nvSpPr>
          <p:cNvPr id="4" name="Note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4"/>
                </a:solidFill>
              </a:rPr>
              <a:t>All candidates use the same variables, transformations and interactions.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Measures (1/2): LogLoss and AUC</a:t>
            </a:r>
            <a:endParaRPr lang="en-US" sz="3400" dirty="0"/>
          </a:p>
        </p:txBody>
      </p:sp>
      <p:sp>
        <p:nvSpPr>
          <p:cNvPr id="3" name="LogLoss"/>
          <p:cNvSpPr txBox="1"/>
          <p:nvPr/>
        </p:nvSpPr>
        <p:spPr>
          <a:xfrm>
            <a:off x="548640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LogLoss</a:t>
            </a:r>
            <a:endParaRPr lang="en-US" sz="2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LogLoss = −(1/n) Σ ln(p)</a:t>
            </a:r>
            <a:endParaRPr lang="en-US" sz="2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Uses the whole probability; rewards honest probabilities</a:t>
            </a:r>
            <a:endParaRPr lang="en-US" sz="2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A few confident mistakes dominate; hard to read alone</a:t>
            </a:r>
            <a:endParaRPr lang="en-US" sz="2800" dirty="0"/>
          </a:p>
        </p:txBody>
      </p:sp>
      <p:sp>
        <p:nvSpPr>
          <p:cNvPr id="4" name="AUC"/>
          <p:cNvSpPr txBox="1"/>
          <p:nvPr/>
        </p:nvSpPr>
        <p:spPr>
          <a:xfrm>
            <a:off x="6231636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AUC</a:t>
            </a:r>
            <a:endParaRPr lang="en-US" sz="2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AUC = P( score of a positive row &gt; score of a negative row )</a:t>
            </a:r>
            <a:endParaRPr lang="en-US" sz="2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Needs no threshold: 0.5 is guessing, 1 is perfect</a:t>
            </a:r>
            <a:endParaRPr lang="en-US" sz="2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Ignores the size of the probabilities; does not give the best threshold</a:t>
            </a:r>
            <a:endParaRPr lang="en-US" sz="2800" dirty="0"/>
          </a:p>
        </p:txBody>
      </p:sp>
      <p:sp>
        <p:nvSpPr>
          <p:cNvPr id="5" name="Note"/>
          <p:cNvSpPr txBox="1"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p = the probability given to the true class, n = number of rows. Several classes: AUC is the average of one class against the rest.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Main score for choosing the model: LogLoss.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Measures (2/2): Accuracy, balanced accuracy and F1</a:t>
            </a:r>
            <a:endParaRPr lang="en-US" sz="3400" dirty="0"/>
          </a:p>
        </p:txBody>
      </p:sp>
      <p:sp>
        <p:nvSpPr>
          <p:cNvPr id="3" name="Accuracy"/>
          <p:cNvSpPr txBox="1"/>
          <p:nvPr/>
        </p:nvSpPr>
        <p:spPr>
          <a:xfrm>
            <a:off x="548640" y="1371600"/>
            <a:ext cx="35143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Accuracy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Accuracy = (TP + TN) / n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Pros: </a:t>
            </a:r>
            <a:r>
              <a:rPr lang="en-US" sz="1800" dirty="0">
                <a:solidFill>
                  <a:schemeClr val="tx1"/>
                </a:solidFill>
              </a:rPr>
              <a:t>Simple: the share of correct rows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Cons: </a:t>
            </a:r>
            <a:r>
              <a:rPr lang="en-US" sz="1800" dirty="0">
                <a:solidFill>
                  <a:schemeClr val="tx1"/>
                </a:solidFill>
              </a:rPr>
              <a:t>Fooled by a big class: always saying that class scores high</a:t>
            </a:r>
            <a:endParaRPr lang="en-US" sz="2600" dirty="0"/>
          </a:p>
        </p:txBody>
      </p:sp>
      <p:sp>
        <p:nvSpPr>
          <p:cNvPr id="4" name="Balanced accuracy"/>
          <p:cNvSpPr txBox="1"/>
          <p:nvPr/>
        </p:nvSpPr>
        <p:spPr>
          <a:xfrm>
            <a:off x="4337304" y="1371600"/>
            <a:ext cx="35143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Balanced accuracy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(TPR + TNR) / 2  (several classes: the mean recall)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Pros: </a:t>
            </a:r>
            <a:r>
              <a:rPr lang="en-US" sz="1800" dirty="0">
                <a:solidFill>
                  <a:schemeClr val="tx1"/>
                </a:solidFill>
              </a:rPr>
              <a:t>Not fooled by a big class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Cons: </a:t>
            </a:r>
            <a:r>
              <a:rPr lang="en-US" sz="1800" dirty="0">
                <a:solidFill>
                  <a:schemeClr val="tx1"/>
                </a:solidFill>
              </a:rPr>
              <a:t>Every class counts the same, even if one mistake costs more</a:t>
            </a:r>
            <a:endParaRPr lang="en-US" sz="2600" dirty="0"/>
          </a:p>
        </p:txBody>
      </p:sp>
      <p:sp>
        <p:nvSpPr>
          <p:cNvPr id="5" name="F1"/>
          <p:cNvSpPr txBox="1"/>
          <p:nvPr/>
        </p:nvSpPr>
        <p:spPr>
          <a:xfrm>
            <a:off x="8125968" y="1371600"/>
            <a:ext cx="35143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F1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F1 = 2 · precision · recall / (precision + recall)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Pros: </a:t>
            </a:r>
            <a:r>
              <a:rPr lang="en-US" sz="1800" dirty="0">
                <a:solidFill>
                  <a:schemeClr val="tx1"/>
                </a:solidFill>
              </a:rPr>
              <a:t>Balances false alarms and misses; good for a rare class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Cons: </a:t>
            </a:r>
            <a:r>
              <a:rPr lang="en-US" sz="1800" dirty="0">
                <a:solidFill>
                  <a:schemeClr val="tx1"/>
                </a:solidFill>
              </a:rPr>
              <a:t>Ignores the true negatives</a:t>
            </a:r>
            <a:endParaRPr lang="en-US" sz="2600" dirty="0"/>
          </a:p>
        </p:txBody>
      </p:sp>
      <p:sp>
        <p:nvSpPr>
          <p:cNvPr id="6" name="Note"/>
          <p:cNvSpPr txBox="1"/>
          <p:nvPr/>
        </p:nvSpPr>
        <p:spPr>
          <a:xfrm>
            <a:off x="548640" y="54864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TP, TN, FP, FN = true / false positives / negatives; TPR = TP / (TP + FN); TNR = TN / (TN + FP); precision = TP / (TP + FP). A row is predicted positive if its probability is above the threshold [0.5].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Cross validation: moving window (time series)</a:t>
            </a:r>
            <a:endParaRPr lang="en-US" sz="3400" dirty="0"/>
          </a:p>
        </p:txBody>
      </p:sp>
      <p:sp>
        <p:nvSpPr>
          <p:cNvPr id="3" name="train 1"/>
          <p:cNvSpPr txBox="1"/>
          <p:nvPr/>
        </p:nvSpPr>
        <p:spPr>
          <a:xfrm>
            <a:off x="1645920" y="1463040"/>
            <a:ext cx="585216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train: last [60] days</a:t>
            </a:r>
            <a:endParaRPr lang="en-US" sz="1600" dirty="0"/>
          </a:p>
        </p:txBody>
      </p:sp>
      <p:sp>
        <p:nvSpPr>
          <p:cNvPr id="4" name="test 1"/>
          <p:cNvSpPr txBox="1"/>
          <p:nvPr/>
        </p:nvSpPr>
        <p:spPr>
          <a:xfrm>
            <a:off x="7498080" y="1463040"/>
            <a:ext cx="7315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5" name="block label 1"/>
          <p:cNvSpPr txBox="1"/>
          <p:nvPr/>
        </p:nvSpPr>
        <p:spPr>
          <a:xfrm>
            <a:off x="836676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block 1</a:t>
            </a:r>
            <a:endParaRPr lang="en-US" sz="1600" dirty="0"/>
          </a:p>
        </p:txBody>
      </p:sp>
      <p:sp>
        <p:nvSpPr>
          <p:cNvPr id="6" name="train 2"/>
          <p:cNvSpPr txBox="1"/>
          <p:nvPr/>
        </p:nvSpPr>
        <p:spPr>
          <a:xfrm>
            <a:off x="2377440" y="2148840"/>
            <a:ext cx="585216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train: last [60] days</a:t>
            </a:r>
            <a:endParaRPr lang="en-US" sz="1600" dirty="0"/>
          </a:p>
        </p:txBody>
      </p:sp>
      <p:sp>
        <p:nvSpPr>
          <p:cNvPr id="7" name="test 2"/>
          <p:cNvSpPr txBox="1"/>
          <p:nvPr/>
        </p:nvSpPr>
        <p:spPr>
          <a:xfrm>
            <a:off x="8229600" y="2148840"/>
            <a:ext cx="7315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8" name="block label 2"/>
          <p:cNvSpPr txBox="1"/>
          <p:nvPr/>
        </p:nvSpPr>
        <p:spPr>
          <a:xfrm>
            <a:off x="909828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block 2</a:t>
            </a:r>
            <a:endParaRPr lang="en-US" sz="1600" dirty="0"/>
          </a:p>
        </p:txBody>
      </p:sp>
      <p:sp>
        <p:nvSpPr>
          <p:cNvPr id="9" name="train 3"/>
          <p:cNvSpPr txBox="1"/>
          <p:nvPr/>
        </p:nvSpPr>
        <p:spPr>
          <a:xfrm>
            <a:off x="3108960" y="2834640"/>
            <a:ext cx="585216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train: last [60] days</a:t>
            </a:r>
            <a:endParaRPr lang="en-US" sz="1600" dirty="0"/>
          </a:p>
        </p:txBody>
      </p:sp>
      <p:sp>
        <p:nvSpPr>
          <p:cNvPr id="10" name="test 3"/>
          <p:cNvSpPr txBox="1"/>
          <p:nvPr/>
        </p:nvSpPr>
        <p:spPr>
          <a:xfrm>
            <a:off x="8961120" y="2834640"/>
            <a:ext cx="7315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11" name="block label 3"/>
          <p:cNvSpPr txBox="1"/>
          <p:nvPr/>
        </p:nvSpPr>
        <p:spPr>
          <a:xfrm>
            <a:off x="9829800" y="2834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block 3</a:t>
            </a:r>
            <a:endParaRPr lang="en-US" sz="1600" dirty="0"/>
          </a:p>
        </p:txBody>
      </p:sp>
      <p:sp>
        <p:nvSpPr>
          <p:cNvPr id="12" name="More blocks"/>
          <p:cNvSpPr txBox="1"/>
          <p:nvPr/>
        </p:nvSpPr>
        <p:spPr>
          <a:xfrm>
            <a:off x="923544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...</a:t>
            </a:r>
            <a:endParaRPr lang="en-US" sz="2400" dirty="0"/>
          </a:p>
        </p:txBody>
      </p:sp>
      <p:sp>
        <p:nvSpPr>
          <p:cNvPr id="13" name="Time arrow"/>
          <p:cNvSpPr/>
          <p:nvPr/>
        </p:nvSpPr>
        <p:spPr>
          <a:xfrm>
            <a:off x="548640" y="4160520"/>
            <a:ext cx="1109167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Time label"/>
          <p:cNvSpPr txBox="1"/>
          <p:nvPr/>
        </p:nvSpPr>
        <p:spPr>
          <a:xfrm>
            <a:off x="548640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time</a:t>
            </a:r>
            <a:endParaRPr lang="en-US" sz="1400" dirty="0"/>
          </a:p>
        </p:txBody>
      </p:sp>
      <p:sp>
        <p:nvSpPr>
          <p:cNvPr id="15" name="Text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Train on the last [60] days, predict the next [7] days, then move the window forward by [7] days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model only sees days before the days it predicts: no leakage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All the test predictions are collected and scored together (LogLoss)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Every candidate uses the same blocks, so the scores can be compared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Cross validation: K-fold (not time series)</a:t>
            </a:r>
            <a:endParaRPr lang="en-US" sz="3400" dirty="0"/>
          </a:p>
        </p:txBody>
      </p:sp>
      <p:sp>
        <p:nvSpPr>
          <p:cNvPr id="3" name="fold 1-1"/>
          <p:cNvSpPr txBox="1"/>
          <p:nvPr/>
        </p:nvSpPr>
        <p:spPr>
          <a:xfrm>
            <a:off x="2011680" y="1463040"/>
            <a:ext cx="11887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4" name="fold 1-2"/>
          <p:cNvSpPr txBox="1"/>
          <p:nvPr/>
        </p:nvSpPr>
        <p:spPr>
          <a:xfrm>
            <a:off x="329184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5" name="fold 1-3"/>
          <p:cNvSpPr txBox="1"/>
          <p:nvPr/>
        </p:nvSpPr>
        <p:spPr>
          <a:xfrm>
            <a:off x="457200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6" name="fold 1-4"/>
          <p:cNvSpPr txBox="1"/>
          <p:nvPr/>
        </p:nvSpPr>
        <p:spPr>
          <a:xfrm>
            <a:off x="585216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7" name="fold 1-5"/>
          <p:cNvSpPr txBox="1"/>
          <p:nvPr/>
        </p:nvSpPr>
        <p:spPr>
          <a:xfrm>
            <a:off x="713232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8" name="round label 1"/>
          <p:cNvSpPr txBox="1"/>
          <p:nvPr/>
        </p:nvSpPr>
        <p:spPr>
          <a:xfrm>
            <a:off x="850392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round 1</a:t>
            </a:r>
            <a:endParaRPr lang="en-US" sz="1600" dirty="0"/>
          </a:p>
        </p:txBody>
      </p:sp>
      <p:sp>
        <p:nvSpPr>
          <p:cNvPr id="9" name="fold 2-1"/>
          <p:cNvSpPr txBox="1"/>
          <p:nvPr/>
        </p:nvSpPr>
        <p:spPr>
          <a:xfrm>
            <a:off x="201168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0" name="fold 2-2"/>
          <p:cNvSpPr txBox="1"/>
          <p:nvPr/>
        </p:nvSpPr>
        <p:spPr>
          <a:xfrm>
            <a:off x="3291840" y="2148840"/>
            <a:ext cx="11887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11" name="fold 2-3"/>
          <p:cNvSpPr txBox="1"/>
          <p:nvPr/>
        </p:nvSpPr>
        <p:spPr>
          <a:xfrm>
            <a:off x="457200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2" name="fold 2-4"/>
          <p:cNvSpPr txBox="1"/>
          <p:nvPr/>
        </p:nvSpPr>
        <p:spPr>
          <a:xfrm>
            <a:off x="585216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3" name="fold 2-5"/>
          <p:cNvSpPr txBox="1"/>
          <p:nvPr/>
        </p:nvSpPr>
        <p:spPr>
          <a:xfrm>
            <a:off x="713232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4" name="round label 2"/>
          <p:cNvSpPr txBox="1"/>
          <p:nvPr/>
        </p:nvSpPr>
        <p:spPr>
          <a:xfrm>
            <a:off x="8503920" y="2148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round 2</a:t>
            </a:r>
            <a:endParaRPr lang="en-US" sz="1600" dirty="0"/>
          </a:p>
        </p:txBody>
      </p:sp>
      <p:sp>
        <p:nvSpPr>
          <p:cNvPr id="15" name="fold 3-1"/>
          <p:cNvSpPr txBox="1"/>
          <p:nvPr/>
        </p:nvSpPr>
        <p:spPr>
          <a:xfrm>
            <a:off x="201168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6" name="fold 3-2"/>
          <p:cNvSpPr txBox="1"/>
          <p:nvPr/>
        </p:nvSpPr>
        <p:spPr>
          <a:xfrm>
            <a:off x="329184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7" name="fold 3-3"/>
          <p:cNvSpPr txBox="1"/>
          <p:nvPr/>
        </p:nvSpPr>
        <p:spPr>
          <a:xfrm>
            <a:off x="4572000" y="2834640"/>
            <a:ext cx="11887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18" name="fold 3-4"/>
          <p:cNvSpPr txBox="1"/>
          <p:nvPr/>
        </p:nvSpPr>
        <p:spPr>
          <a:xfrm>
            <a:off x="585216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9" name="fold 3-5"/>
          <p:cNvSpPr txBox="1"/>
          <p:nvPr/>
        </p:nvSpPr>
        <p:spPr>
          <a:xfrm>
            <a:off x="713232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20" name="round label 3"/>
          <p:cNvSpPr txBox="1"/>
          <p:nvPr/>
        </p:nvSpPr>
        <p:spPr>
          <a:xfrm>
            <a:off x="850392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round 3</a:t>
            </a:r>
            <a:endParaRPr lang="en-US" sz="1600" dirty="0"/>
          </a:p>
        </p:txBody>
      </p:sp>
      <p:sp>
        <p:nvSpPr>
          <p:cNvPr id="21" name="More rounds"/>
          <p:cNvSpPr txBox="1"/>
          <p:nvPr/>
        </p:nvSpPr>
        <p:spPr>
          <a:xfrm>
            <a:off x="457200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...</a:t>
            </a:r>
            <a:endParaRPr lang="en-US" sz="2400" dirty="0"/>
          </a:p>
        </p:txBody>
      </p:sp>
      <p:sp>
        <p:nvSpPr>
          <p:cNvPr id="22" name="Text"/>
          <p:cNvSpPr txBox="1"/>
          <p:nvPr/>
        </p:nvSpPr>
        <p:spPr>
          <a:xfrm>
            <a:off x="548640" y="4206240"/>
            <a:ext cx="11091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rows are split at random into [5] folds (fixed seed)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 fold is predicted by a model trained on the other folds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All the test predictions are collected and scored together (LogLoss)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Used when there is no time column: random rows can be exchanged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Model comparison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(score table, LogLoss bar chart)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Score: </a:t>
            </a:r>
            <a:r>
              <a:rPr lang="en-US" sz="1800" dirty="0">
                <a:solidFill>
                  <a:schemeClr val="tx1"/>
                </a:solidFill>
              </a:rPr>
              <a:t>LogLoss (main); Accuracy, balanced accuracy, F1 and AUC are also shown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Best candidate: </a:t>
            </a:r>
            <a:r>
              <a:rPr lang="en-US" sz="1800" dirty="0">
                <a:solidFill>
                  <a:schemeClr val="tx1"/>
                </a:solidFill>
              </a:rPr>
              <a:t>[model], LogLoss [value]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Baseline: </a:t>
            </a:r>
            <a:r>
              <a:rPr lang="en-US" sz="1800" dirty="0">
                <a:solidFill>
                  <a:schemeClr val="tx1"/>
                </a:solidFill>
              </a:rPr>
              <a:t>LogLoss [value]: the number to beat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Others: </a:t>
            </a:r>
            <a:r>
              <a:rPr lang="en-US" sz="1800" dirty="0">
                <a:solidFill>
                  <a:schemeClr val="tx1"/>
                </a:solidFill>
              </a:rPr>
              <a:t>[what we see, e.g. lasso is close to logit]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Combinations of steps: ideal vs this analysis</a:t>
            </a:r>
            <a:endParaRPr lang="en-US" sz="3400" dirty="0"/>
          </a:p>
        </p:txBody>
      </p:sp>
      <p:sp>
        <p:nvSpPr>
          <p:cNvPr id="3" name="Ideal header"/>
          <p:cNvSpPr txBox="1"/>
          <p:nvPr/>
        </p:nvSpPr>
        <p:spPr>
          <a:xfrm>
            <a:off x="548640" y="137160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Ideal</a:t>
            </a:r>
            <a:endParaRPr lang="en-US" sz="24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1965960"/>
            <a:ext cx="531723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Try many combinations of the steps: variable selection (forward / backward, AIC / BIC), transformations, outlier handling, interactions, models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Compare all the combinations with cross validation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Keep the best combination</a:t>
            </a:r>
            <a:endParaRPr lang="en-US" sz="2000" dirty="0"/>
          </a:p>
        </p:txBody>
      </p:sp>
      <p:sp>
        <p:nvSpPr>
          <p:cNvPr id="5" name="This analysis header"/>
          <p:cNvSpPr txBox="1"/>
          <p:nvPr/>
        </p:nvSpPr>
        <p:spPr>
          <a:xfrm>
            <a:off x="6323076" y="137160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This analysis</a:t>
            </a:r>
            <a:endParaRPr lang="en-US" sz="2400" dirty="0"/>
          </a:p>
        </p:txBody>
      </p:sp>
      <p:sp>
        <p:nvSpPr>
          <p:cNvPr id="6" name="Text"/>
          <p:cNvSpPr txBox="1"/>
          <p:nvPr/>
        </p:nvSpPr>
        <p:spPr>
          <a:xfrm>
            <a:off x="6323076" y="1965960"/>
            <a:ext cx="531723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Limited time: every step was run once, in the order of the previous slides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candidate models share the same variables, transformations and interactions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Only the candidates are compared, with cross validation; the best one is the final model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model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(coefficient table or actual vs predicted)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Model: </a:t>
            </a:r>
            <a:r>
              <a:rPr lang="en-US" sz="1800" dirty="0">
                <a:solidFill>
                  <a:schemeClr val="tx1"/>
                </a:solidFill>
              </a:rPr>
              <a:t>[name]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Variables: </a:t>
            </a:r>
            <a:r>
              <a:rPr lang="en-US" sz="1800" dirty="0">
                <a:solidFill>
                  <a:schemeClr val="tx1"/>
                </a:solidFill>
              </a:rPr>
              <a:t>[selected] + [transformations] + [interactions]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Why: </a:t>
            </a:r>
            <a:r>
              <a:rPr lang="en-US" sz="1800" dirty="0">
                <a:solidFill>
                  <a:schemeClr val="tx1"/>
                </a:solidFill>
              </a:rPr>
              <a:t>smallest cross-validated LogLoss among the candidates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Cross validation: </a:t>
            </a:r>
            <a:r>
              <a:rPr lang="en-US" sz="1800" dirty="0">
                <a:solidFill>
                  <a:schemeClr val="tx1"/>
                </a:solidFill>
              </a:rPr>
              <a:t>LogLoss [value] vs baseline [value]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test on the holdout</a:t>
            </a:r>
            <a:endParaRPr lang="en-US" sz="3400" dirty="0"/>
          </a:p>
        </p:txBody>
      </p:sp>
      <p:sp>
        <p:nvSpPr>
          <p:cNvPr id="3" name="Plot placeholder 1"/>
          <p:cNvSpPr txBox="1"/>
          <p:nvPr/>
        </p:nvSpPr>
        <p:spPr>
          <a:xfrm>
            <a:off x="548640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(holdout score table, confusion matrix)</a:t>
            </a:r>
            <a:endParaRPr lang="en-US" sz="2200" dirty="0"/>
          </a:p>
        </p:txBody>
      </p:sp>
      <p:sp>
        <p:nvSpPr>
          <p:cNvPr id="4" name="Plot placeholder 2"/>
          <p:cNvSpPr txBox="1"/>
          <p:nvPr/>
        </p:nvSpPr>
        <p:spPr>
          <a:xfrm>
            <a:off x="6231636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(ROC curve)</a:t>
            </a:r>
            <a:endParaRPr lang="en-US" sz="2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Result: </a:t>
            </a:r>
            <a:r>
              <a:rPr lang="en-US" sz="2000" dirty="0">
                <a:solidFill>
                  <a:schemeClr val="tx1"/>
                </a:solidFill>
              </a:rPr>
              <a:t>[model] LogLoss [value], AUC [value] on the holdout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Compared with cross validation: </a:t>
            </a:r>
            <a:r>
              <a:rPr lang="en-US" sz="2000" dirty="0">
                <a:solidFill>
                  <a:schemeClr val="tx1"/>
                </a:solidFill>
              </a:rPr>
              <a:t>[similar / worse] because [reason]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Findings header"/>
          <p:cNvSpPr txBox="1"/>
          <p:nvPr/>
        </p:nvSpPr>
        <p:spPr>
          <a:xfrm>
            <a:off x="548640" y="146304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Findings</a:t>
            </a:r>
            <a:endParaRPr lang="en-US" sz="24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2103120"/>
            <a:ext cx="35143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[main finding 1]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[main finding 2]</a:t>
            </a:r>
            <a:endParaRPr lang="en-US" sz="2200" dirty="0"/>
          </a:p>
        </p:txBody>
      </p:sp>
      <p:sp>
        <p:nvSpPr>
          <p:cNvPr id="5" name="Limitations header"/>
          <p:cNvSpPr txBox="1"/>
          <p:nvPr/>
        </p:nvSpPr>
        <p:spPr>
          <a:xfrm>
            <a:off x="4337304" y="146304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6" name="Text"/>
          <p:cNvSpPr txBox="1"/>
          <p:nvPr/>
        </p:nvSpPr>
        <p:spPr>
          <a:xfrm>
            <a:off x="4337304" y="2103120"/>
            <a:ext cx="35143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[limitation 1]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[limitation 2]</a:t>
            </a:r>
            <a:endParaRPr lang="en-US" sz="2200" dirty="0"/>
          </a:p>
        </p:txBody>
      </p:sp>
      <p:sp>
        <p:nvSpPr>
          <p:cNvPr id="7" name="Next steps header"/>
          <p:cNvSpPr txBox="1"/>
          <p:nvPr/>
        </p:nvSpPr>
        <p:spPr>
          <a:xfrm>
            <a:off x="8125968" y="146304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8" name="Text"/>
          <p:cNvSpPr txBox="1"/>
          <p:nvPr/>
        </p:nvSpPr>
        <p:spPr>
          <a:xfrm>
            <a:off x="8125968" y="2103120"/>
            <a:ext cx="35143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[next step 1]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[next step 2]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563C1"/>
      </a:hlink>
      <a:folHlink>
        <a:srgbClr val="954F72"/>
      </a:folHlink>
    </a:clrScheme>
    <a:fontScheme name="Pla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Squarepoint Data Analysis (classification)</dc:title>
  <dc:subject>PptxGenJS Presentation</dc:subject>
  <dc:creator>Minjun Cho</dc:creator>
  <cp:lastModifiedBy>Minjun Cho</cp:lastModifiedBy>
  <cp:revision>1</cp:revision>
  <dcterms:created xsi:type="dcterms:W3CDTF">2026-10-25T18:05:31Z</dcterms:created>
  <dcterms:modified xsi:type="dcterms:W3CDTF">2026-10-25T18:05:31Z</dcterms:modified>
</cp:coreProperties>
</file>