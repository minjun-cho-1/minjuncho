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81" r:id="rId9"/>
    <p:sldId id="264" r:id="rId10"/>
    <p:sldId id="265" r:id="rId11"/>
    <p:sldId id="266" r:id="rId12"/>
    <p:sldId id="267" r:id="rId13"/>
    <p:sldId id="282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AA74789-9044-E33E-D8C4-D57CA0EF9B9D}">
          <p14:sldIdLst>
            <p14:sldId id="256"/>
            <p14:sldId id="257"/>
          </p14:sldIdLst>
        </p14:section>
        <p14:section name="Data" id="{D7C58A38-DC83-6B22-697F-4ED4C38F360A}">
          <p14:sldIdLst>
            <p14:sldId id="258"/>
            <p14:sldId id="259"/>
          </p14:sldIdLst>
        </p14:section>
        <p14:section name="EDA" id="{EEDB0F81-9E46-B5FB-6597-16DE12B68BF8}">
          <p14:sldIdLst>
            <p14:sldId id="261"/>
            <p14:sldId id="262"/>
            <p14:sldId id="263"/>
            <p14:sldId id="281"/>
            <p14:sldId id="264"/>
            <p14:sldId id="265"/>
          </p14:sldIdLst>
        </p14:section>
        <p14:section name="Modeling" id="{6015F70D-D848-EED2-5EBC-800D2247697A}">
          <p14:sldIdLst>
            <p14:sldId id="266"/>
            <p14:sldId id="267"/>
            <p14:sldId id="282"/>
            <p14:sldId id="268"/>
            <p14:sldId id="269"/>
            <p14:sldId id="270"/>
            <p14:sldId id="271"/>
          </p14:sldIdLst>
        </p14:section>
        <p14:section name="Evaluation" id="{4512D86C-75AC-B5DA-3F86-9677BE33CD1E}">
          <p14:sldIdLst>
            <p14:sldId id="272"/>
            <p14:sldId id="273"/>
            <p14:sldId id="274"/>
            <p14:sldId id="275"/>
            <p14:sldId id="276"/>
          </p14:sldIdLst>
        </p14:section>
        <p14:section name="Results" id="{3ADF011B-7C3D-A4D3-280F-D6479BA537EF}">
          <p14:sldIdLst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6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255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only ONE of the two holdout-split slides (time series / not time series) and delete the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1DB38-2CB5-24B8-E0D1-83D0901B8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DAC795-B315-998D-ACB4-1CA04C80C2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CB4DBA-12CB-CA8A-ACCA-E74985131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1B43E-2E9D-0036-CE05-37CA150B04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002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30EB4-169D-98DD-0844-5EDE0C7EC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E6536F-4F68-05AF-C670-B35CC5396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75751A-420D-8514-6C6E-72F0AF3BF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8199A-36E1-2C82-8766-825635BC7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832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only ONE of the two cross-validation slides (moving window for time series, K-fold otherwise) and delete the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1109167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20040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tx1"/>
                </a:solidFill>
              </a:rPr>
              <a:t>Minjun Cho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2004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tx1"/>
                </a:solidFill>
              </a:rPr>
              <a:t>Squarepoint Data Analysis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Analysis approach</a:t>
            </a:r>
            <a:endParaRPr lang="en-US" sz="3400" dirty="0"/>
          </a:p>
        </p:txBody>
      </p:sp>
      <p:sp>
        <p:nvSpPr>
          <p:cNvPr id="3" name="Step 1"/>
          <p:cNvSpPr txBox="1"/>
          <p:nvPr/>
        </p:nvSpPr>
        <p:spPr>
          <a:xfrm>
            <a:off x="525780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First look</a:t>
            </a:r>
            <a:endParaRPr lang="en-US" sz="1500" dirty="0"/>
          </a:p>
        </p:txBody>
      </p:sp>
      <p:sp>
        <p:nvSpPr>
          <p:cNvPr id="4" name="Step 1 note"/>
          <p:cNvSpPr txBox="1"/>
          <p:nvPr/>
        </p:nvSpPr>
        <p:spPr>
          <a:xfrm>
            <a:off x="489204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rows, columns, types</a:t>
            </a:r>
            <a:endParaRPr lang="en-US" sz="1300" dirty="0"/>
          </a:p>
        </p:txBody>
      </p:sp>
      <p:sp>
        <p:nvSpPr>
          <p:cNvPr id="5" name="Arrow 1"/>
          <p:cNvSpPr/>
          <p:nvPr/>
        </p:nvSpPr>
        <p:spPr>
          <a:xfrm>
            <a:off x="1915668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tep 2"/>
          <p:cNvSpPr txBox="1"/>
          <p:nvPr/>
        </p:nvSpPr>
        <p:spPr>
          <a:xfrm>
            <a:off x="2153412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Holdout split</a:t>
            </a:r>
            <a:endParaRPr lang="en-US" sz="1500" dirty="0"/>
          </a:p>
        </p:txBody>
      </p:sp>
      <p:sp>
        <p:nvSpPr>
          <p:cNvPr id="7" name="Step 2 note"/>
          <p:cNvSpPr txBox="1"/>
          <p:nvPr/>
        </p:nvSpPr>
        <p:spPr>
          <a:xfrm>
            <a:off x="2116836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kept aside, opened once</a:t>
            </a:r>
            <a:endParaRPr lang="en-US" sz="1300" dirty="0"/>
          </a:p>
        </p:txBody>
      </p:sp>
      <p:sp>
        <p:nvSpPr>
          <p:cNvPr id="8" name="Arrow 2"/>
          <p:cNvSpPr/>
          <p:nvPr/>
        </p:nvSpPr>
        <p:spPr>
          <a:xfrm>
            <a:off x="3543300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tep 3"/>
          <p:cNvSpPr txBox="1"/>
          <p:nvPr/>
        </p:nvSpPr>
        <p:spPr>
          <a:xfrm>
            <a:off x="3781044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EDA</a:t>
            </a:r>
            <a:endParaRPr lang="en-US" sz="1500" dirty="0"/>
          </a:p>
        </p:txBody>
      </p:sp>
      <p:sp>
        <p:nvSpPr>
          <p:cNvPr id="10" name="Step 3 note"/>
          <p:cNvSpPr txBox="1"/>
          <p:nvPr/>
        </p:nvSpPr>
        <p:spPr>
          <a:xfrm>
            <a:off x="3744468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plots, missing values</a:t>
            </a:r>
            <a:endParaRPr lang="en-US" sz="1300" dirty="0"/>
          </a:p>
        </p:txBody>
      </p:sp>
      <p:sp>
        <p:nvSpPr>
          <p:cNvPr id="11" name="Arrow 3"/>
          <p:cNvSpPr/>
          <p:nvPr/>
        </p:nvSpPr>
        <p:spPr>
          <a:xfrm>
            <a:off x="5170932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tep 4"/>
          <p:cNvSpPr txBox="1"/>
          <p:nvPr/>
        </p:nvSpPr>
        <p:spPr>
          <a:xfrm>
            <a:off x="5408676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Variable selection</a:t>
            </a:r>
            <a:endParaRPr lang="en-US" sz="1500" dirty="0"/>
          </a:p>
        </p:txBody>
      </p:sp>
      <p:sp>
        <p:nvSpPr>
          <p:cNvPr id="13" name="Step 4 note"/>
          <p:cNvSpPr txBox="1"/>
          <p:nvPr/>
        </p:nvSpPr>
        <p:spPr>
          <a:xfrm>
            <a:off x="5372100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forward / backward, AIC / BIC</a:t>
            </a:r>
            <a:endParaRPr lang="en-US" sz="1300" dirty="0"/>
          </a:p>
        </p:txBody>
      </p:sp>
      <p:sp>
        <p:nvSpPr>
          <p:cNvPr id="14" name="Arrow 4"/>
          <p:cNvSpPr/>
          <p:nvPr/>
        </p:nvSpPr>
        <p:spPr>
          <a:xfrm>
            <a:off x="6798564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tep 5"/>
          <p:cNvSpPr txBox="1"/>
          <p:nvPr/>
        </p:nvSpPr>
        <p:spPr>
          <a:xfrm>
            <a:off x="7036308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Transform, outliers, interactions</a:t>
            </a:r>
            <a:endParaRPr lang="en-US" sz="1500" dirty="0"/>
          </a:p>
        </p:txBody>
      </p:sp>
      <p:sp>
        <p:nvSpPr>
          <p:cNvPr id="16" name="Step 5 note"/>
          <p:cNvSpPr txBox="1"/>
          <p:nvPr/>
        </p:nvSpPr>
        <p:spPr>
          <a:xfrm>
            <a:off x="6999732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y and x transforms, outlier rows, pairs</a:t>
            </a:r>
            <a:endParaRPr lang="en-US" sz="1300" dirty="0"/>
          </a:p>
        </p:txBody>
      </p:sp>
      <p:sp>
        <p:nvSpPr>
          <p:cNvPr id="17" name="Arrow 5"/>
          <p:cNvSpPr/>
          <p:nvPr/>
        </p:nvSpPr>
        <p:spPr>
          <a:xfrm>
            <a:off x="8426196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tep 6"/>
          <p:cNvSpPr txBox="1"/>
          <p:nvPr/>
        </p:nvSpPr>
        <p:spPr>
          <a:xfrm>
            <a:off x="8663940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Models + comparison</a:t>
            </a:r>
            <a:endParaRPr lang="en-US" sz="1500" dirty="0"/>
          </a:p>
        </p:txBody>
      </p:sp>
      <p:sp>
        <p:nvSpPr>
          <p:cNvPr id="19" name="Step 6 note"/>
          <p:cNvSpPr txBox="1"/>
          <p:nvPr/>
        </p:nvSpPr>
        <p:spPr>
          <a:xfrm>
            <a:off x="8627364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cross validation on unseen rows</a:t>
            </a:r>
            <a:endParaRPr lang="en-US" sz="1300" dirty="0"/>
          </a:p>
        </p:txBody>
      </p:sp>
      <p:sp>
        <p:nvSpPr>
          <p:cNvPr id="20" name="Arrow 6"/>
          <p:cNvSpPr/>
          <p:nvPr/>
        </p:nvSpPr>
        <p:spPr>
          <a:xfrm>
            <a:off x="10053828" y="2788920"/>
            <a:ext cx="219456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tep 7"/>
          <p:cNvSpPr txBox="1"/>
          <p:nvPr/>
        </p:nvSpPr>
        <p:spPr>
          <a:xfrm>
            <a:off x="10291572" y="2194560"/>
            <a:ext cx="1371600" cy="11887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Holdout test</a:t>
            </a:r>
            <a:endParaRPr lang="en-US" sz="1500" dirty="0"/>
          </a:p>
        </p:txBody>
      </p:sp>
      <p:sp>
        <p:nvSpPr>
          <p:cNvPr id="22" name="Step 7 note"/>
          <p:cNvSpPr txBox="1"/>
          <p:nvPr/>
        </p:nvSpPr>
        <p:spPr>
          <a:xfrm>
            <a:off x="10254996" y="35204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4"/>
                </a:solidFill>
              </a:rPr>
              <a:t>final check, once</a:t>
            </a:r>
            <a:endParaRPr lang="en-US" sz="1300" dirty="0"/>
          </a:p>
        </p:txBody>
      </p:sp>
      <p:sp>
        <p:nvSpPr>
          <p:cNvPr id="23" name="Summary line"/>
          <p:cNvSpPr txBox="1"/>
          <p:nvPr/>
        </p:nvSpPr>
        <p:spPr>
          <a:xfrm>
            <a:off x="548640" y="48463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Every choice is made on the development part only. The holdout is opened once, at the end.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Data overview</a:t>
            </a:r>
            <a:endParaRPr lang="en-US" sz="3400" dirty="0"/>
          </a:p>
        </p:txBody>
      </p:sp>
      <p:sp>
        <p:nvSpPr>
          <p:cNvPr id="3" name="Data summary"/>
          <p:cNvSpPr txBox="1"/>
          <p:nvPr/>
        </p:nvSpPr>
        <p:spPr>
          <a:xfrm>
            <a:off x="548640" y="1166555"/>
            <a:ext cx="11091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400"/>
              </a:spcAft>
            </a:pPr>
            <a:r>
              <a:rPr lang="en-US" altLang="ko-KR" sz="2400" dirty="0"/>
              <a:t>Merged</a:t>
            </a:r>
            <a:r>
              <a:rPr lang="ko-KR" altLang="en-US" sz="2400" dirty="0"/>
              <a:t> </a:t>
            </a:r>
            <a:r>
              <a:rPr lang="en-US" altLang="ko-KR" sz="2400" dirty="0"/>
              <a:t>data</a:t>
            </a:r>
            <a:r>
              <a:rPr lang="ko-KR" altLang="en-US" sz="2400" dirty="0"/>
              <a:t> </a:t>
            </a:r>
            <a:r>
              <a:rPr lang="en-US" altLang="ko-KR" sz="2400" dirty="0"/>
              <a:t>into</a:t>
            </a:r>
            <a:r>
              <a:rPr lang="ko-KR" altLang="en-US" sz="2400" dirty="0"/>
              <a:t> </a:t>
            </a:r>
            <a:r>
              <a:rPr lang="en-US" altLang="ko-KR" sz="2400" dirty="0"/>
              <a:t>one</a:t>
            </a:r>
            <a:r>
              <a:rPr lang="ko-KR" altLang="en-US" sz="2400" dirty="0"/>
              <a:t> </a:t>
            </a:r>
            <a:r>
              <a:rPr lang="en-US" altLang="ko-KR" sz="2400" dirty="0"/>
              <a:t>data : </a:t>
            </a:r>
            <a:r>
              <a:rPr lang="en-US" sz="2400" b="1" dirty="0" err="1"/>
              <a:t>Stock_days</a:t>
            </a:r>
            <a:r>
              <a:rPr lang="en-US" sz="2400" b="1" dirty="0">
                <a:solidFill>
                  <a:schemeClr val="tx1"/>
                </a:solidFill>
              </a:rPr>
              <a:t> + market(key = “date”) + tickers(key = “ticker”)</a:t>
            </a:r>
          </a:p>
          <a:p>
            <a:pPr marL="0" indent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Samples: </a:t>
            </a:r>
            <a:r>
              <a:rPr lang="en-US" sz="2400" dirty="0">
                <a:solidFill>
                  <a:schemeClr val="tx1"/>
                </a:solidFill>
              </a:rPr>
              <a:t>5805 rows,  27 columns</a:t>
            </a:r>
            <a:endParaRPr lang="en-US" sz="24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Target:  </a:t>
            </a:r>
            <a:r>
              <a:rPr lang="en-US" sz="2400" dirty="0" err="1">
                <a:solidFill>
                  <a:schemeClr val="tx1"/>
                </a:solidFill>
              </a:rPr>
              <a:t>realized_vol</a:t>
            </a:r>
            <a:r>
              <a:rPr lang="en-US" sz="2400" dirty="0">
                <a:solidFill>
                  <a:schemeClr val="tx1"/>
                </a:solidFill>
              </a:rPr>
              <a:t>(numeric)</a:t>
            </a:r>
            <a:endParaRPr lang="en-US" sz="24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Numeric (9): </a:t>
            </a:r>
            <a:r>
              <a:rPr lang="en-US" sz="2400" dirty="0" err="1">
                <a:solidFill>
                  <a:schemeClr val="tx1"/>
                </a:solidFill>
              </a:rPr>
              <a:t>premarket_vol_k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ret_prev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market_cap_bn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dirty="0" err="1">
                <a:solidFill>
                  <a:schemeClr val="tx1"/>
                </a:solidFill>
              </a:rPr>
              <a:t>etc</a:t>
            </a:r>
            <a:r>
              <a:rPr lang="en-US" sz="2400" dirty="0">
                <a:solidFill>
                  <a:schemeClr val="tx1"/>
                </a:solidFill>
              </a:rPr>
              <a:t>…</a:t>
            </a:r>
            <a:endParaRPr lang="en-US" sz="24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Categorical (14): </a:t>
            </a:r>
            <a:r>
              <a:rPr lang="en-US" sz="2400" dirty="0" err="1">
                <a:solidFill>
                  <a:schemeClr val="tx1"/>
                </a:solidFill>
              </a:rPr>
              <a:t>logo_color</a:t>
            </a:r>
            <a:r>
              <a:rPr lang="en-US" sz="2400" dirty="0">
                <a:solidFill>
                  <a:schemeClr val="tx1"/>
                </a:solidFill>
              </a:rPr>
              <a:t>, sector, </a:t>
            </a:r>
            <a:r>
              <a:rPr lang="en-US" sz="2400" dirty="0" err="1">
                <a:solidFill>
                  <a:schemeClr val="tx1"/>
                </a:solidFill>
              </a:rPr>
              <a:t>cap_class</a:t>
            </a:r>
            <a:r>
              <a:rPr lang="en-US" sz="2400" dirty="0"/>
              <a:t>, </a:t>
            </a:r>
            <a:r>
              <a:rPr lang="en-US" sz="2400" dirty="0" err="1"/>
              <a:t>etc</a:t>
            </a:r>
            <a:r>
              <a:rPr lang="en-US" sz="2400" dirty="0"/>
              <a:t>…</a:t>
            </a:r>
          </a:p>
          <a:p>
            <a:pPr marL="0" indent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Date (2): </a:t>
            </a:r>
            <a:r>
              <a:rPr lang="en-US" sz="2400" dirty="0">
                <a:solidFill>
                  <a:schemeClr val="tx1"/>
                </a:solidFill>
              </a:rPr>
              <a:t>date(from 2023-03-01 to 2024-05-08), </a:t>
            </a:r>
          </a:p>
          <a:p>
            <a:pPr marL="0" indent="0">
              <a:spcAft>
                <a:spcPts val="1400"/>
              </a:spcAft>
              <a:buNone/>
            </a:pPr>
            <a:r>
              <a:rPr lang="en-US" sz="2400" dirty="0"/>
              <a:t>	    </a:t>
            </a:r>
            <a:r>
              <a:rPr lang="en-US" sz="2400" dirty="0" err="1">
                <a:solidFill>
                  <a:schemeClr val="tx1"/>
                </a:solidFill>
              </a:rPr>
              <a:t>listed_date</a:t>
            </a:r>
            <a:r>
              <a:rPr lang="en-US" sz="2400" dirty="0">
                <a:solidFill>
                  <a:schemeClr val="tx1"/>
                </a:solidFill>
              </a:rPr>
              <a:t>(from 1995-11-22 to 2020-04-23)</a:t>
            </a:r>
            <a:endParaRPr lang="en-US" sz="24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ID (1): </a:t>
            </a:r>
            <a:r>
              <a:rPr lang="en-US" sz="2400" dirty="0" err="1">
                <a:solidFill>
                  <a:schemeClr val="tx1"/>
                </a:solidFill>
              </a:rPr>
              <a:t>row_id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Holdout split: time series</a:t>
            </a:r>
            <a:endParaRPr lang="en-US" sz="3400" dirty="0"/>
          </a:p>
        </p:txBody>
      </p:sp>
      <p:sp>
        <p:nvSpPr>
          <p:cNvPr id="3" name="development box"/>
          <p:cNvSpPr txBox="1"/>
          <p:nvPr/>
        </p:nvSpPr>
        <p:spPr>
          <a:xfrm>
            <a:off x="548640" y="1554480"/>
            <a:ext cx="8873338" cy="914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development: first 80% of the days</a:t>
            </a:r>
            <a:endParaRPr lang="en-US" sz="2000" dirty="0"/>
          </a:p>
        </p:txBody>
      </p:sp>
      <p:sp>
        <p:nvSpPr>
          <p:cNvPr id="4" name="holdout box"/>
          <p:cNvSpPr txBox="1"/>
          <p:nvPr/>
        </p:nvSpPr>
        <p:spPr>
          <a:xfrm>
            <a:off x="9421978" y="1554480"/>
            <a:ext cx="2218334" cy="914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holdout: last 20%</a:t>
            </a:r>
            <a:endParaRPr lang="en-US" sz="2000" dirty="0"/>
          </a:p>
        </p:txBody>
      </p:sp>
      <p:sp>
        <p:nvSpPr>
          <p:cNvPr id="5" name="Time arrow"/>
          <p:cNvSpPr/>
          <p:nvPr/>
        </p:nvSpPr>
        <p:spPr>
          <a:xfrm>
            <a:off x="548640" y="2834640"/>
            <a:ext cx="1109167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ime label"/>
          <p:cNvSpPr txBox="1"/>
          <p:nvPr/>
        </p:nvSpPr>
        <p:spPr>
          <a:xfrm>
            <a:off x="548640" y="29077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time</a:t>
            </a:r>
            <a:endParaRPr lang="en-US" sz="1400" dirty="0"/>
          </a:p>
        </p:txBody>
      </p:sp>
      <p:sp>
        <p:nvSpPr>
          <p:cNvPr id="7" name="Text"/>
          <p:cNvSpPr txBox="1"/>
          <p:nvPr/>
        </p:nvSpPr>
        <p:spPr>
          <a:xfrm>
            <a:off x="548640" y="3566160"/>
            <a:ext cx="110916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Split by time: the last 20% of the days are the holdout (a day is never cut in two)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 shuffling: the future must not leak into the past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development: </a:t>
            </a:r>
            <a:r>
              <a:rPr lang="en-US" sz="2000" dirty="0">
                <a:solidFill>
                  <a:schemeClr val="tx1"/>
                </a:solidFill>
              </a:rPr>
              <a:t>2023-03-01 to</a:t>
            </a:r>
            <a:r>
              <a:rPr lang="en-US" sz="2000" dirty="0"/>
              <a:t> 2024-02-13</a:t>
            </a:r>
            <a:r>
              <a:rPr lang="en-US" sz="2000" dirty="0">
                <a:solidFill>
                  <a:schemeClr val="tx1"/>
                </a:solidFill>
              </a:rPr>
              <a:t>, 4640 rows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holdout: </a:t>
            </a:r>
            <a:r>
              <a:rPr lang="en-US" sz="2000" dirty="0">
                <a:solidFill>
                  <a:schemeClr val="tx1"/>
                </a:solidFill>
              </a:rPr>
              <a:t>2024-02-14 to 2024-05-08,  1165rows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holdout is not used until the final test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EDA: the target</a:t>
            </a:r>
            <a:endParaRPr lang="en-US" sz="3400" dirty="0"/>
          </a:p>
        </p:txBody>
      </p:sp>
      <p:sp>
        <p:nvSpPr>
          <p:cNvPr id="3" name="Plot placeholder 1"/>
          <p:cNvSpPr txBox="1"/>
          <p:nvPr/>
        </p:nvSpPr>
        <p:spPr>
          <a:xfrm>
            <a:off x="419331" y="1401155"/>
            <a:ext cx="5408676" cy="3260437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4" name="Plot placeholder 2"/>
          <p:cNvSpPr txBox="1"/>
          <p:nvPr/>
        </p:nvSpPr>
        <p:spPr>
          <a:xfrm>
            <a:off x="6231636" y="1401155"/>
            <a:ext cx="5408676" cy="3260437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5" name="Text"/>
          <p:cNvSpPr txBox="1"/>
          <p:nvPr/>
        </p:nvSpPr>
        <p:spPr>
          <a:xfrm>
            <a:off x="548640" y="52120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Basic Statistics: </a:t>
            </a:r>
            <a:r>
              <a:rPr lang="en-US" altLang="ko-KR" sz="2000" dirty="0"/>
              <a:t>mean: 33.72, median: 31.39, min = 10.46, max = 192.6, </a:t>
            </a:r>
            <a:r>
              <a:rPr lang="en-US" altLang="ko-KR" sz="2000" dirty="0" err="1"/>
              <a:t>sd</a:t>
            </a:r>
            <a:r>
              <a:rPr lang="en-US" altLang="ko-KR" sz="2000" dirty="0"/>
              <a:t> = 13.89</a:t>
            </a:r>
            <a:endParaRPr lang="en-US" sz="2000" b="1" dirty="0">
              <a:solidFill>
                <a:schemeClr val="tx1"/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Distribution: </a:t>
            </a:r>
            <a:r>
              <a:rPr lang="en-US" sz="2000" dirty="0">
                <a:solidFill>
                  <a:schemeClr val="tx1"/>
                </a:solidFill>
              </a:rPr>
              <a:t>positive, right-skewed, 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Over time: </a:t>
            </a:r>
            <a:r>
              <a:rPr lang="en-US" sz="2000" dirty="0">
                <a:solidFill>
                  <a:schemeClr val="tx1"/>
                </a:solidFill>
              </a:rPr>
              <a:t>Decreasing over time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So what: </a:t>
            </a:r>
            <a:r>
              <a:rPr lang="en-US" sz="2000" dirty="0">
                <a:solidFill>
                  <a:schemeClr val="tx1"/>
                </a:solidFill>
              </a:rPr>
              <a:t>a log transform may help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B76448BA-EE54-4B55-BF30-8F6EF4B33B15}"/>
              </a:ext>
            </a:extLst>
          </p:cNvPr>
          <p:cNvSpPr txBox="1"/>
          <p:nvPr/>
        </p:nvSpPr>
        <p:spPr>
          <a:xfrm>
            <a:off x="396240" y="1078807"/>
            <a:ext cx="2134524" cy="417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  <a:buSzPct val="100000"/>
            </a:pPr>
            <a:r>
              <a:rPr lang="en-US" sz="2000" dirty="0"/>
              <a:t>Histogram of Target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B2F55F9E-1E73-D2BD-D21D-EEFB19A6846B}"/>
              </a:ext>
            </a:extLst>
          </p:cNvPr>
          <p:cNvSpPr txBox="1"/>
          <p:nvPr/>
        </p:nvSpPr>
        <p:spPr>
          <a:xfrm>
            <a:off x="6231635" y="1046480"/>
            <a:ext cx="3558909" cy="417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  <a:buSzPct val="100000"/>
            </a:pPr>
            <a:r>
              <a:rPr lang="en-US" sz="2000" dirty="0"/>
              <a:t>Mean of the target y month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EDA: predictors vs target</a:t>
            </a:r>
            <a:endParaRPr lang="en-US" sz="3400" dirty="0"/>
          </a:p>
        </p:txBody>
      </p:sp>
      <p:sp>
        <p:nvSpPr>
          <p:cNvPr id="4" name="Text"/>
          <p:cNvSpPr txBox="1"/>
          <p:nvPr/>
        </p:nvSpPr>
        <p:spPr>
          <a:xfrm>
            <a:off x="1144384" y="4957618"/>
            <a:ext cx="8756998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ko-KR" altLang="ko-KR" sz="2000" dirty="0" err="1"/>
              <a:t>Observations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in</a:t>
            </a:r>
            <a:r>
              <a:rPr lang="ko-KR" altLang="ko-KR" sz="2000" dirty="0"/>
              <a:t> </a:t>
            </a:r>
            <a:r>
              <a:rPr lang="ko-KR" altLang="ko-KR" sz="2000" dirty="0" err="1"/>
              <a:t>the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utilities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sector</a:t>
            </a:r>
            <a:r>
              <a:rPr lang="ko-KR" altLang="ko-KR" sz="2000" dirty="0"/>
              <a:t> </a:t>
            </a:r>
            <a:r>
              <a:rPr lang="ko-KR" altLang="ko-KR" sz="2000" dirty="0" err="1"/>
              <a:t>tend</a:t>
            </a:r>
            <a:r>
              <a:rPr lang="ko-KR" altLang="ko-KR" sz="2000" dirty="0"/>
              <a:t> </a:t>
            </a:r>
            <a:r>
              <a:rPr lang="ko-KR" altLang="ko-KR" sz="2000" dirty="0" err="1"/>
              <a:t>to</a:t>
            </a:r>
            <a:r>
              <a:rPr lang="ko-KR" altLang="ko-KR" sz="2000" dirty="0"/>
              <a:t> </a:t>
            </a:r>
            <a:r>
              <a:rPr lang="ko-KR" altLang="ko-KR" sz="2000" dirty="0" err="1"/>
              <a:t>have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lower</a:t>
            </a:r>
            <a:r>
              <a:rPr lang="ko-KR" altLang="ko-KR" sz="2000" dirty="0"/>
              <a:t> </a:t>
            </a:r>
            <a:r>
              <a:rPr lang="ko-KR" altLang="ko-KR" sz="2000" dirty="0" err="1"/>
              <a:t>target</a:t>
            </a:r>
            <a:r>
              <a:rPr lang="ko-KR" altLang="ko-KR" sz="2000" dirty="0"/>
              <a:t> </a:t>
            </a:r>
            <a:r>
              <a:rPr lang="ko-KR" altLang="ko-KR" sz="2000" dirty="0" err="1"/>
              <a:t>values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overall</a:t>
            </a:r>
            <a:r>
              <a:rPr lang="ko-KR" altLang="ko-KR" sz="2000" dirty="0"/>
              <a:t>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B8462A-3BEA-E56D-EBAE-0CC7641D2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86" y="1041399"/>
            <a:ext cx="6873321" cy="38446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EDA: relationships between predictors</a:t>
            </a:r>
            <a:endParaRPr lang="en-US" sz="34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Strongly correlated: </a:t>
            </a:r>
            <a:endParaRPr lang="en-US" sz="2000" b="1" dirty="0"/>
          </a:p>
          <a:p>
            <a:pPr>
              <a:spcAft>
                <a:spcPts val="1000"/>
              </a:spcAft>
              <a:buSzPct val="100000"/>
            </a:pPr>
            <a:r>
              <a:rPr lang="en-US" altLang="ko-KR" sz="2000" dirty="0"/>
              <a:t>(</a:t>
            </a:r>
            <a:r>
              <a:rPr lang="en-US" altLang="ko-KR" sz="2000" dirty="0" err="1"/>
              <a:t>credit_spread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vxn_prev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vix_prev</a:t>
            </a:r>
            <a:r>
              <a:rPr lang="en-US" altLang="ko-KR" sz="2000" dirty="0"/>
              <a:t>) have strong positive correlations.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altLang="ko-KR" sz="2000" dirty="0" err="1"/>
              <a:t>corr</a:t>
            </a:r>
            <a:r>
              <a:rPr lang="en-US" altLang="ko-KR" sz="2000" dirty="0"/>
              <a:t>(</a:t>
            </a:r>
            <a:r>
              <a:rPr lang="en-US" altLang="ko-KR" sz="2000" dirty="0" err="1"/>
              <a:t>credit_spread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vxn_prev</a:t>
            </a:r>
            <a:r>
              <a:rPr lang="en-US" altLang="ko-KR" sz="2000" dirty="0"/>
              <a:t>) = 0.91</a:t>
            </a:r>
            <a:endParaRPr lang="en-US" sz="2000" b="1" dirty="0"/>
          </a:p>
          <a:p>
            <a:pPr>
              <a:spcAft>
                <a:spcPts val="1000"/>
              </a:spcAft>
              <a:buSzPct val="100000"/>
            </a:pPr>
            <a:r>
              <a:rPr lang="en-US" altLang="ko-KR" sz="2000" dirty="0" err="1"/>
              <a:t>corr</a:t>
            </a:r>
            <a:r>
              <a:rPr lang="en-US" altLang="ko-KR" sz="2000" dirty="0"/>
              <a:t>(</a:t>
            </a:r>
            <a:r>
              <a:rPr lang="en-US" altLang="ko-KR" sz="2000" dirty="0" err="1"/>
              <a:t>credit_spread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vix_prev</a:t>
            </a:r>
            <a:r>
              <a:rPr lang="en-US" altLang="ko-KR" sz="2000" dirty="0"/>
              <a:t>) = 0.94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altLang="ko-KR" sz="2000" dirty="0" err="1"/>
              <a:t>corr</a:t>
            </a:r>
            <a:r>
              <a:rPr lang="en-US" altLang="ko-KR" sz="2000" dirty="0"/>
              <a:t>(</a:t>
            </a:r>
            <a:r>
              <a:rPr lang="en-US" altLang="ko-KR" sz="2000" dirty="0" err="1"/>
              <a:t>vix_prev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vxn_prev</a:t>
            </a:r>
            <a:r>
              <a:rPr lang="en-US" altLang="ko-KR" sz="2000" dirty="0"/>
              <a:t>) = 0.98</a:t>
            </a:r>
            <a:endParaRPr lang="en-US" altLang="ko-KR" sz="2000" b="1" dirty="0"/>
          </a:p>
          <a:p>
            <a:pPr>
              <a:spcAft>
                <a:spcPts val="1000"/>
              </a:spcAft>
              <a:buSzPct val="100000"/>
            </a:pPr>
            <a:endParaRPr lang="en-US" altLang="ko-KR" sz="2000" b="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So what: 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sz="2000" dirty="0"/>
              <a:t>Our goal : make a model with good performance -&gt; keep as long as model performs well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99E81D-DCA2-672C-E941-E5899DB1C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66" y="1371600"/>
            <a:ext cx="5460134" cy="49951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E11E5-1092-DEE6-D1BA-C4FE0CF3C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8BA53D-9DA7-3AE7-B9F0-8A62B4165E07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EDA: relationships between predictors</a:t>
            </a:r>
            <a:endParaRPr lang="en-US" sz="3400" dirty="0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0ADBC77B-B35A-0815-753B-1997DD0475F9}"/>
              </a:ext>
            </a:extLst>
          </p:cNvPr>
          <p:cNvSpPr txBox="1"/>
          <p:nvPr/>
        </p:nvSpPr>
        <p:spPr>
          <a:xfrm>
            <a:off x="904240" y="1533006"/>
            <a:ext cx="8535324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/>
              <a:t>`Sector` and `</a:t>
            </a:r>
            <a:r>
              <a:rPr lang="en-US" sz="2000" b="1" dirty="0" err="1"/>
              <a:t>Sector_code</a:t>
            </a:r>
            <a:r>
              <a:rPr lang="en-US" sz="2000" b="1" dirty="0"/>
              <a:t>`</a:t>
            </a:r>
          </a:p>
          <a:p>
            <a:pPr marL="800100" lvl="1" indent="-342900">
              <a:spcAft>
                <a:spcPts val="1000"/>
              </a:spcAft>
              <a:buSzPct val="100000"/>
              <a:buChar char="•"/>
            </a:pPr>
            <a:r>
              <a:rPr lang="en-US" altLang="ko-KR" sz="2000" dirty="0"/>
              <a:t>We can expect that </a:t>
            </a:r>
            <a:r>
              <a:rPr lang="en-US" altLang="ko-KR" sz="2000" b="1" dirty="0"/>
              <a:t>`Sector` </a:t>
            </a:r>
            <a:r>
              <a:rPr lang="en-US" altLang="ko-KR" sz="2000" dirty="0"/>
              <a:t>and </a:t>
            </a:r>
            <a:r>
              <a:rPr lang="en-US" altLang="ko-KR" sz="2000" b="1" dirty="0"/>
              <a:t>`</a:t>
            </a:r>
            <a:r>
              <a:rPr lang="en-US" altLang="ko-KR" sz="2000" b="1" dirty="0" err="1"/>
              <a:t>Sector_cde</a:t>
            </a:r>
            <a:r>
              <a:rPr lang="en-US" altLang="ko-KR" sz="2000" b="1" dirty="0"/>
              <a:t>`</a:t>
            </a:r>
            <a:r>
              <a:rPr lang="en-US" altLang="ko-KR" sz="2000" dirty="0"/>
              <a:t> have the same information.</a:t>
            </a:r>
          </a:p>
          <a:p>
            <a:pPr marL="800100" lvl="1" indent="-342900">
              <a:spcAft>
                <a:spcPts val="1000"/>
              </a:spcAft>
              <a:buSzPct val="100000"/>
              <a:buChar char="•"/>
            </a:pPr>
            <a:r>
              <a:rPr lang="en-US" altLang="ko-KR" sz="2000" dirty="0"/>
              <a:t>But</a:t>
            </a:r>
            <a:r>
              <a:rPr lang="en-US" altLang="ko-KR" sz="2000" b="1" dirty="0"/>
              <a:t> `</a:t>
            </a:r>
            <a:r>
              <a:rPr lang="en-US" altLang="ko-KR" sz="2000" b="1" dirty="0" err="1"/>
              <a:t>Sector_code</a:t>
            </a:r>
            <a:r>
              <a:rPr lang="en-US" altLang="ko-KR" sz="2000" b="1" dirty="0"/>
              <a:t>` </a:t>
            </a:r>
            <a:r>
              <a:rPr lang="en-US" altLang="ko-KR" sz="2000" dirty="0"/>
              <a:t>does not have the missing value, while ‘Sector’ does.</a:t>
            </a:r>
          </a:p>
          <a:p>
            <a:pPr marL="800100" lvl="1" indent="-342900">
              <a:spcAft>
                <a:spcPts val="1000"/>
              </a:spcAft>
              <a:buSzPct val="100000"/>
              <a:buChar char="•"/>
            </a:pPr>
            <a:r>
              <a:rPr lang="en-US" altLang="ko-KR" sz="2000" dirty="0"/>
              <a:t>So I will remove the variable </a:t>
            </a:r>
            <a:r>
              <a:rPr lang="en-US" altLang="ko-KR" sz="2000" b="1" dirty="0"/>
              <a:t>`Sector`.</a:t>
            </a:r>
            <a:endParaRPr lang="en-US" sz="2000" b="1" dirty="0"/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altLang="ko-KR" sz="2000" b="1" dirty="0"/>
              <a:t>Sector` and `</a:t>
            </a:r>
            <a:r>
              <a:rPr lang="en-US" altLang="ko-KR" sz="2000" b="1" dirty="0" err="1"/>
              <a:t>Sector_code</a:t>
            </a:r>
            <a:r>
              <a:rPr lang="en-US" altLang="ko-KR" sz="2000" b="1" dirty="0"/>
              <a:t>`</a:t>
            </a:r>
            <a:endParaRPr lang="en-US" sz="2000" b="1" dirty="0"/>
          </a:p>
          <a:p>
            <a:pPr marL="800100" lvl="1" indent="-342900">
              <a:spcAft>
                <a:spcPts val="1000"/>
              </a:spcAft>
              <a:buSzPct val="100000"/>
              <a:buChar char="•"/>
            </a:pPr>
            <a:endParaRPr lang="en-US" sz="2000" b="1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E8F40BE-465D-0097-3CE0-B3B58F5F37C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5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EDA: missing values</a:t>
            </a:r>
            <a:endParaRPr lang="en-US" sz="3400" dirty="0"/>
          </a:p>
        </p:txBody>
      </p:sp>
      <p:sp>
        <p:nvSpPr>
          <p:cNvPr id="4" name="Plot placeholder 2"/>
          <p:cNvSpPr txBox="1"/>
          <p:nvPr/>
        </p:nvSpPr>
        <p:spPr>
          <a:xfrm>
            <a:off x="6231636" y="1371600"/>
            <a:ext cx="5408676" cy="3017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(missing pattern)</a:t>
            </a:r>
            <a:endParaRPr lang="en-US" sz="2200" dirty="0"/>
          </a:p>
        </p:txBody>
      </p:sp>
      <p:sp>
        <p:nvSpPr>
          <p:cNvPr id="5" name="Text"/>
          <p:cNvSpPr txBox="1"/>
          <p:nvPr/>
        </p:nvSpPr>
        <p:spPr>
          <a:xfrm>
            <a:off x="548640" y="466344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Which columns (how much % is missing): 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sz="2000" dirty="0" err="1">
                <a:solidFill>
                  <a:schemeClr val="tx1"/>
                </a:solidFill>
              </a:rPr>
              <a:t>premarket_vol_k</a:t>
            </a:r>
            <a:r>
              <a:rPr lang="en-US" sz="2000" dirty="0">
                <a:solidFill>
                  <a:schemeClr val="tx1"/>
                </a:solidFill>
              </a:rPr>
              <a:t>(6.1%), </a:t>
            </a:r>
            <a:r>
              <a:rPr lang="en-US" sz="2000" dirty="0" err="1">
                <a:solidFill>
                  <a:schemeClr val="tx1"/>
                </a:solidFill>
              </a:rPr>
              <a:t>short_interest_pct</a:t>
            </a:r>
            <a:r>
              <a:rPr lang="en-US" sz="2000" dirty="0">
                <a:solidFill>
                  <a:schemeClr val="tx1"/>
                </a:solidFill>
              </a:rPr>
              <a:t>(5.4%), </a:t>
            </a:r>
            <a:r>
              <a:rPr lang="en-US" sz="2000" dirty="0" err="1">
                <a:solidFill>
                  <a:schemeClr val="tx1"/>
                </a:solidFill>
              </a:rPr>
              <a:t>cap_class</a:t>
            </a:r>
            <a:r>
              <a:rPr lang="en-US" sz="2000" dirty="0">
                <a:solidFill>
                  <a:schemeClr val="tx1"/>
                </a:solidFill>
              </a:rPr>
              <a:t>(5.1%), </a:t>
            </a:r>
            <a:r>
              <a:rPr lang="en-US" sz="2000" dirty="0" err="1">
                <a:solidFill>
                  <a:schemeClr val="tx1"/>
                </a:solidFill>
              </a:rPr>
              <a:t>pe_ratio</a:t>
            </a:r>
            <a:r>
              <a:rPr lang="en-US" sz="2000" dirty="0">
                <a:solidFill>
                  <a:schemeClr val="tx1"/>
                </a:solidFill>
              </a:rPr>
              <a:t>(5.0%), …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Pattern: </a:t>
            </a:r>
            <a:r>
              <a:rPr lang="en-US" sz="2000" b="1" dirty="0"/>
              <a:t>`</a:t>
            </a:r>
            <a:r>
              <a:rPr lang="en-US" sz="2000" b="1" dirty="0" err="1">
                <a:solidFill>
                  <a:schemeClr val="tx1"/>
                </a:solidFill>
              </a:rPr>
              <a:t>vix_prev</a:t>
            </a:r>
            <a:r>
              <a:rPr lang="en-US" sz="2000" b="1" dirty="0">
                <a:solidFill>
                  <a:schemeClr val="tx1"/>
                </a:solidFill>
              </a:rPr>
              <a:t>`</a:t>
            </a:r>
            <a:r>
              <a:rPr lang="en-US" sz="2000" dirty="0">
                <a:solidFill>
                  <a:schemeClr val="tx1"/>
                </a:solidFill>
              </a:rPr>
              <a:t> is missing </a:t>
            </a:r>
            <a:r>
              <a:rPr lang="en-US" sz="2000" dirty="0" err="1">
                <a:solidFill>
                  <a:schemeClr val="tx1"/>
                </a:solidFill>
              </a:rPr>
              <a:t>iff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chemeClr val="tx1"/>
                </a:solidFill>
              </a:rPr>
              <a:t>`</a:t>
            </a:r>
            <a:r>
              <a:rPr lang="en-US" sz="2000" b="1" dirty="0" err="1">
                <a:solidFill>
                  <a:schemeClr val="tx1"/>
                </a:solidFill>
              </a:rPr>
              <a:t>vxn_prev</a:t>
            </a:r>
            <a:r>
              <a:rPr lang="en-US" sz="2000" b="1" dirty="0">
                <a:solidFill>
                  <a:schemeClr val="tx1"/>
                </a:solidFill>
              </a:rPr>
              <a:t>`</a:t>
            </a:r>
            <a:r>
              <a:rPr lang="en-US" sz="2000" dirty="0">
                <a:solidFill>
                  <a:schemeClr val="tx1"/>
                </a:solidFill>
              </a:rPr>
              <a:t> is missing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altLang="ko-KR" sz="2000" b="1" dirty="0"/>
              <a:t>1127 rows with missing values, 3513 rows without missing values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altLang="ko-KR" sz="2000" b="1" dirty="0"/>
              <a:t>There are few rows that a lot of variables are missing 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4217AE-7031-6897-31C6-5B0728214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409" y="1105766"/>
            <a:ext cx="5294773" cy="31799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40B94A-3C20-5CD3-B85A-0869EA5A5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1820" y="1371600"/>
            <a:ext cx="6072765" cy="32008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EDA: what does the missingness mean?</a:t>
            </a:r>
            <a:endParaRPr lang="en-US" sz="3400" dirty="0"/>
          </a:p>
        </p:txBody>
      </p:sp>
      <p:sp>
        <p:nvSpPr>
          <p:cNvPr id="4" name="Text"/>
          <p:cNvSpPr txBox="1"/>
          <p:nvPr/>
        </p:nvSpPr>
        <p:spPr>
          <a:xfrm>
            <a:off x="6930044" y="2942547"/>
            <a:ext cx="5566756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Doesn’t show big difference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sz="2000" b="1" dirty="0"/>
              <a:t>  </a:t>
            </a:r>
            <a:r>
              <a:rPr lang="en-US" sz="2000" dirty="0"/>
              <a:t>-&gt; Missing may not have special meaning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How to deal with </a:t>
            </a:r>
            <a:r>
              <a:rPr lang="en-US" sz="2000" b="1" dirty="0"/>
              <a:t>missing values: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altLang="ko-KR" sz="2000" b="1" dirty="0"/>
              <a:t>  -</a:t>
            </a:r>
            <a:r>
              <a:rPr lang="en-US" altLang="ko-KR" sz="2000" dirty="0"/>
              <a:t>&gt; look back 60 days.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altLang="ko-KR" sz="2000" dirty="0"/>
              <a:t>     Numerical : impute with mean of past 60 days.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altLang="ko-KR" sz="2000" dirty="0"/>
              <a:t>     Categorical : impute with the </a:t>
            </a:r>
            <a:r>
              <a:rPr lang="en-US" altLang="ko-KR" sz="2000" dirty="0" err="1"/>
              <a:t>frequest</a:t>
            </a:r>
            <a:r>
              <a:rPr lang="en-US" altLang="ko-KR" sz="2000" dirty="0"/>
              <a:t> values.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sz="2000" b="1" dirty="0"/>
              <a:t>	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D98DB5-4C4A-D528-DEDD-920F28F8E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" y="2099266"/>
            <a:ext cx="6339840" cy="3604347"/>
          </a:xfrm>
          <a:prstGeom prst="rect">
            <a:avLst/>
          </a:prstGeom>
        </p:spPr>
      </p:pic>
      <p:sp>
        <p:nvSpPr>
          <p:cNvPr id="8" name="Text">
            <a:extLst>
              <a:ext uri="{FF2B5EF4-FFF2-40B4-BE49-F238E27FC236}">
                <a16:creationId xmlns:a16="http://schemas.microsoft.com/office/drawing/2014/main" id="{192F0FF1-1EB0-299E-3284-AF4CDA4CF33A}"/>
              </a:ext>
            </a:extLst>
          </p:cNvPr>
          <p:cNvSpPr txBox="1"/>
          <p:nvPr/>
        </p:nvSpPr>
        <p:spPr>
          <a:xfrm>
            <a:off x="487680" y="1404692"/>
            <a:ext cx="7970982" cy="581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  <a:buSzPct val="100000"/>
            </a:pPr>
            <a:r>
              <a:rPr lang="en-US" sz="2000" b="1" dirty="0"/>
              <a:t>Mean</a:t>
            </a:r>
            <a:r>
              <a:rPr lang="ko-KR" altLang="en-US" sz="2000" b="1" dirty="0"/>
              <a:t> </a:t>
            </a:r>
            <a:r>
              <a:rPr lang="en-US" altLang="ko-KR" sz="2000" dirty="0"/>
              <a:t>of</a:t>
            </a:r>
            <a:r>
              <a:rPr lang="ko-KR" altLang="en-US" sz="2000" dirty="0"/>
              <a:t> </a:t>
            </a:r>
            <a:r>
              <a:rPr lang="en-US" altLang="ko-KR" sz="2000" dirty="0"/>
              <a:t>Numerical variables</a:t>
            </a:r>
            <a:r>
              <a:rPr lang="ko-KR" altLang="en-US" sz="2000" dirty="0"/>
              <a:t> </a:t>
            </a:r>
            <a:r>
              <a:rPr lang="en-US" altLang="ko-KR" sz="2000" dirty="0"/>
              <a:t>when </a:t>
            </a:r>
            <a:r>
              <a:rPr lang="en-US" altLang="ko-KR" sz="2000" b="1" dirty="0"/>
              <a:t>`</a:t>
            </a:r>
            <a:r>
              <a:rPr lang="en-US" altLang="ko-KR" sz="2000" b="1" dirty="0" err="1"/>
              <a:t>premarket_vol_k</a:t>
            </a:r>
            <a:r>
              <a:rPr lang="en-US" altLang="ko-KR" sz="2000" b="1" dirty="0"/>
              <a:t>` </a:t>
            </a:r>
            <a:r>
              <a:rPr lang="en-US" altLang="ko-KR" sz="2000" dirty="0"/>
              <a:t>is </a:t>
            </a:r>
            <a:r>
              <a:rPr lang="en-US" altLang="ko-KR" sz="2000" b="1" dirty="0"/>
              <a:t>missing</a:t>
            </a:r>
            <a:r>
              <a:rPr lang="en-US" altLang="ko-KR" sz="2000" dirty="0"/>
              <a:t>/</a:t>
            </a:r>
            <a:r>
              <a:rPr lang="en-US" altLang="ko-KR" sz="2000" b="1" dirty="0"/>
              <a:t> present</a:t>
            </a:r>
            <a:endParaRPr lang="en-US" sz="20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Variable selection: AIC and BIC</a:t>
            </a:r>
            <a:endParaRPr lang="en-US" sz="3400" dirty="0"/>
          </a:p>
        </p:txBody>
      </p:sp>
      <p:sp>
        <p:nvSpPr>
          <p:cNvPr id="3" name="AIC"/>
          <p:cNvSpPr txBox="1"/>
          <p:nvPr/>
        </p:nvSpPr>
        <p:spPr>
          <a:xfrm>
            <a:off x="548640" y="1371600"/>
            <a:ext cx="540867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2800" b="1" dirty="0">
                <a:solidFill>
                  <a:schemeClr val="tx1"/>
                </a:solidFill>
              </a:rPr>
              <a:t>AIC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AIC = 2k − 2 ln(L)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Pros: </a:t>
            </a:r>
            <a:r>
              <a:rPr lang="en-US" sz="2000" dirty="0">
                <a:solidFill>
                  <a:schemeClr val="tx1"/>
                </a:solidFill>
              </a:rPr>
              <a:t>Light penalty: keeps more variables, good for prediction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Cons: </a:t>
            </a:r>
            <a:r>
              <a:rPr lang="en-US" sz="2000" dirty="0">
                <a:solidFill>
                  <a:schemeClr val="tx1"/>
                </a:solidFill>
              </a:rPr>
              <a:t>Can keep noise variables (overfit)</a:t>
            </a:r>
            <a:endParaRPr lang="en-US" sz="2800" dirty="0"/>
          </a:p>
        </p:txBody>
      </p:sp>
      <p:sp>
        <p:nvSpPr>
          <p:cNvPr id="4" name="BIC"/>
          <p:cNvSpPr txBox="1"/>
          <p:nvPr/>
        </p:nvSpPr>
        <p:spPr>
          <a:xfrm>
            <a:off x="6231636" y="1371600"/>
            <a:ext cx="540867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2800" b="1" dirty="0">
                <a:solidFill>
                  <a:schemeClr val="tx1"/>
                </a:solidFill>
              </a:rPr>
              <a:t>BIC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BIC = k ln(n) − 2 ln(L)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Pros: </a:t>
            </a:r>
            <a:r>
              <a:rPr lang="en-US" sz="2000" dirty="0">
                <a:solidFill>
                  <a:schemeClr val="tx1"/>
                </a:solidFill>
              </a:rPr>
              <a:t>Heavier penalty (grows with n): a simpler model that is easy to explain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Cons: </a:t>
            </a:r>
            <a:r>
              <a:rPr lang="en-US" sz="2000" dirty="0">
                <a:solidFill>
                  <a:schemeClr val="tx1"/>
                </a:solidFill>
              </a:rPr>
              <a:t>May drop weak but useful variables (underfit)</a:t>
            </a:r>
            <a:endParaRPr lang="en-US" sz="2800" dirty="0"/>
          </a:p>
        </p:txBody>
      </p:sp>
      <p:sp>
        <p:nvSpPr>
          <p:cNvPr id="5" name="Note"/>
          <p:cNvSpPr txBox="1"/>
          <p:nvPr/>
        </p:nvSpPr>
        <p:spPr>
          <a:xfrm>
            <a:off x="548640" y="493776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k = number of parameters, n = number of rows, L = the maximized likelihood. Smaller is better. When n ≥ 8, BIC charges more for every variable than AIC.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Forward: start with no variable and add the one that helps most. Backward: start with all variables and drop the one that hurts least. Fitted on the lm of the target.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Variable selection: result</a:t>
            </a:r>
            <a:endParaRPr lang="en-US" sz="3400" dirty="0"/>
          </a:p>
        </p:txBody>
      </p:sp>
      <p:sp>
        <p:nvSpPr>
          <p:cNvPr id="4" name="Text"/>
          <p:cNvSpPr txBox="1"/>
          <p:nvPr/>
        </p:nvSpPr>
        <p:spPr>
          <a:xfrm>
            <a:off x="487680" y="5518726"/>
            <a:ext cx="10861040" cy="4971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2400" b="1" dirty="0"/>
              <a:t>Used </a:t>
            </a:r>
            <a:r>
              <a:rPr lang="en-US" altLang="ko-KR" sz="2400" b="1" dirty="0" err="1"/>
              <a:t>forward_AIC</a:t>
            </a:r>
            <a:r>
              <a:rPr lang="en-US" altLang="ko-KR" sz="2400" b="1" dirty="0"/>
              <a:t> since AIC is better than BIC when our goal is prediction. </a:t>
            </a:r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Selected: </a:t>
            </a:r>
            <a:r>
              <a:rPr lang="ko-KR" altLang="ko-KR" dirty="0" err="1"/>
              <a:t>realized_vol</a:t>
            </a:r>
            <a:r>
              <a:rPr lang="ko-KR" altLang="ko-KR" dirty="0"/>
              <a:t> ~ </a:t>
            </a:r>
            <a:r>
              <a:rPr lang="ko-KR" altLang="ko-KR" dirty="0" err="1"/>
              <a:t>market_cap_bn</a:t>
            </a:r>
            <a:r>
              <a:rPr lang="ko-KR" altLang="ko-KR" dirty="0"/>
              <a:t> + </a:t>
            </a:r>
            <a:r>
              <a:rPr lang="ko-KR" altLang="ko-KR" dirty="0" err="1"/>
              <a:t>vix_prev</a:t>
            </a:r>
            <a:r>
              <a:rPr lang="ko-KR" altLang="ko-KR" dirty="0"/>
              <a:t> + </a:t>
            </a:r>
            <a:r>
              <a:rPr lang="ko-KR" altLang="ko-KR" dirty="0" err="1"/>
              <a:t>earnings_day</a:t>
            </a:r>
            <a:r>
              <a:rPr lang="ko-KR" altLang="ko-KR" dirty="0"/>
              <a:t> + </a:t>
            </a:r>
            <a:r>
              <a:rPr lang="ko-KR" altLang="ko-KR" dirty="0" err="1"/>
              <a:t>premarket_vol_k</a:t>
            </a:r>
            <a:r>
              <a:rPr lang="ko-KR" altLang="ko-KR" dirty="0"/>
              <a:t> + </a:t>
            </a:r>
          </a:p>
          <a:p>
            <a:r>
              <a:rPr lang="ko-KR" altLang="ko-KR" dirty="0"/>
              <a:t>    </a:t>
            </a:r>
            <a:r>
              <a:rPr lang="ko-KR" altLang="ko-KR" dirty="0" err="1"/>
              <a:t>news_flag</a:t>
            </a:r>
            <a:r>
              <a:rPr lang="ko-KR" altLang="ko-KR" dirty="0"/>
              <a:t> + </a:t>
            </a:r>
            <a:r>
              <a:rPr lang="ko-KR" altLang="ko-KR" dirty="0" err="1"/>
              <a:t>fomc_day</a:t>
            </a:r>
            <a:r>
              <a:rPr lang="ko-KR" altLang="ko-KR" dirty="0"/>
              <a:t> + </a:t>
            </a:r>
            <a:r>
              <a:rPr lang="ko-KR" altLang="ko-KR" dirty="0" err="1"/>
              <a:t>macro_alert</a:t>
            </a:r>
            <a:r>
              <a:rPr lang="ko-KR" altLang="ko-KR" dirty="0"/>
              <a:t> + </a:t>
            </a:r>
            <a:r>
              <a:rPr lang="ko-KR" altLang="ko-KR" dirty="0" err="1"/>
              <a:t>weekday</a:t>
            </a:r>
            <a:r>
              <a:rPr lang="ko-KR" altLang="ko-KR" dirty="0"/>
              <a:t> + </a:t>
            </a:r>
            <a:r>
              <a:rPr lang="ko-KR" altLang="ko-KR" dirty="0" err="1"/>
              <a:t>opex_day</a:t>
            </a:r>
            <a:r>
              <a:rPr lang="ko-KR" altLang="ko-KR" dirty="0"/>
              <a:t> + </a:t>
            </a:r>
            <a:r>
              <a:rPr lang="en-US" altLang="ko-KR" dirty="0"/>
              <a:t> </a:t>
            </a:r>
            <a:r>
              <a:rPr lang="ko-KR" altLang="ko-KR" dirty="0" err="1"/>
              <a:t>credit_spread</a:t>
            </a:r>
            <a:endParaRPr lang="ko-KR" altLang="ko-KR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E953EE-5636-DC45-D886-473EC3E89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754312"/>
              </p:ext>
            </p:extLst>
          </p:nvPr>
        </p:nvGraphicFramePr>
        <p:xfrm>
          <a:off x="487680" y="1470120"/>
          <a:ext cx="8719130" cy="3817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8619">
                  <a:extLst>
                    <a:ext uri="{9D8B030D-6E8A-4147-A177-3AD203B41FA5}">
                      <a16:colId xmlns:a16="http://schemas.microsoft.com/office/drawing/2014/main" val="2722001112"/>
                    </a:ext>
                  </a:extLst>
                </a:gridCol>
                <a:gridCol w="1801091">
                  <a:extLst>
                    <a:ext uri="{9D8B030D-6E8A-4147-A177-3AD203B41FA5}">
                      <a16:colId xmlns:a16="http://schemas.microsoft.com/office/drawing/2014/main" val="3964251077"/>
                    </a:ext>
                  </a:extLst>
                </a:gridCol>
                <a:gridCol w="1200727">
                  <a:extLst>
                    <a:ext uri="{9D8B030D-6E8A-4147-A177-3AD203B41FA5}">
                      <a16:colId xmlns:a16="http://schemas.microsoft.com/office/drawing/2014/main" val="2645514048"/>
                    </a:ext>
                  </a:extLst>
                </a:gridCol>
                <a:gridCol w="1174867">
                  <a:extLst>
                    <a:ext uri="{9D8B030D-6E8A-4147-A177-3AD203B41FA5}">
                      <a16:colId xmlns:a16="http://schemas.microsoft.com/office/drawing/2014/main" val="659144918"/>
                    </a:ext>
                  </a:extLst>
                </a:gridCol>
                <a:gridCol w="1743826">
                  <a:extLst>
                    <a:ext uri="{9D8B030D-6E8A-4147-A177-3AD203B41FA5}">
                      <a16:colId xmlns:a16="http://schemas.microsoft.com/office/drawing/2014/main" val="4082350222"/>
                    </a:ext>
                  </a:extLst>
                </a:gridCol>
              </a:tblGrid>
              <a:tr h="425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0" i="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Method/ Used Measure</a:t>
                      </a:r>
                      <a:endParaRPr lang="ko-KR" altLang="ko-KR" sz="2000" b="0" i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ko-KR" sz="1000" b="0" i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2000" b="0" i="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Number of Variables</a:t>
                      </a:r>
                      <a:endParaRPr lang="ko-KR" sz="2000" b="0" i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2000" b="0" i="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AIC</a:t>
                      </a:r>
                      <a:endParaRPr lang="ko-KR" sz="2000" b="0" i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2000" b="0" i="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BIC</a:t>
                      </a:r>
                      <a:endParaRPr lang="ko-KR" sz="2000" b="0" i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2000" b="0" i="0" dirty="0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R^2_adjusted</a:t>
                      </a:r>
                      <a:endParaRPr lang="ko-KR" sz="2000" b="0" i="0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3234001059"/>
                  </a:ext>
                </a:extLst>
              </a:tr>
              <a:tr h="55255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 dirty="0" err="1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forward_AIC</a:t>
                      </a:r>
                      <a:endParaRPr lang="ko-KR" sz="2000" b="0" i="0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10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33296.9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33516.0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0.6015</a:t>
                      </a: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376836485"/>
                  </a:ext>
                </a:extLst>
              </a:tr>
              <a:tr h="6561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forward_BIC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8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33317.3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33504.2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0.5993</a:t>
                      </a: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1275944354"/>
                  </a:ext>
                </a:extLst>
              </a:tr>
              <a:tr h="6561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backward_AIC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10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33296.9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33516.0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0.6015</a:t>
                      </a: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4275581621"/>
                  </a:ext>
                </a:extLst>
              </a:tr>
              <a:tr h="6561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backward_BIC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8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33317.3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33504.2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0.5993</a:t>
                      </a: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3110527934"/>
                  </a:ext>
                </a:extLst>
              </a:tr>
              <a:tr h="65611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full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24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33309.4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33599.3</a:t>
                      </a:r>
                    </a:p>
                  </a:txBody>
                  <a:tcPr marL="45720" marR="45720" marT="15240" marB="152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2000" b="0" i="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</a:rPr>
                        <a:t>0.6013</a:t>
                      </a:r>
                    </a:p>
                  </a:txBody>
                  <a:tcPr marL="45720" marR="45720" marT="15240" marB="15240" anchor="ctr"/>
                </a:tc>
                <a:extLst>
                  <a:ext uri="{0D108BD9-81ED-4DB2-BD59-A6C34878D82A}">
                    <a16:rowId xmlns:a16="http://schemas.microsoft.com/office/drawing/2014/main" val="38730002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7E9CA-7B75-5319-67C0-AEC821E95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BE10B34-E6CC-F8B9-DADE-AE9E8FFC2595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Assumptions check</a:t>
            </a:r>
            <a:endParaRPr lang="en-US" sz="3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3ACCF46-E596-A10A-2216-25862525D6D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814F5E-DC39-1610-ACDF-C5ACCC2E7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8097"/>
            <a:ext cx="3359410" cy="20068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02AAD6-ED84-FF2B-A404-2F1036332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87" y="3104954"/>
            <a:ext cx="3115605" cy="18158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BD4B99-E335-ED55-87EA-505F78A069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0053" y="1098097"/>
            <a:ext cx="3506773" cy="20068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7F5E2E-CCDE-CE06-A954-4DD6DC5ABE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8335" y="2892345"/>
            <a:ext cx="3302491" cy="1889892"/>
          </a:xfrm>
          <a:prstGeom prst="rect">
            <a:avLst/>
          </a:prstGeom>
        </p:spPr>
      </p:pic>
      <p:sp>
        <p:nvSpPr>
          <p:cNvPr id="18" name="Text">
            <a:extLst>
              <a:ext uri="{FF2B5EF4-FFF2-40B4-BE49-F238E27FC236}">
                <a16:creationId xmlns:a16="http://schemas.microsoft.com/office/drawing/2014/main" id="{086D78D7-3FC5-7B4D-F5B5-5DCD4C8FD51B}"/>
              </a:ext>
            </a:extLst>
          </p:cNvPr>
          <p:cNvSpPr txBox="1"/>
          <p:nvPr/>
        </p:nvSpPr>
        <p:spPr>
          <a:xfrm>
            <a:off x="8306262" y="1520399"/>
            <a:ext cx="7970982" cy="2127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  <a:buSzPct val="100000"/>
            </a:pPr>
            <a:r>
              <a:rPr lang="en-US" sz="2000" b="1" dirty="0"/>
              <a:t>Top-left : </a:t>
            </a:r>
            <a:r>
              <a:rPr lang="en-US" sz="2000" dirty="0"/>
              <a:t>residual vs fitted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sz="2000" b="1" dirty="0"/>
              <a:t>Top-right : </a:t>
            </a:r>
            <a:r>
              <a:rPr lang="en-US" sz="2000" dirty="0"/>
              <a:t>root(residual) vs fitted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sz="2000" b="1" dirty="0"/>
              <a:t>Bottom-left : </a:t>
            </a:r>
            <a:r>
              <a:rPr lang="en-US" sz="2000" dirty="0" err="1"/>
              <a:t>qqplot</a:t>
            </a:r>
            <a:endParaRPr lang="en-US" sz="2000" dirty="0"/>
          </a:p>
          <a:p>
            <a:pPr>
              <a:spcAft>
                <a:spcPts val="1000"/>
              </a:spcAft>
              <a:buSzPct val="100000"/>
            </a:pPr>
            <a:r>
              <a:rPr lang="en-US" sz="2000" b="1" dirty="0"/>
              <a:t>Bottom right: </a:t>
            </a:r>
            <a:r>
              <a:rPr lang="en-US" sz="2000" dirty="0"/>
              <a:t>residual vs time</a:t>
            </a:r>
          </a:p>
          <a:p>
            <a:pPr>
              <a:spcAft>
                <a:spcPts val="1000"/>
              </a:spcAft>
              <a:buSzPct val="100000"/>
            </a:pPr>
            <a:endParaRPr lang="en-US" sz="2000" b="1" dirty="0"/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C0B48B10-217A-4504-7384-DCBCD050BAFD}"/>
              </a:ext>
            </a:extLst>
          </p:cNvPr>
          <p:cNvSpPr txBox="1"/>
          <p:nvPr/>
        </p:nvSpPr>
        <p:spPr>
          <a:xfrm>
            <a:off x="862964" y="4920826"/>
            <a:ext cx="10841356" cy="1640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000" b="1" dirty="0"/>
              <a:t>Target variable is right-skewed </a:t>
            </a:r>
            <a:r>
              <a:rPr lang="en-US" altLang="ko-KR" sz="2000" dirty="0"/>
              <a:t>-&gt; log transformation may be helpful</a:t>
            </a:r>
            <a:endParaRPr lang="en-US" sz="2000" b="1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Variance of residuals increases as fitted value increase </a:t>
            </a:r>
          </a:p>
          <a:p>
            <a:pPr>
              <a:spcAft>
                <a:spcPts val="1000"/>
              </a:spcAft>
              <a:buSzPct val="100000"/>
            </a:pPr>
            <a:r>
              <a:rPr lang="en-US" altLang="ko-KR" sz="2000" dirty="0"/>
              <a:t>-&gt; generalized linear model : Poisson (variance ∝ mean), Gamma (variance ∝ mean^2)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48572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tx1"/>
                </a:solidFill>
              </a:rPr>
              <a:t>Box-</a:t>
            </a:r>
            <a:r>
              <a:rPr lang="en-US"/>
              <a:t>C</a:t>
            </a:r>
            <a:r>
              <a:rPr lang="en-US" sz="3400" b="1">
                <a:solidFill>
                  <a:schemeClr val="tx1"/>
                </a:solidFill>
              </a:rPr>
              <a:t>ox Transformations</a:t>
            </a:r>
            <a:endParaRPr lang="en-US" sz="3400" dirty="0"/>
          </a:p>
        </p:txBody>
      </p:sp>
      <p:sp>
        <p:nvSpPr>
          <p:cNvPr id="5" name="Text"/>
          <p:cNvSpPr txBox="1"/>
          <p:nvPr/>
        </p:nvSpPr>
        <p:spPr>
          <a:xfrm>
            <a:off x="548640" y="466344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Target (Box-Cox): </a:t>
            </a:r>
            <a:r>
              <a:rPr lang="en-US" sz="2000" dirty="0">
                <a:solidFill>
                  <a:schemeClr val="tx1"/>
                </a:solidFill>
              </a:rPr>
              <a:t>lambda hat = -0.22,  so use log(TARGET)  (lambda = 0)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Predictors: </a:t>
            </a:r>
            <a:r>
              <a:rPr lang="ko-KR" altLang="ko-KR" dirty="0"/>
              <a:t>"</a:t>
            </a:r>
            <a:r>
              <a:rPr lang="ko-KR" altLang="ko-KR" dirty="0" err="1"/>
              <a:t>I</a:t>
            </a:r>
            <a:r>
              <a:rPr lang="ko-KR" altLang="ko-KR" dirty="0"/>
              <a:t>(</a:t>
            </a:r>
            <a:r>
              <a:rPr lang="ko-KR" altLang="ko-KR" dirty="0" err="1"/>
              <a:t>log</a:t>
            </a:r>
            <a:r>
              <a:rPr lang="ko-KR" altLang="ko-KR" dirty="0"/>
              <a:t>(</a:t>
            </a:r>
            <a:r>
              <a:rPr lang="ko-KR" altLang="ko-KR" dirty="0" err="1"/>
              <a:t>premarket_vol_k</a:t>
            </a:r>
            <a:r>
              <a:rPr lang="ko-KR" altLang="ko-KR" dirty="0"/>
              <a:t>))" "</a:t>
            </a:r>
            <a:r>
              <a:rPr lang="ko-KR" altLang="ko-KR" dirty="0" err="1"/>
              <a:t>I</a:t>
            </a:r>
            <a:r>
              <a:rPr lang="ko-KR" altLang="ko-KR" dirty="0"/>
              <a:t>(vix_prev^2)"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E81F8F-589E-7930-E7BC-5106E408A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63040"/>
            <a:ext cx="6052279" cy="3257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C0C2F5-D608-466B-7ECC-E63300FCC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445" y="1795939"/>
            <a:ext cx="4487701" cy="25346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Outliers: how we handled them</a:t>
            </a:r>
            <a:endParaRPr lang="en-US" sz="34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Candidates: </a:t>
            </a:r>
            <a:r>
              <a:rPr lang="en-US" sz="1800" dirty="0">
                <a:solidFill>
                  <a:schemeClr val="tx1"/>
                </a:solidFill>
              </a:rPr>
              <a:t>rows with |standardized residual| &gt; [3]  (red dots)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Looked at: </a:t>
            </a:r>
            <a:r>
              <a:rPr lang="en-US" sz="1800" dirty="0">
                <a:solidFill>
                  <a:schemeClr val="tx1"/>
                </a:solidFill>
              </a:rPr>
              <a:t>the candidate rows, and how their other columns differ from the normal rows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b="1" dirty="0"/>
              <a:t>Keep this outlier: </a:t>
            </a:r>
            <a:r>
              <a:rPr lang="en-US" altLang="ko-KR" dirty="0"/>
              <a:t>seems like genuine outlier</a:t>
            </a:r>
            <a:r>
              <a:rPr lang="en-US" b="1" dirty="0"/>
              <a:t> 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A39D47-1DC1-F0C1-26FA-F6918DB79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90" y="1569085"/>
            <a:ext cx="6591300" cy="37909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Interactions</a:t>
            </a:r>
            <a:endParaRPr lang="en-US" sz="34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Tested: </a:t>
            </a:r>
            <a:r>
              <a:rPr lang="en-US" sz="2000" dirty="0" err="1">
                <a:solidFill>
                  <a:schemeClr val="tx1"/>
                </a:solidFill>
              </a:rPr>
              <a:t>vix</a:t>
            </a:r>
            <a:r>
              <a:rPr lang="en-US" sz="2000" dirty="0" err="1"/>
              <a:t>_prev</a:t>
            </a:r>
            <a:r>
              <a:rPr lang="en-US" sz="2000" dirty="0"/>
              <a:t> : </a:t>
            </a:r>
            <a:r>
              <a:rPr lang="ko-KR" altLang="ko-KR" dirty="0" err="1"/>
              <a:t>market_cap_bn</a:t>
            </a:r>
            <a:endParaRPr lang="en-US" altLang="ko-KR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/>
              <a:t> </a:t>
            </a:r>
            <a:r>
              <a:rPr lang="en-US" sz="2000" dirty="0">
                <a:solidFill>
                  <a:schemeClr val="tx1"/>
                </a:solidFill>
              </a:rPr>
              <a:t> (F-test in the lm)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Kept: </a:t>
            </a:r>
            <a:r>
              <a:rPr lang="en-US" altLang="ko-KR" sz="2400" dirty="0" err="1"/>
              <a:t>vix_prev</a:t>
            </a:r>
            <a:r>
              <a:rPr lang="en-US" altLang="ko-KR" sz="2400" dirty="0"/>
              <a:t> : </a:t>
            </a:r>
            <a:r>
              <a:rPr lang="ko-KR" altLang="ko-KR" sz="2000" dirty="0" err="1"/>
              <a:t>market_cap_bn</a:t>
            </a:r>
            <a:endParaRPr lang="en-US" altLang="ko-KR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 (p-value 0)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Why it makes sense: </a:t>
            </a:r>
          </a:p>
          <a:p>
            <a:pPr lvl="1">
              <a:spcAft>
                <a:spcPts val="1000"/>
              </a:spcAft>
              <a:buSzPct val="100000"/>
            </a:pPr>
            <a:r>
              <a:rPr lang="en-US" sz="2000" dirty="0"/>
              <a:t>Model performs better with this interaction term.</a:t>
            </a:r>
          </a:p>
          <a:p>
            <a:pPr lvl="1">
              <a:spcAft>
                <a:spcPts val="1000"/>
              </a:spcAft>
              <a:buSzPct val="100000"/>
            </a:pPr>
            <a:r>
              <a:rPr lang="en-US" sz="2000" dirty="0"/>
              <a:t>The plot on the left show the different slopes for different </a:t>
            </a:r>
            <a:r>
              <a:rPr lang="en-US" sz="2000" dirty="0" err="1"/>
              <a:t>market_cap_bn</a:t>
            </a:r>
            <a:r>
              <a:rPr lang="en-US" sz="2000" dirty="0"/>
              <a:t> level.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E666F9-CD56-846B-ECC9-97B75B94B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0"/>
            <a:ext cx="7225607" cy="492502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Candidate models</a:t>
            </a:r>
            <a:endParaRPr lang="en-US" sz="3400" dirty="0"/>
          </a:p>
        </p:txBody>
      </p:sp>
      <p:sp>
        <p:nvSpPr>
          <p:cNvPr id="3" name="Text"/>
          <p:cNvSpPr txBox="1"/>
          <p:nvPr/>
        </p:nvSpPr>
        <p:spPr>
          <a:xfrm>
            <a:off x="548640" y="1463040"/>
            <a:ext cx="11091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baseline: </a:t>
            </a:r>
            <a:r>
              <a:rPr lang="en-US" sz="2200" dirty="0">
                <a:solidFill>
                  <a:schemeClr val="tx1"/>
                </a:solidFill>
              </a:rPr>
              <a:t>the mean of the training y (the number to beat)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lm: </a:t>
            </a:r>
            <a:r>
              <a:rPr lang="en-US" sz="2200" dirty="0">
                <a:solidFill>
                  <a:schemeClr val="tx1"/>
                </a:solidFill>
              </a:rPr>
              <a:t>ordinary least squares, on the transformed y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lasso, ridge: </a:t>
            </a:r>
            <a:r>
              <a:rPr lang="en-US" sz="2200" dirty="0">
                <a:solidFill>
                  <a:schemeClr val="tx1"/>
                </a:solidFill>
              </a:rPr>
              <a:t>lm with shrunk coefficients (lasso can drop variables)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glm: </a:t>
            </a:r>
            <a:r>
              <a:rPr lang="en-US" sz="2200" dirty="0">
                <a:solidFill>
                  <a:schemeClr val="tx1"/>
                </a:solidFill>
              </a:rPr>
              <a:t>Gamma family, log link, on the original y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mixed, glmm: </a:t>
            </a:r>
            <a:r>
              <a:rPr lang="en-US" sz="2200" dirty="0">
                <a:solidFill>
                  <a:schemeClr val="tx1"/>
                </a:solidFill>
              </a:rPr>
              <a:t>lm / glm plus a random intercept per group</a:t>
            </a:r>
            <a:endParaRPr lang="en-US" sz="2200" dirty="0"/>
          </a:p>
        </p:txBody>
      </p:sp>
      <p:sp>
        <p:nvSpPr>
          <p:cNvPr id="4" name="Note"/>
          <p:cNvSpPr txBox="1"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accent4"/>
                </a:solidFill>
              </a:rPr>
              <a:t>All candidates use the same variables, transformations and interactions.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Measures (1/2): RMSE and MAE</a:t>
            </a:r>
            <a:endParaRPr lang="en-US" sz="3400" dirty="0"/>
          </a:p>
        </p:txBody>
      </p:sp>
      <p:sp>
        <p:nvSpPr>
          <p:cNvPr id="3" name="RMSE"/>
          <p:cNvSpPr txBox="1"/>
          <p:nvPr/>
        </p:nvSpPr>
        <p:spPr>
          <a:xfrm>
            <a:off x="548640" y="1371600"/>
            <a:ext cx="540867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2800" b="1" dirty="0">
                <a:solidFill>
                  <a:schemeClr val="tx1"/>
                </a:solidFill>
              </a:rPr>
              <a:t>RMSE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RMSE = √( (1/n) Σ e² )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Pros: </a:t>
            </a:r>
            <a:r>
              <a:rPr lang="en-US" sz="2000" dirty="0">
                <a:solidFill>
                  <a:schemeClr val="tx1"/>
                </a:solidFill>
              </a:rPr>
              <a:t>Same unit as y; punishes big errors; the standard score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Cons: </a:t>
            </a:r>
            <a:r>
              <a:rPr lang="en-US" sz="2000" dirty="0">
                <a:solidFill>
                  <a:schemeClr val="tx1"/>
                </a:solidFill>
              </a:rPr>
              <a:t>Sensitive to outliers: a few big errors can dominate</a:t>
            </a:r>
            <a:endParaRPr lang="en-US" sz="2800" dirty="0"/>
          </a:p>
        </p:txBody>
      </p:sp>
      <p:sp>
        <p:nvSpPr>
          <p:cNvPr id="4" name="MAE"/>
          <p:cNvSpPr txBox="1"/>
          <p:nvPr/>
        </p:nvSpPr>
        <p:spPr>
          <a:xfrm>
            <a:off x="6231636" y="1371600"/>
            <a:ext cx="540867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2800" b="1" dirty="0">
                <a:solidFill>
                  <a:schemeClr val="tx1"/>
                </a:solidFill>
              </a:rPr>
              <a:t>MAE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MAE = (1/n) Σ |e|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Pros: </a:t>
            </a:r>
            <a:r>
              <a:rPr lang="en-US" sz="2000" dirty="0">
                <a:solidFill>
                  <a:schemeClr val="tx1"/>
                </a:solidFill>
              </a:rPr>
              <a:t>Same unit as y; the average miss, easy to explain; robust to outliers</a:t>
            </a:r>
            <a:endParaRPr lang="en-US" sz="28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Cons: </a:t>
            </a:r>
            <a:r>
              <a:rPr lang="en-US" sz="2000" dirty="0">
                <a:solidFill>
                  <a:schemeClr val="tx1"/>
                </a:solidFill>
              </a:rPr>
              <a:t>A big miss counts like several small ones</a:t>
            </a:r>
            <a:endParaRPr lang="en-US" sz="2800" dirty="0"/>
          </a:p>
        </p:txBody>
      </p:sp>
      <p:sp>
        <p:nvSpPr>
          <p:cNvPr id="5" name="Note"/>
          <p:cNvSpPr txBox="1"/>
          <p:nvPr/>
        </p:nvSpPr>
        <p:spPr>
          <a:xfrm>
            <a:off x="548640" y="493776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e = prediction − actual, n = number of rows. All scores are computed on the validation rows, in the original units of y.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Main score for choosing the model: RMSE.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Measures (2/2): MAPE, R² and Bias</a:t>
            </a:r>
            <a:endParaRPr lang="en-US" sz="3400" dirty="0"/>
          </a:p>
        </p:txBody>
      </p:sp>
      <p:sp>
        <p:nvSpPr>
          <p:cNvPr id="3" name="MAPE"/>
          <p:cNvSpPr txBox="1"/>
          <p:nvPr/>
        </p:nvSpPr>
        <p:spPr>
          <a:xfrm>
            <a:off x="548640" y="1371600"/>
            <a:ext cx="351434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MAPE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MAPE = (100/n) Σ |e| / |y|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Pros: </a:t>
            </a:r>
            <a:r>
              <a:rPr lang="en-US" sz="1800" dirty="0">
                <a:solidFill>
                  <a:schemeClr val="tx1"/>
                </a:solidFill>
              </a:rPr>
              <a:t>In percent: comparable across scales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Cons: </a:t>
            </a:r>
            <a:r>
              <a:rPr lang="en-US" sz="1800" dirty="0">
                <a:solidFill>
                  <a:schemeClr val="tx1"/>
                </a:solidFill>
              </a:rPr>
              <a:t>Explodes when y is near 0 (rows with y = 0 are left out)</a:t>
            </a:r>
            <a:endParaRPr lang="en-US" sz="2600" dirty="0"/>
          </a:p>
        </p:txBody>
      </p:sp>
      <p:sp>
        <p:nvSpPr>
          <p:cNvPr id="4" name="R²"/>
          <p:cNvSpPr txBox="1"/>
          <p:nvPr/>
        </p:nvSpPr>
        <p:spPr>
          <a:xfrm>
            <a:off x="4337304" y="1371600"/>
            <a:ext cx="351434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R²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R² = 1 − Σ e² / Σ (y − mean y)²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Pros: </a:t>
            </a:r>
            <a:r>
              <a:rPr lang="en-US" sz="1800" dirty="0">
                <a:solidFill>
                  <a:schemeClr val="tx1"/>
                </a:solidFill>
              </a:rPr>
              <a:t>No unit: 1 is perfect, 0 is as good as the mean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Cons: </a:t>
            </a:r>
            <a:r>
              <a:rPr lang="en-US" sz="1800" dirty="0">
                <a:solidFill>
                  <a:schemeClr val="tx1"/>
                </a:solidFill>
              </a:rPr>
              <a:t>Can be negative on new data; hides the size of the error</a:t>
            </a:r>
            <a:endParaRPr lang="en-US" sz="2600" dirty="0"/>
          </a:p>
        </p:txBody>
      </p:sp>
      <p:sp>
        <p:nvSpPr>
          <p:cNvPr id="5" name="Bias"/>
          <p:cNvSpPr txBox="1"/>
          <p:nvPr/>
        </p:nvSpPr>
        <p:spPr>
          <a:xfrm>
            <a:off x="8125968" y="1371600"/>
            <a:ext cx="351434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Bias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Bias = (1/n) Σ e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Pros: </a:t>
            </a:r>
            <a:r>
              <a:rPr lang="en-US" sz="1800" dirty="0">
                <a:solidFill>
                  <a:schemeClr val="tx1"/>
                </a:solidFill>
              </a:rPr>
              <a:t>Shows if the model predicts too high or too low</a:t>
            </a:r>
            <a:endParaRPr lang="en-US" sz="2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Cons: </a:t>
            </a:r>
            <a:r>
              <a:rPr lang="en-US" sz="1800" dirty="0">
                <a:solidFill>
                  <a:schemeClr val="tx1"/>
                </a:solidFill>
              </a:rPr>
              <a:t>Errors cancel out: Bias near 0 can hide big errors</a:t>
            </a:r>
            <a:endParaRPr lang="en-US" sz="2600" dirty="0"/>
          </a:p>
        </p:txBody>
      </p:sp>
      <p:sp>
        <p:nvSpPr>
          <p:cNvPr id="6" name="Note"/>
          <p:cNvSpPr txBox="1"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accent4"/>
                </a:solidFill>
              </a:rPr>
              <a:t>e = prediction − actual, n = number of rows, y = actual.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Cross validation: moving window (time series)</a:t>
            </a:r>
            <a:endParaRPr lang="en-US" sz="3400" dirty="0"/>
          </a:p>
        </p:txBody>
      </p:sp>
      <p:sp>
        <p:nvSpPr>
          <p:cNvPr id="3" name="train 1"/>
          <p:cNvSpPr txBox="1"/>
          <p:nvPr/>
        </p:nvSpPr>
        <p:spPr>
          <a:xfrm>
            <a:off x="1645920" y="1463040"/>
            <a:ext cx="5852160" cy="5029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train: last [60] days</a:t>
            </a:r>
            <a:endParaRPr lang="en-US" sz="1600" dirty="0"/>
          </a:p>
        </p:txBody>
      </p:sp>
      <p:sp>
        <p:nvSpPr>
          <p:cNvPr id="4" name="test 1"/>
          <p:cNvSpPr txBox="1"/>
          <p:nvPr/>
        </p:nvSpPr>
        <p:spPr>
          <a:xfrm>
            <a:off x="7498080" y="1463040"/>
            <a:ext cx="731520" cy="5029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test</a:t>
            </a:r>
            <a:endParaRPr lang="en-US" sz="1600" dirty="0"/>
          </a:p>
        </p:txBody>
      </p:sp>
      <p:sp>
        <p:nvSpPr>
          <p:cNvPr id="5" name="block label 1"/>
          <p:cNvSpPr txBox="1"/>
          <p:nvPr/>
        </p:nvSpPr>
        <p:spPr>
          <a:xfrm>
            <a:off x="8366760" y="1463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block 1</a:t>
            </a:r>
            <a:endParaRPr lang="en-US" sz="1600" dirty="0"/>
          </a:p>
        </p:txBody>
      </p:sp>
      <p:sp>
        <p:nvSpPr>
          <p:cNvPr id="6" name="train 2"/>
          <p:cNvSpPr txBox="1"/>
          <p:nvPr/>
        </p:nvSpPr>
        <p:spPr>
          <a:xfrm>
            <a:off x="2377440" y="2148840"/>
            <a:ext cx="5852160" cy="5029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train: last [60] days</a:t>
            </a:r>
            <a:endParaRPr lang="en-US" sz="1600" dirty="0"/>
          </a:p>
        </p:txBody>
      </p:sp>
      <p:sp>
        <p:nvSpPr>
          <p:cNvPr id="7" name="test 2"/>
          <p:cNvSpPr txBox="1"/>
          <p:nvPr/>
        </p:nvSpPr>
        <p:spPr>
          <a:xfrm>
            <a:off x="8229600" y="2148840"/>
            <a:ext cx="731520" cy="5029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test</a:t>
            </a:r>
            <a:endParaRPr lang="en-US" sz="1600" dirty="0"/>
          </a:p>
        </p:txBody>
      </p:sp>
      <p:sp>
        <p:nvSpPr>
          <p:cNvPr id="8" name="block label 2"/>
          <p:cNvSpPr txBox="1"/>
          <p:nvPr/>
        </p:nvSpPr>
        <p:spPr>
          <a:xfrm>
            <a:off x="909828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block 2</a:t>
            </a:r>
            <a:endParaRPr lang="en-US" sz="1600" dirty="0"/>
          </a:p>
        </p:txBody>
      </p:sp>
      <p:sp>
        <p:nvSpPr>
          <p:cNvPr id="9" name="train 3"/>
          <p:cNvSpPr txBox="1"/>
          <p:nvPr/>
        </p:nvSpPr>
        <p:spPr>
          <a:xfrm>
            <a:off x="3108960" y="2834640"/>
            <a:ext cx="5852160" cy="5029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train: last [60] days</a:t>
            </a:r>
            <a:endParaRPr lang="en-US" sz="1600" dirty="0"/>
          </a:p>
        </p:txBody>
      </p:sp>
      <p:sp>
        <p:nvSpPr>
          <p:cNvPr id="10" name="test 3"/>
          <p:cNvSpPr txBox="1"/>
          <p:nvPr/>
        </p:nvSpPr>
        <p:spPr>
          <a:xfrm>
            <a:off x="8961120" y="2834640"/>
            <a:ext cx="731520" cy="5029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test</a:t>
            </a:r>
            <a:endParaRPr lang="en-US" sz="1600" dirty="0"/>
          </a:p>
        </p:txBody>
      </p:sp>
      <p:sp>
        <p:nvSpPr>
          <p:cNvPr id="11" name="block label 3"/>
          <p:cNvSpPr txBox="1"/>
          <p:nvPr/>
        </p:nvSpPr>
        <p:spPr>
          <a:xfrm>
            <a:off x="9829800" y="2834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block 3</a:t>
            </a:r>
            <a:endParaRPr lang="en-US" sz="1600" dirty="0"/>
          </a:p>
        </p:txBody>
      </p:sp>
      <p:sp>
        <p:nvSpPr>
          <p:cNvPr id="12" name="More blocks"/>
          <p:cNvSpPr txBox="1"/>
          <p:nvPr/>
        </p:nvSpPr>
        <p:spPr>
          <a:xfrm>
            <a:off x="9235440" y="3520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...</a:t>
            </a:r>
            <a:endParaRPr lang="en-US" sz="2400" dirty="0"/>
          </a:p>
        </p:txBody>
      </p:sp>
      <p:sp>
        <p:nvSpPr>
          <p:cNvPr id="13" name="Time arrow"/>
          <p:cNvSpPr/>
          <p:nvPr/>
        </p:nvSpPr>
        <p:spPr>
          <a:xfrm>
            <a:off x="548640" y="4160520"/>
            <a:ext cx="1109167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ime label"/>
          <p:cNvSpPr txBox="1"/>
          <p:nvPr/>
        </p:nvSpPr>
        <p:spPr>
          <a:xfrm>
            <a:off x="548640" y="4224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time</a:t>
            </a:r>
            <a:endParaRPr lang="en-US" sz="1400" dirty="0"/>
          </a:p>
        </p:txBody>
      </p:sp>
      <p:sp>
        <p:nvSpPr>
          <p:cNvPr id="15" name="Text"/>
          <p:cNvSpPr txBox="1"/>
          <p:nvPr/>
        </p:nvSpPr>
        <p:spPr>
          <a:xfrm>
            <a:off x="548640" y="466344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Train on the last [60] days, predict the next [7] days, then move the window forward by [7] days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model only sees days before the days it predicts: no leakage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All the test predictions are collected and scored together (RMSE)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Every candidate uses the same blocks, so the scores can be compared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Cross validation: K-fold (not time series)</a:t>
            </a:r>
            <a:endParaRPr lang="en-US" sz="3400" dirty="0"/>
          </a:p>
        </p:txBody>
      </p:sp>
      <p:sp>
        <p:nvSpPr>
          <p:cNvPr id="3" name="fold 1-1"/>
          <p:cNvSpPr txBox="1"/>
          <p:nvPr/>
        </p:nvSpPr>
        <p:spPr>
          <a:xfrm>
            <a:off x="2011680" y="1463040"/>
            <a:ext cx="1188720" cy="5029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test</a:t>
            </a:r>
            <a:endParaRPr lang="en-US" sz="1600" dirty="0"/>
          </a:p>
        </p:txBody>
      </p:sp>
      <p:sp>
        <p:nvSpPr>
          <p:cNvPr id="4" name="fold 1-2"/>
          <p:cNvSpPr txBox="1"/>
          <p:nvPr/>
        </p:nvSpPr>
        <p:spPr>
          <a:xfrm>
            <a:off x="3291840" y="14630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5" name="fold 1-3"/>
          <p:cNvSpPr txBox="1"/>
          <p:nvPr/>
        </p:nvSpPr>
        <p:spPr>
          <a:xfrm>
            <a:off x="4572000" y="14630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6" name="fold 1-4"/>
          <p:cNvSpPr txBox="1"/>
          <p:nvPr/>
        </p:nvSpPr>
        <p:spPr>
          <a:xfrm>
            <a:off x="5852160" y="14630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7" name="fold 1-5"/>
          <p:cNvSpPr txBox="1"/>
          <p:nvPr/>
        </p:nvSpPr>
        <p:spPr>
          <a:xfrm>
            <a:off x="7132320" y="14630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8" name="round label 1"/>
          <p:cNvSpPr txBox="1"/>
          <p:nvPr/>
        </p:nvSpPr>
        <p:spPr>
          <a:xfrm>
            <a:off x="8503920" y="1463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round 1</a:t>
            </a:r>
            <a:endParaRPr lang="en-US" sz="1600" dirty="0"/>
          </a:p>
        </p:txBody>
      </p:sp>
      <p:sp>
        <p:nvSpPr>
          <p:cNvPr id="9" name="fold 2-1"/>
          <p:cNvSpPr txBox="1"/>
          <p:nvPr/>
        </p:nvSpPr>
        <p:spPr>
          <a:xfrm>
            <a:off x="2011680" y="21488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10" name="fold 2-2"/>
          <p:cNvSpPr txBox="1"/>
          <p:nvPr/>
        </p:nvSpPr>
        <p:spPr>
          <a:xfrm>
            <a:off x="3291840" y="2148840"/>
            <a:ext cx="1188720" cy="5029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test</a:t>
            </a:r>
            <a:endParaRPr lang="en-US" sz="1600" dirty="0"/>
          </a:p>
        </p:txBody>
      </p:sp>
      <p:sp>
        <p:nvSpPr>
          <p:cNvPr id="11" name="fold 2-3"/>
          <p:cNvSpPr txBox="1"/>
          <p:nvPr/>
        </p:nvSpPr>
        <p:spPr>
          <a:xfrm>
            <a:off x="4572000" y="21488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12" name="fold 2-4"/>
          <p:cNvSpPr txBox="1"/>
          <p:nvPr/>
        </p:nvSpPr>
        <p:spPr>
          <a:xfrm>
            <a:off x="5852160" y="21488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13" name="fold 2-5"/>
          <p:cNvSpPr txBox="1"/>
          <p:nvPr/>
        </p:nvSpPr>
        <p:spPr>
          <a:xfrm>
            <a:off x="7132320" y="21488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14" name="round label 2"/>
          <p:cNvSpPr txBox="1"/>
          <p:nvPr/>
        </p:nvSpPr>
        <p:spPr>
          <a:xfrm>
            <a:off x="8503920" y="2148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round 2</a:t>
            </a:r>
            <a:endParaRPr lang="en-US" sz="1600" dirty="0"/>
          </a:p>
        </p:txBody>
      </p:sp>
      <p:sp>
        <p:nvSpPr>
          <p:cNvPr id="15" name="fold 3-1"/>
          <p:cNvSpPr txBox="1"/>
          <p:nvPr/>
        </p:nvSpPr>
        <p:spPr>
          <a:xfrm>
            <a:off x="2011680" y="28346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16" name="fold 3-2"/>
          <p:cNvSpPr txBox="1"/>
          <p:nvPr/>
        </p:nvSpPr>
        <p:spPr>
          <a:xfrm>
            <a:off x="3291840" y="28346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17" name="fold 3-3"/>
          <p:cNvSpPr txBox="1"/>
          <p:nvPr/>
        </p:nvSpPr>
        <p:spPr>
          <a:xfrm>
            <a:off x="4572000" y="2834640"/>
            <a:ext cx="1188720" cy="50292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test</a:t>
            </a:r>
            <a:endParaRPr lang="en-US" sz="1600" dirty="0"/>
          </a:p>
        </p:txBody>
      </p:sp>
      <p:sp>
        <p:nvSpPr>
          <p:cNvPr id="18" name="fold 3-4"/>
          <p:cNvSpPr txBox="1"/>
          <p:nvPr/>
        </p:nvSpPr>
        <p:spPr>
          <a:xfrm>
            <a:off x="5852160" y="28346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19" name="fold 3-5"/>
          <p:cNvSpPr txBox="1"/>
          <p:nvPr/>
        </p:nvSpPr>
        <p:spPr>
          <a:xfrm>
            <a:off x="7132320" y="2834640"/>
            <a:ext cx="1188720" cy="502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train</a:t>
            </a:r>
            <a:endParaRPr lang="en-US" sz="1600" dirty="0"/>
          </a:p>
        </p:txBody>
      </p:sp>
      <p:sp>
        <p:nvSpPr>
          <p:cNvPr id="20" name="round label 3"/>
          <p:cNvSpPr txBox="1"/>
          <p:nvPr/>
        </p:nvSpPr>
        <p:spPr>
          <a:xfrm>
            <a:off x="8503920" y="2834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round 3</a:t>
            </a:r>
            <a:endParaRPr lang="en-US" sz="1600" dirty="0"/>
          </a:p>
        </p:txBody>
      </p:sp>
      <p:sp>
        <p:nvSpPr>
          <p:cNvPr id="21" name="More rounds"/>
          <p:cNvSpPr txBox="1"/>
          <p:nvPr/>
        </p:nvSpPr>
        <p:spPr>
          <a:xfrm>
            <a:off x="4572000" y="3520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...</a:t>
            </a:r>
            <a:endParaRPr lang="en-US" sz="2400" dirty="0"/>
          </a:p>
        </p:txBody>
      </p:sp>
      <p:sp>
        <p:nvSpPr>
          <p:cNvPr id="22" name="Text"/>
          <p:cNvSpPr txBox="1"/>
          <p:nvPr/>
        </p:nvSpPr>
        <p:spPr>
          <a:xfrm>
            <a:off x="548640" y="4206240"/>
            <a:ext cx="110916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rows are split at random into [5] folds (fixed seed)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Every fold is predicted by a model trained on the other folds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All the test predictions are collected and scored together (RMSE)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Used when there is no time column: random rows can be exchanged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Model comparison</a:t>
            </a:r>
            <a:endParaRPr lang="en-US" sz="3400" dirty="0"/>
          </a:p>
        </p:txBody>
      </p:sp>
      <p:sp>
        <p:nvSpPr>
          <p:cNvPr id="3" name="Plot placeholder"/>
          <p:cNvSpPr txBox="1"/>
          <p:nvPr/>
        </p:nvSpPr>
        <p:spPr>
          <a:xfrm>
            <a:off x="548640" y="1371600"/>
            <a:ext cx="6583680" cy="4754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(score table, RMSE bar chart)</a:t>
            </a:r>
            <a:endParaRPr lang="en-US" sz="22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Score: </a:t>
            </a:r>
            <a:r>
              <a:rPr lang="en-US" sz="1800" dirty="0">
                <a:solidFill>
                  <a:schemeClr val="tx1"/>
                </a:solidFill>
              </a:rPr>
              <a:t>RMSE (main); MAE, MAPE, R² and Bias are also shown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Best candidate: </a:t>
            </a:r>
            <a:r>
              <a:rPr lang="en-US" sz="1800" dirty="0">
                <a:solidFill>
                  <a:schemeClr val="tx1"/>
                </a:solidFill>
              </a:rPr>
              <a:t>[model], RMSE [value]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Baseline: </a:t>
            </a:r>
            <a:r>
              <a:rPr lang="en-US" sz="1800" dirty="0">
                <a:solidFill>
                  <a:schemeClr val="tx1"/>
                </a:solidFill>
              </a:rPr>
              <a:t>RMSE [value]: the number to beat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Others: </a:t>
            </a:r>
            <a:r>
              <a:rPr lang="en-US" sz="1800" dirty="0">
                <a:solidFill>
                  <a:schemeClr val="tx1"/>
                </a:solidFill>
              </a:rPr>
              <a:t>[what we see, e.g. lasso is close to lm]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5D2176-53C1-FD11-941F-B6B1A634C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544220"/>
              </p:ext>
            </p:extLst>
          </p:nvPr>
        </p:nvGraphicFramePr>
        <p:xfrm>
          <a:off x="618836" y="2797848"/>
          <a:ext cx="6077526" cy="2966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921">
                  <a:extLst>
                    <a:ext uri="{9D8B030D-6E8A-4147-A177-3AD203B41FA5}">
                      <a16:colId xmlns:a16="http://schemas.microsoft.com/office/drawing/2014/main" val="2560184830"/>
                    </a:ext>
                  </a:extLst>
                </a:gridCol>
                <a:gridCol w="1012921">
                  <a:extLst>
                    <a:ext uri="{9D8B030D-6E8A-4147-A177-3AD203B41FA5}">
                      <a16:colId xmlns:a16="http://schemas.microsoft.com/office/drawing/2014/main" val="4160176262"/>
                    </a:ext>
                  </a:extLst>
                </a:gridCol>
                <a:gridCol w="1012921">
                  <a:extLst>
                    <a:ext uri="{9D8B030D-6E8A-4147-A177-3AD203B41FA5}">
                      <a16:colId xmlns:a16="http://schemas.microsoft.com/office/drawing/2014/main" val="1079911923"/>
                    </a:ext>
                  </a:extLst>
                </a:gridCol>
                <a:gridCol w="1012921">
                  <a:extLst>
                    <a:ext uri="{9D8B030D-6E8A-4147-A177-3AD203B41FA5}">
                      <a16:colId xmlns:a16="http://schemas.microsoft.com/office/drawing/2014/main" val="217829271"/>
                    </a:ext>
                  </a:extLst>
                </a:gridCol>
                <a:gridCol w="1012921">
                  <a:extLst>
                    <a:ext uri="{9D8B030D-6E8A-4147-A177-3AD203B41FA5}">
                      <a16:colId xmlns:a16="http://schemas.microsoft.com/office/drawing/2014/main" val="950948651"/>
                    </a:ext>
                  </a:extLst>
                </a:gridCol>
                <a:gridCol w="1012921">
                  <a:extLst>
                    <a:ext uri="{9D8B030D-6E8A-4147-A177-3AD203B41FA5}">
                      <a16:colId xmlns:a16="http://schemas.microsoft.com/office/drawing/2014/main" val="4171564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RMSE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MAE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MAPE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R2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Bias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289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>
                          <a:highlight>
                            <a:srgbClr val="FFFF00"/>
                          </a:highlight>
                        </a:rPr>
                        <a:t>Glmm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9877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>
                          <a:highlight>
                            <a:srgbClr val="FFFF00"/>
                          </a:highlight>
                        </a:rPr>
                        <a:t>Glm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619937"/>
                  </a:ext>
                </a:extLst>
              </a:tr>
              <a:tr h="3753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Lasso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910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>
                          <a:highlight>
                            <a:srgbClr val="FFFF00"/>
                          </a:highlight>
                        </a:rPr>
                        <a:t>Lm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47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Mixed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643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Ridge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538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highlight>
                            <a:srgbClr val="FFFF00"/>
                          </a:highlight>
                        </a:rPr>
                        <a:t>baseline</a:t>
                      </a:r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1827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Combinations of steps: ideal vs this analysis</a:t>
            </a:r>
            <a:endParaRPr lang="en-US" sz="3400" dirty="0"/>
          </a:p>
        </p:txBody>
      </p:sp>
      <p:sp>
        <p:nvSpPr>
          <p:cNvPr id="3" name="Ideal header"/>
          <p:cNvSpPr txBox="1"/>
          <p:nvPr/>
        </p:nvSpPr>
        <p:spPr>
          <a:xfrm>
            <a:off x="548640" y="137160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Ideal</a:t>
            </a:r>
            <a:endParaRPr lang="en-US" sz="2400" dirty="0"/>
          </a:p>
        </p:txBody>
      </p:sp>
      <p:sp>
        <p:nvSpPr>
          <p:cNvPr id="4" name="Text"/>
          <p:cNvSpPr txBox="1"/>
          <p:nvPr/>
        </p:nvSpPr>
        <p:spPr>
          <a:xfrm>
            <a:off x="548640" y="1965960"/>
            <a:ext cx="531723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Try many combinations of the steps: variable selection (forward / backward, AIC / BIC), transformations, outlier handling, interactions, models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Compare all the combinations with cross validation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Keep the best combination</a:t>
            </a:r>
            <a:endParaRPr lang="en-US" sz="2000" dirty="0"/>
          </a:p>
        </p:txBody>
      </p:sp>
      <p:sp>
        <p:nvSpPr>
          <p:cNvPr id="5" name="This analysis header"/>
          <p:cNvSpPr txBox="1"/>
          <p:nvPr/>
        </p:nvSpPr>
        <p:spPr>
          <a:xfrm>
            <a:off x="6323076" y="137160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This analysis</a:t>
            </a:r>
            <a:endParaRPr lang="en-US" sz="2400" dirty="0"/>
          </a:p>
        </p:txBody>
      </p:sp>
      <p:sp>
        <p:nvSpPr>
          <p:cNvPr id="6" name="Text"/>
          <p:cNvSpPr txBox="1"/>
          <p:nvPr/>
        </p:nvSpPr>
        <p:spPr>
          <a:xfrm>
            <a:off x="6323076" y="1965960"/>
            <a:ext cx="531723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Limited time: every step was run once, in the order of the previous slides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candidate models share the same variables, transformations and interactions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Only the candidates are compared, with cross validation; the best one is the final model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Final model</a:t>
            </a:r>
            <a:endParaRPr lang="en-US" sz="3400" dirty="0"/>
          </a:p>
        </p:txBody>
      </p:sp>
      <p:sp>
        <p:nvSpPr>
          <p:cNvPr id="3" name="Plot placeholder"/>
          <p:cNvSpPr txBox="1"/>
          <p:nvPr/>
        </p:nvSpPr>
        <p:spPr>
          <a:xfrm>
            <a:off x="548640" y="1371600"/>
            <a:ext cx="6583680" cy="4754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(coefficient table or actual vs predicted)</a:t>
            </a:r>
            <a:endParaRPr lang="en-US" sz="2200" dirty="0"/>
          </a:p>
        </p:txBody>
      </p:sp>
      <p:sp>
        <p:nvSpPr>
          <p:cNvPr id="4" name="Text"/>
          <p:cNvSpPr txBox="1"/>
          <p:nvPr/>
        </p:nvSpPr>
        <p:spPr>
          <a:xfrm>
            <a:off x="7406640" y="1371600"/>
            <a:ext cx="4233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Model:</a:t>
            </a:r>
            <a:r>
              <a:rPr lang="en-US" b="1" dirty="0"/>
              <a:t> Gamma model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Variables: </a:t>
            </a:r>
            <a:r>
              <a:rPr lang="en-US" sz="1800" dirty="0">
                <a:solidFill>
                  <a:schemeClr val="tx1"/>
                </a:solidFill>
              </a:rPr>
              <a:t>[selected] + [transformations] + [interactions]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Why: </a:t>
            </a:r>
            <a:r>
              <a:rPr lang="en-US" sz="1800" dirty="0">
                <a:solidFill>
                  <a:schemeClr val="tx1"/>
                </a:solidFill>
              </a:rPr>
              <a:t>smallest cross-validated RMSE among the candidates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Cross validation: </a:t>
            </a:r>
            <a:r>
              <a:rPr lang="en-US" sz="1800" dirty="0">
                <a:solidFill>
                  <a:schemeClr val="tx1"/>
                </a:solidFill>
              </a:rPr>
              <a:t>RMSE [value] vs baseline [value]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Final test on the holdout</a:t>
            </a:r>
            <a:endParaRPr lang="en-US" sz="3400" dirty="0"/>
          </a:p>
        </p:txBody>
      </p:sp>
      <p:sp>
        <p:nvSpPr>
          <p:cNvPr id="3" name="Plot placeholder 1"/>
          <p:cNvSpPr txBox="1"/>
          <p:nvPr/>
        </p:nvSpPr>
        <p:spPr>
          <a:xfrm>
            <a:off x="548640" y="1371600"/>
            <a:ext cx="5408676" cy="3017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(holdout score table)</a:t>
            </a:r>
            <a:endParaRPr lang="en-US" sz="2200" dirty="0"/>
          </a:p>
        </p:txBody>
      </p:sp>
      <p:sp>
        <p:nvSpPr>
          <p:cNvPr id="4" name="Plot placeholder 2"/>
          <p:cNvSpPr txBox="1"/>
          <p:nvPr/>
        </p:nvSpPr>
        <p:spPr>
          <a:xfrm>
            <a:off x="6231636" y="1371600"/>
            <a:ext cx="5408676" cy="3017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4"/>
                </a:solidFill>
              </a:rPr>
              <a:t>Insert plot here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(actual vs predicted)</a:t>
            </a:r>
            <a:endParaRPr lang="en-US" sz="2200" dirty="0"/>
          </a:p>
        </p:txBody>
      </p:sp>
      <p:sp>
        <p:nvSpPr>
          <p:cNvPr id="5" name="Text"/>
          <p:cNvSpPr txBox="1"/>
          <p:nvPr/>
        </p:nvSpPr>
        <p:spPr>
          <a:xfrm>
            <a:off x="548640" y="466344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Result: </a:t>
            </a:r>
            <a:r>
              <a:rPr lang="en-US" sz="2000" dirty="0">
                <a:solidFill>
                  <a:schemeClr val="tx1"/>
                </a:solidFill>
              </a:rPr>
              <a:t>[model] RMSE [value] on the holdout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Compared with cross validation: </a:t>
            </a:r>
            <a:r>
              <a:rPr lang="en-US" sz="2000" dirty="0">
                <a:solidFill>
                  <a:schemeClr val="tx1"/>
                </a:solidFill>
              </a:rPr>
              <a:t>[similar / worse] because [reason]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Findings header"/>
          <p:cNvSpPr txBox="1"/>
          <p:nvPr/>
        </p:nvSpPr>
        <p:spPr>
          <a:xfrm>
            <a:off x="548640" y="1463040"/>
            <a:ext cx="3514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Findings</a:t>
            </a:r>
            <a:endParaRPr lang="en-US" sz="2400" dirty="0"/>
          </a:p>
        </p:txBody>
      </p:sp>
      <p:sp>
        <p:nvSpPr>
          <p:cNvPr id="4" name="Text"/>
          <p:cNvSpPr txBox="1"/>
          <p:nvPr/>
        </p:nvSpPr>
        <p:spPr>
          <a:xfrm>
            <a:off x="548640" y="2103120"/>
            <a:ext cx="351434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[main finding 1]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[main finding 2]</a:t>
            </a:r>
            <a:endParaRPr lang="en-US" sz="2200" dirty="0"/>
          </a:p>
        </p:txBody>
      </p:sp>
      <p:sp>
        <p:nvSpPr>
          <p:cNvPr id="5" name="Limitations header"/>
          <p:cNvSpPr txBox="1"/>
          <p:nvPr/>
        </p:nvSpPr>
        <p:spPr>
          <a:xfrm>
            <a:off x="4337304" y="1463040"/>
            <a:ext cx="3514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Limitations</a:t>
            </a:r>
            <a:endParaRPr lang="en-US" sz="2400" dirty="0"/>
          </a:p>
        </p:txBody>
      </p:sp>
      <p:sp>
        <p:nvSpPr>
          <p:cNvPr id="6" name="Text"/>
          <p:cNvSpPr txBox="1"/>
          <p:nvPr/>
        </p:nvSpPr>
        <p:spPr>
          <a:xfrm>
            <a:off x="4337304" y="2103120"/>
            <a:ext cx="351434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[limitation 1]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[limitation 2]</a:t>
            </a:r>
            <a:endParaRPr lang="en-US" sz="2200" dirty="0"/>
          </a:p>
        </p:txBody>
      </p:sp>
      <p:sp>
        <p:nvSpPr>
          <p:cNvPr id="7" name="Next steps header"/>
          <p:cNvSpPr txBox="1"/>
          <p:nvPr/>
        </p:nvSpPr>
        <p:spPr>
          <a:xfrm>
            <a:off x="8125968" y="1463040"/>
            <a:ext cx="3514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Next steps</a:t>
            </a:r>
            <a:endParaRPr lang="en-US" sz="2400" dirty="0"/>
          </a:p>
        </p:txBody>
      </p:sp>
      <p:sp>
        <p:nvSpPr>
          <p:cNvPr id="8" name="Text"/>
          <p:cNvSpPr txBox="1"/>
          <p:nvPr/>
        </p:nvSpPr>
        <p:spPr>
          <a:xfrm>
            <a:off x="8125968" y="2103120"/>
            <a:ext cx="351434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[next step 1]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[next step 2]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in">
  <a:themeElements>
    <a:clrScheme name="Plain">
      <a:dk1>
        <a:srgbClr val="000000"/>
      </a:dk1>
      <a:lt1>
        <a:srgbClr val="FFFFFF"/>
      </a:lt1>
      <a:dk2>
        <a:srgbClr val="404040"/>
      </a:dk2>
      <a:lt2>
        <a:srgbClr val="F2F2F2"/>
      </a:lt2>
      <a:accent1>
        <a:srgbClr val="404040"/>
      </a:accent1>
      <a:accent2>
        <a:srgbClr val="7F7F7F"/>
      </a:accent2>
      <a:accent3>
        <a:srgbClr val="A6A6A6"/>
      </a:accent3>
      <a:accent4>
        <a:srgbClr val="595959"/>
      </a:accent4>
      <a:accent5>
        <a:srgbClr val="BFBFBF"/>
      </a:accent5>
      <a:accent6>
        <a:srgbClr val="262626"/>
      </a:accent6>
      <a:hlink>
        <a:srgbClr val="0563C1"/>
      </a:hlink>
      <a:folHlink>
        <a:srgbClr val="954F72"/>
      </a:folHlink>
    </a:clrScheme>
    <a:fontScheme name="Plai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2068</Words>
  <Application>Microsoft Office PowerPoint</Application>
  <PresentationFormat>Widescreen</PresentationFormat>
  <Paragraphs>322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Segoe UI</vt:lpstr>
      <vt:lpstr>Plain</vt:lpstr>
      <vt:lpstr>Minjun Cho</vt:lpstr>
      <vt:lpstr>Analysis approach</vt:lpstr>
      <vt:lpstr>Data overview</vt:lpstr>
      <vt:lpstr>Holdout split: time series</vt:lpstr>
      <vt:lpstr>EDA: the target</vt:lpstr>
      <vt:lpstr>EDA: predictors vs target</vt:lpstr>
      <vt:lpstr>EDA: relationships between predictors</vt:lpstr>
      <vt:lpstr>EDA: relationships between predictors</vt:lpstr>
      <vt:lpstr>EDA: missing values</vt:lpstr>
      <vt:lpstr>EDA: what does the missingness mean?</vt:lpstr>
      <vt:lpstr>Variable selection: AIC and BIC</vt:lpstr>
      <vt:lpstr>Variable selection: result</vt:lpstr>
      <vt:lpstr>Assumptions check</vt:lpstr>
      <vt:lpstr>Box-Cox Transformations</vt:lpstr>
      <vt:lpstr>Outliers: how we handled them</vt:lpstr>
      <vt:lpstr>Interactions</vt:lpstr>
      <vt:lpstr>Candidate models</vt:lpstr>
      <vt:lpstr>Measures (1/2): RMSE and MAE</vt:lpstr>
      <vt:lpstr>Measures (2/2): MAPE, R² and Bias</vt:lpstr>
      <vt:lpstr>Cross validation: moving window (time series)</vt:lpstr>
      <vt:lpstr>Cross validation: K-fold (not time series)</vt:lpstr>
      <vt:lpstr>Model comparison</vt:lpstr>
      <vt:lpstr>Combinations of steps: ideal vs this analysis</vt:lpstr>
      <vt:lpstr>Final model</vt:lpstr>
      <vt:lpstr>Final test on the holdout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Squarepoint Data Analysis (regression)</dc:title>
  <dc:subject>PptxGenJS Presentation</dc:subject>
  <dc:creator>Minjun Cho</dc:creator>
  <cp:lastModifiedBy>조민준</cp:lastModifiedBy>
  <cp:revision>5</cp:revision>
  <dcterms:created xsi:type="dcterms:W3CDTF">2026-10-25T18:05:31Z</dcterms:created>
  <dcterms:modified xsi:type="dcterms:W3CDTF">2026-10-26T05:47:01Z</dcterms:modified>
</cp:coreProperties>
</file>